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3182F6"/>
                </a:solidFill>
                <a:latin typeface="Pretendard"/>
                <a:ea typeface="Pretendard"/>
              </a:rPr>
              <a:t>TECHNOLOGY ·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Pretendard"/>
                <a:ea typeface="Pretendard"/>
              </a:rPr>
              <a:t>AI는 </a:t>
            </a:r>
            <a:r>
              <a:rPr sz="5400" b="1" i="0">
                <a:solidFill>
                  <a:srgbClr val="6EB2FF"/>
                </a:solidFill>
                <a:latin typeface="Pretendard"/>
                <a:ea typeface="Pretendard"/>
              </a:rPr>
              <a:t>읽고</a:t>
            </a:r>
            <a:r>
              <a:rPr sz="5400" b="1" i="0">
                <a:solidFill>
                  <a:srgbClr val="FFFFFF"/>
                </a:solidFill>
                <a:latin typeface="Pretendard"/>
                <a:ea typeface="Pretendard"/>
              </a:rPr>
              <a:t>,</a:t>
            </a:r>
          </a:p>
          <a:p>
            <a:pPr algn="l">
              <a:spcBef>
                <a:spcPts val="0"/>
              </a:spcBef>
            </a:pPr>
            <a:r>
              <a:rPr sz="5400" b="1" i="0">
                <a:solidFill>
                  <a:srgbClr val="FFFFFF"/>
                </a:solidFill>
                <a:latin typeface="Pretendard"/>
                <a:ea typeface="Pretendard"/>
              </a:rPr>
              <a:t>규칙이 </a:t>
            </a:r>
            <a:r>
              <a:rPr sz="5400" b="1" i="0">
                <a:solidFill>
                  <a:srgbClr val="6EB2FF"/>
                </a:solidFill>
                <a:latin typeface="Pretendard"/>
                <a:ea typeface="Pretendard"/>
              </a:rPr>
              <a:t>판정한다</a:t>
            </a:r>
            <a:r>
              <a:rPr sz="5400" b="1" i="0">
                <a:solidFill>
                  <a:srgbClr val="FFFFFF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4340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CADCFC"/>
                </a:solidFill>
                <a:latin typeface="Pretendard"/>
                <a:ea typeface="Pretendard"/>
              </a:rPr>
              <a:t>흩어진 정부지원 공고를 </a:t>
            </a:r>
            <a:r>
              <a:rPr sz="1800" b="1" i="0">
                <a:solidFill>
                  <a:srgbClr val="FFFFFF"/>
                </a:solidFill>
                <a:latin typeface="Pretendard"/>
                <a:ea typeface="Pretendard"/>
              </a:rPr>
              <a:t>표준 계약</a:t>
            </a:r>
            <a:r>
              <a:rPr sz="1800" b="0" i="0">
                <a:solidFill>
                  <a:srgbClr val="CADCFC"/>
                </a:solidFill>
                <a:latin typeface="Pretendard"/>
                <a:ea typeface="Pretendard"/>
              </a:rPr>
              <a:t>으로 환원하고,</a:t>
            </a:r>
          </a:p>
          <a:p>
            <a:pPr algn="l">
              <a:spcBef>
                <a:spcPts val="0"/>
              </a:spcBef>
            </a:pPr>
            <a:r>
              <a:rPr sz="1800" b="0" i="0">
                <a:solidFill>
                  <a:srgbClr val="CADCFC"/>
                </a:solidFill>
                <a:latin typeface="Pretendard"/>
                <a:ea typeface="Pretendard"/>
              </a:rPr>
              <a:t>블랙박스가 아닌 </a:t>
            </a:r>
            <a:r>
              <a:rPr sz="1800" b="1" i="0">
                <a:solidFill>
                  <a:srgbClr val="FFFFFF"/>
                </a:solidFill>
                <a:latin typeface="Pretendard"/>
                <a:ea typeface="Pretendard"/>
              </a:rPr>
              <a:t>설명 가능한 결정론 규칙엔진</a:t>
            </a:r>
            <a:r>
              <a:rPr sz="1800" b="0" i="0">
                <a:solidFill>
                  <a:srgbClr val="CADCFC"/>
                </a:solidFill>
                <a:latin typeface="Pretendard"/>
                <a:ea typeface="Pretendard"/>
              </a:rPr>
              <a:t>이 당락을 결정한다.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9AA4B0"/>
                </a:solidFill>
                <a:latin typeface="Pretendard"/>
                <a:ea typeface="Pretendard"/>
              </a:rPr>
              <a:t>창업노트 · (주)노튼  ·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355080"/>
            <a:ext cx="2480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100" b="1" i="0">
                <a:solidFill>
                  <a:srgbClr val="9AA4B0"/>
                </a:solidFill>
                <a:latin typeface="Pretendard"/>
                <a:ea typeface="Pretendard"/>
              </a:rPr>
              <a:t>IR · 기술 섹션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왜 아직 아무도 못 풀었나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정부지원사업은 사람이 한 건씩 읽어야만 “우리 회사가 되는지” 알 수 있다. 이 난이도가 곧 진입장벽이다.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01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5413248" cy="1481328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226771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3182F6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67712"/>
            <a:ext cx="43159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333D4B"/>
                </a:solidFill>
                <a:latin typeface="Pretendard"/>
                <a:ea typeface="Pretendard"/>
              </a:rPr>
              <a:t>채널 파편화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798064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250" b="0" i="0">
                <a:solidFill>
                  <a:srgbClr val="6B7684"/>
                </a:solidFill>
                <a:latin typeface="Pretendard"/>
                <a:ea typeface="Pretendard"/>
              </a:rPr>
              <a:t>K-Startup·기업마당 등 수십 개 채널에 분산. 어디에 무엇이 열려 있는지조차 파악이 어렵다.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93392"/>
            <a:ext cx="5413248" cy="1481328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73952" y="2267712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3182F6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267712"/>
            <a:ext cx="43159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333D4B"/>
                </a:solidFill>
                <a:latin typeface="Pretendard"/>
                <a:ea typeface="Pretendard"/>
              </a:rPr>
              <a:t>비정형 자격요건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798064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250" b="0" i="0">
                <a:solidFill>
                  <a:srgbClr val="6B7684"/>
                </a:solidFill>
                <a:latin typeface="Pretendard"/>
                <a:ea typeface="Pretendard"/>
              </a:rPr>
              <a:t>자격요건이 본문·HWP 표·첨부 산문에 흩어져 있어, 판정하려면 사람이 일일이 해석해야 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675888"/>
            <a:ext cx="5413248" cy="1481328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95020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950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3182F6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3950208"/>
            <a:ext cx="43159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333D4B"/>
                </a:solidFill>
                <a:latin typeface="Pretendard"/>
                <a:ea typeface="Pretendard"/>
              </a:rPr>
              <a:t>조건의 미묘함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" y="4480560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250" b="0" i="0">
                <a:solidFill>
                  <a:srgbClr val="F04452"/>
                </a:solidFill>
                <a:latin typeface="Pretendard"/>
                <a:ea typeface="Pretendard"/>
              </a:rPr>
              <a:t>“업력 7년 이내”, “수도권 제외”, “신산업은 10년 완화”… 자동화가 어렵고, 잘못하면 거짓 탈락이 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3675888"/>
            <a:ext cx="5413248" cy="1481328"/>
          </a:xfrm>
          <a:prstGeom prst="roundRect">
            <a:avLst>
              <a:gd name="adj" fmla="val 9876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73952" y="3950208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9502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3182F6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3950208"/>
            <a:ext cx="4315968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50" b="1" i="0">
                <a:solidFill>
                  <a:srgbClr val="333D4B"/>
                </a:solidFill>
                <a:latin typeface="Pretendard"/>
                <a:ea typeface="Pretendard"/>
              </a:rPr>
              <a:t>접수처 225종 (실측)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80560"/>
            <a:ext cx="48280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250" b="0" i="0">
                <a:solidFill>
                  <a:srgbClr val="6B7684"/>
                </a:solidFill>
                <a:latin typeface="Pretendard"/>
                <a:ea typeface="Pretendard"/>
              </a:rPr>
              <a:t>K-Startup n=1,000 실측 — 접수처가 forms.gle 138종 등 225종으로 갈라져 통합 자동제출 자체가 불가능.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376672"/>
            <a:ext cx="11055096" cy="566928"/>
          </a:xfrm>
          <a:prstGeom prst="roundRect">
            <a:avLst>
              <a:gd name="adj" fmla="val 19354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37667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4E5968"/>
                </a:solidFill>
                <a:latin typeface="Pretendard"/>
                <a:ea typeface="Pretendard"/>
              </a:rPr>
              <a:t>핵심 난제 = 비정형 공고 → </a:t>
            </a:r>
            <a:r>
              <a:rPr sz="1300" b="1" i="0">
                <a:solidFill>
                  <a:srgbClr val="191F28"/>
                </a:solidFill>
                <a:latin typeface="Pretendard"/>
                <a:ea typeface="Pretendard"/>
              </a:rPr>
              <a:t>신뢰할 수 있는 구조화 + 설명 가능한 판정</a:t>
            </a:r>
            <a:r>
              <a:rPr sz="1300" b="0" i="0">
                <a:solidFill>
                  <a:srgbClr val="4E5968"/>
                </a:solidFill>
                <a:latin typeface="Pretendard"/>
                <a:ea typeface="Pretendard"/>
              </a:rPr>
              <a:t>.  쉬웠다면 이미 풀렸다.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핵심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신용평가처럼 일한다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은행은 블랙박스에 대출 승인을 맡기지 않는다. AI가 서류를 읽되, 투명한 규칙이 결정하고 사유를 설명한다. 창업노트도 똑같다.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02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5413248" cy="2331720"/>
          </a:xfrm>
          <a:prstGeom prst="roundRect">
            <a:avLst>
              <a:gd name="adj" fmla="val 6274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2860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4E5968"/>
                </a:solidFill>
                <a:latin typeface="Pretendard"/>
                <a:ea typeface="Pretendard"/>
              </a:rPr>
              <a:t>신용평가 (은행)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529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8B95A1"/>
                </a:solidFill>
                <a:latin typeface="Pretendard"/>
                <a:ea typeface="Pretendard"/>
              </a:rP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83464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333D4B"/>
                </a:solidFill>
                <a:latin typeface="Pretendard"/>
                <a:ea typeface="Pretendard"/>
              </a:rPr>
              <a:t>서류를 읽는다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소득·재직·거래내역 수집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55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8B95A1"/>
                </a:solidFill>
                <a:latin typeface="Pretendard"/>
                <a:ea typeface="Pretendard"/>
              </a:rP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333756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333D4B"/>
                </a:solidFill>
                <a:latin typeface="Pretendard"/>
                <a:ea typeface="Pretendard"/>
              </a:rPr>
              <a:t>규칙이 점수를 매긴다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공개된 신용평가 모형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85876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8B95A1"/>
                </a:solidFill>
                <a:latin typeface="Pretendard"/>
                <a:ea typeface="Pretendard"/>
              </a:rPr>
              <a:t>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384048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333D4B"/>
                </a:solidFill>
                <a:latin typeface="Pretendard"/>
                <a:ea typeface="Pretendard"/>
              </a:rPr>
              <a:t>결과에 사유가 붙는다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“연체 이력으로 등급 하락”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2011680"/>
            <a:ext cx="5413248" cy="2331720"/>
          </a:xfrm>
          <a:prstGeom prst="roundRect">
            <a:avLst>
              <a:gd name="adj" fmla="val 6274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19672" y="228600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9672" y="228600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</a:rPr>
              <a:t>창업노트</a:t>
            </a:r>
          </a:p>
        </p:txBody>
      </p:sp>
      <p:sp>
        <p:nvSpPr>
          <p:cNvPr id="20" name="Oval 19"/>
          <p:cNvSpPr/>
          <p:nvPr/>
        </p:nvSpPr>
        <p:spPr>
          <a:xfrm>
            <a:off x="6537960" y="2871216"/>
            <a:ext cx="146304" cy="14630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2" y="283464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191F28"/>
                </a:solidFill>
                <a:latin typeface="Pretendard"/>
                <a:ea typeface="Pretendard"/>
              </a:rPr>
              <a:t>AI가 공고를 읽는다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4E5968"/>
                </a:solidFill>
                <a:latin typeface="Pretendard"/>
                <a:ea typeface="Pretendard"/>
              </a:rPr>
              <a:t>비정형 → 14축 표준 계약 (추출)</a:t>
            </a:r>
          </a:p>
        </p:txBody>
      </p:sp>
      <p:sp>
        <p:nvSpPr>
          <p:cNvPr id="22" name="Oval 21"/>
          <p:cNvSpPr/>
          <p:nvPr/>
        </p:nvSpPr>
        <p:spPr>
          <a:xfrm>
            <a:off x="6537960" y="3374136"/>
            <a:ext cx="146304" cy="14630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85432" y="333756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191F28"/>
                </a:solidFill>
                <a:latin typeface="Pretendard"/>
                <a:ea typeface="Pretendard"/>
              </a:rPr>
              <a:t>규칙이 적격을 판정한다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4E5968"/>
                </a:solidFill>
                <a:latin typeface="Pretendard"/>
                <a:ea typeface="Pretendard"/>
              </a:rPr>
              <a:t>결정론 규칙엔진 (당락)</a:t>
            </a:r>
          </a:p>
        </p:txBody>
      </p:sp>
      <p:sp>
        <p:nvSpPr>
          <p:cNvPr id="24" name="Oval 23"/>
          <p:cNvSpPr/>
          <p:nvPr/>
        </p:nvSpPr>
        <p:spPr>
          <a:xfrm>
            <a:off x="6537960" y="3877055"/>
            <a:ext cx="146304" cy="14630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85432" y="384048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191F28"/>
                </a:solidFill>
                <a:latin typeface="Pretendard"/>
                <a:ea typeface="Pretendard"/>
              </a:rPr>
              <a:t>판정에 근거가 붙는다</a:t>
            </a:r>
          </a:p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2272EB"/>
                </a:solidFill>
                <a:latin typeface="Pretendard"/>
                <a:ea typeface="Pretendard"/>
              </a:rPr>
              <a:t>“업력 7년 이내 — 귀사 4년 2개월 ✓”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544568"/>
            <a:ext cx="11055096" cy="603504"/>
          </a:xfrm>
          <a:prstGeom prst="roundRect">
            <a:avLst>
              <a:gd name="adj" fmla="val 21212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4544568"/>
            <a:ext cx="105156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블랙박스 AI가 당락을 정하지 않는다</a:t>
            </a:r>
            <a:r>
              <a:rPr sz="1350" b="0" i="0">
                <a:solidFill>
                  <a:srgbClr val="CADCFC"/>
                </a:solidFill>
                <a:latin typeface="Pretendard"/>
                <a:ea typeface="Pretendard"/>
              </a:rPr>
              <a:t>  →  판정은 늘 재현·감사 가능. LLM이 틀려도 그 영향은 “입력 품질”에 갇힌다.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작동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작동 방식 — 한 장으로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비정형 공고를 회사와 같은 좌표계(14축)로 환원한 뒤, 결정론 규칙이 적격·근거·다음 행동을 자동 산출한다.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03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57400"/>
            <a:ext cx="297180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3182F6"/>
                </a:solidFill>
                <a:latin typeface="Pretendard"/>
                <a:ea typeface="Pretendard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780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91F28"/>
                </a:solidFill>
                <a:latin typeface="Pretendard"/>
                <a:ea typeface="Pretendard"/>
              </a:rPr>
              <a:t>비정형 공고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072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B7684"/>
                </a:solidFill>
                <a:latin typeface="Pretendard"/>
                <a:ea typeface="Pretendard"/>
              </a:rPr>
              <a:t>본문 · HWP 표 · 첨부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05740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3182F6"/>
                </a:solidFill>
                <a:latin typeface="Pretendard"/>
                <a:ea typeface="Pretendard"/>
              </a:rPr>
              <a:t>AI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2368296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78808" y="2057400"/>
            <a:ext cx="3246120" cy="1078992"/>
          </a:xfrm>
          <a:prstGeom prst="roundRect">
            <a:avLst>
              <a:gd name="adj" fmla="val 11864"/>
            </a:avLst>
          </a:prstGeom>
          <a:solidFill>
            <a:srgbClr val="F4F8FF"/>
          </a:solidFill>
          <a:ln w="1524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240280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3182F6"/>
                </a:solidFill>
                <a:latin typeface="Pretendard"/>
                <a:ea typeface="Pretendard"/>
              </a:rPr>
              <a:t>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47802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91F28"/>
                </a:solidFill>
                <a:latin typeface="Pretendard"/>
                <a:ea typeface="Pretendard"/>
              </a:rPr>
              <a:t>14축 표준 계약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807208"/>
            <a:ext cx="2788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B7684"/>
                </a:solidFill>
                <a:latin typeface="Pretendard"/>
                <a:ea typeface="Pretendard"/>
              </a:rPr>
              <a:t>controlled list · 근거(span) 동봉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2057400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3182F6"/>
                </a:solidFill>
                <a:latin typeface="Pretendard"/>
                <a:ea typeface="Pretendard"/>
              </a:rPr>
              <a:t>규칙 판정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368296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6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2057400"/>
            <a:ext cx="2971800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524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2240280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1" i="0">
                <a:solidFill>
                  <a:srgbClr val="3182F6"/>
                </a:solidFill>
                <a:latin typeface="Pretendard"/>
                <a:ea typeface="Pretendard"/>
              </a:rPr>
              <a:t>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47802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600" b="1" i="0">
                <a:solidFill>
                  <a:srgbClr val="191F28"/>
                </a:solidFill>
                <a:latin typeface="Pretendard"/>
                <a:ea typeface="Pretendard"/>
              </a:rPr>
              <a:t>적격·조건부·부적격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80720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B7684"/>
                </a:solidFill>
                <a:latin typeface="Pretendard"/>
                <a:ea typeface="Pretendard"/>
              </a:rPr>
              <a:t>+ 근거(rule_trace) + 다음 행동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0711"/>
            <a:ext cx="5989320" cy="2194560"/>
          </a:xfrm>
          <a:prstGeom prst="roundRect">
            <a:avLst>
              <a:gd name="adj" fmla="val 6666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648455"/>
            <a:ext cx="5257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9AA4B0"/>
                </a:solidFill>
                <a:latin typeface="Pretendard"/>
                <a:ea typeface="Pretendard"/>
              </a:rPr>
              <a:t>판정 = 단 3줄의 결정론 규칙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014215"/>
            <a:ext cx="5257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CADCFC"/>
                </a:solidFill>
                <a:latin typeface="Pretendard"/>
                <a:ea typeface="Pretendard"/>
              </a:rPr>
              <a:t>1.  필수·배제 중 하나라도 </a:t>
            </a:r>
            <a:r>
              <a:rPr sz="1450" b="1" i="0">
                <a:solidFill>
                  <a:srgbClr val="F04452"/>
                </a:solidFill>
                <a:latin typeface="Pretendard"/>
                <a:ea typeface="Pretendard"/>
              </a:rPr>
              <a:t>fail</a:t>
            </a:r>
            <a:r>
              <a:rPr sz="1450" b="1" i="0">
                <a:solidFill>
                  <a:srgbClr val="FFFFFF"/>
                </a:solidFill>
                <a:latin typeface="Pretendard"/>
                <a:ea typeface="Pretendard"/>
              </a:rPr>
              <a:t>  →  부적격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50" b="0" i="0">
                <a:solidFill>
                  <a:srgbClr val="CADCFC"/>
                </a:solidFill>
                <a:latin typeface="Pretendard"/>
                <a:ea typeface="Pretendard"/>
              </a:rPr>
              <a:t>2.  fail은 없는데 </a:t>
            </a:r>
            <a:r>
              <a:rPr sz="1450" b="1" i="0">
                <a:solidFill>
                  <a:srgbClr val="FE9800"/>
                </a:solidFill>
                <a:latin typeface="Pretendard"/>
                <a:ea typeface="Pretendard"/>
              </a:rPr>
              <a:t>unknown</a:t>
            </a:r>
            <a:r>
              <a:rPr sz="1450" b="1" i="0">
                <a:solidFill>
                  <a:srgbClr val="FFFFFF"/>
                </a:solidFill>
                <a:latin typeface="Pretendard"/>
                <a:ea typeface="Pretendard"/>
              </a:rPr>
              <a:t>  →  조건부</a:t>
            </a:r>
          </a:p>
          <a:p>
            <a:pPr algn="l">
              <a:spcBef>
                <a:spcPts val="0"/>
              </a:spcBef>
            </a:pPr>
            <a:r>
              <a:rPr sz="1450" b="0" i="0">
                <a:solidFill>
                  <a:srgbClr val="CADCFC"/>
                </a:solidFill>
                <a:latin typeface="Pretendard"/>
                <a:ea typeface="Pretendard"/>
              </a:rPr>
              <a:t>3.  전부 </a:t>
            </a:r>
            <a:r>
              <a:rPr sz="1450" b="1" i="0">
                <a:solidFill>
                  <a:srgbClr val="03B26C"/>
                </a:solidFill>
                <a:latin typeface="Pretendard"/>
                <a:ea typeface="Pretendard"/>
              </a:rPr>
              <a:t>pass</a:t>
            </a:r>
            <a:r>
              <a:rPr sz="1450" b="1" i="0">
                <a:solidFill>
                  <a:srgbClr val="FFFFFF"/>
                </a:solidFill>
                <a:latin typeface="Pretendard"/>
                <a:ea typeface="Pretendard"/>
              </a:rPr>
              <a:t>  →  적격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84848" y="3410711"/>
            <a:ext cx="4837176" cy="2194560"/>
          </a:xfrm>
          <a:prstGeom prst="roundRect">
            <a:avLst>
              <a:gd name="adj" fmla="val 6666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3685031"/>
            <a:ext cx="4197096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191F28"/>
                </a:solidFill>
                <a:latin typeface="Pretendard"/>
                <a:ea typeface="Pretendard"/>
              </a:rPr>
              <a:t>“AI는 읽고, 규칙이 판정한다.”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968"/>
                </a:solidFill>
                <a:latin typeface="Pretendard"/>
                <a:ea typeface="Pretendard"/>
              </a:rPr>
              <a:t>블랙박스가 당락을 정하지 않으니, 판정은 늘 재현·감사 가능하다.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00" b="0" i="0">
                <a:solidFill>
                  <a:srgbClr val="6B7684"/>
                </a:solidFill>
                <a:latin typeface="Pretendard"/>
                <a:ea typeface="Pretendard"/>
              </a:rPr>
              <a:t>무거운 수집(Python/GCP)과 빠른 사용자 경로(읽기 전용)를 표준 계약 하나로 분리 → 비용·지연을 통제.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차별점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정직하게 설계된 신뢰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“87점” 같은 가짜 단일점수를 거부한다. 모르는 것을 함부로 “안 됨”으로 단정하지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04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65960"/>
            <a:ext cx="5413248" cy="2788920"/>
          </a:xfrm>
          <a:prstGeom prst="roundRect">
            <a:avLst>
              <a:gd name="adj" fmla="val 524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77824" y="2240279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40279"/>
            <a:ext cx="2103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D97E00"/>
                </a:solidFill>
                <a:latin typeface="Pretendard"/>
                <a:ea typeface="Pretendard"/>
              </a:rPr>
              <a:t>거짓 탈락 금지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07208"/>
            <a:ext cx="4791456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정보가 없으면 </a:t>
            </a:r>
            <a:r>
              <a:rPr sz="1350" b="1" i="0">
                <a:solidFill>
                  <a:srgbClr val="FE9800"/>
                </a:solidFill>
                <a:latin typeface="Pretendard"/>
                <a:ea typeface="Pretendard"/>
              </a:rPr>
              <a:t>unknown(조건부)</a:t>
            </a: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으로 두고 사용자에게 묻는다.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모른다고 </a:t>
            </a:r>
            <a:r>
              <a:rPr sz="1350" b="1" i="0">
                <a:solidFill>
                  <a:srgbClr val="191F28"/>
                </a:solidFill>
                <a:latin typeface="Pretendard"/>
                <a:ea typeface="Pretendard"/>
              </a:rPr>
              <a:t>“안 됨”으로 단정하지 않는다</a:t>
            </a: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자가신고·예비창업 등 </a:t>
            </a:r>
            <a:r>
              <a:rPr sz="1350" b="1" i="0">
                <a:solidFill>
                  <a:srgbClr val="333D4B"/>
                </a:solidFill>
                <a:latin typeface="Pretendard"/>
                <a:ea typeface="Pretendard"/>
              </a:rPr>
              <a:t>신뢰도 낮은 출처는 confidence가 점수를 자동 하향</a:t>
            </a: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965960"/>
            <a:ext cx="5413248" cy="2788920"/>
          </a:xfrm>
          <a:prstGeom prst="roundRect">
            <a:avLst>
              <a:gd name="adj" fmla="val 5245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21991"/>
            <a:ext cx="479145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333D4B"/>
                </a:solidFill>
                <a:latin typeface="Pretendard"/>
                <a:ea typeface="Pretendard"/>
              </a:rPr>
              <a:t>점수 3분해 — 신뢰와 추측을 섞지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269748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7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2697480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03B26C"/>
                </a:solidFill>
                <a:latin typeface="Pretendard"/>
                <a:ea typeface="Pretendard"/>
              </a:rPr>
              <a:t>적합도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697480"/>
            <a:ext cx="3008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지금 신뢰 가능 · 규칙엔진 산출 · 헤드라인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19672" y="317296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172968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FE9800"/>
                </a:solidFill>
                <a:latin typeface="Pretendard"/>
                <a:ea typeface="Pretendard"/>
              </a:rPr>
              <a:t>선정가능성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172968"/>
            <a:ext cx="3008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데이터 누적 후 학습 · “추정” 라벨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19672" y="3648456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3648456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가치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648456"/>
            <a:ext cx="300837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B7684"/>
                </a:solidFill>
                <a:latin typeface="Pretendard"/>
                <a:ea typeface="Pretendard"/>
              </a:rPr>
              <a:t>혜택 − 부담 합산 · 보조 배지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19672" y="4142231"/>
            <a:ext cx="4791456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6" y="4142231"/>
            <a:ext cx="449884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2272EB"/>
                </a:solidFill>
                <a:latin typeface="Pretendard"/>
                <a:ea typeface="Pretendard"/>
              </a:rPr>
              <a:t>“지금 78점  →  매출 입력 시 최대 92점” </a:t>
            </a:r>
            <a:r>
              <a:rPr sz="1200" b="0" i="0">
                <a:solidFill>
                  <a:srgbClr val="6B7684"/>
                </a:solidFill>
                <a:latin typeface="Pretendard"/>
                <a:ea typeface="Pretendard"/>
              </a:rPr>
              <a:t>— 확정 하한·잠재 상한을 함께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937759"/>
            <a:ext cx="11055096" cy="548640"/>
          </a:xfrm>
          <a:prstGeom prst="roundRect">
            <a:avLst>
              <a:gd name="adj" fmla="val 20000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937759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191F28"/>
                </a:solidFill>
                <a:latin typeface="Pretendard"/>
                <a:ea typeface="Pretendard"/>
              </a:rPr>
              <a:t>거짓 확신을 구조적으로 차단</a:t>
            </a:r>
            <a:r>
              <a:rPr sz="1350" b="0" i="0">
                <a:solidFill>
                  <a:srgbClr val="4E5968"/>
                </a:solidFill>
                <a:latin typeface="Pretendard"/>
                <a:ea typeface="Pretendard"/>
              </a:rPr>
              <a:t> — 이것이 VC가 산출물을 신뢰할 수 있는 이유이자, 곧 라벨링 단위가 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실증 ·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슬라이드웨어가 아니다 — 이미 도는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설계가 아니라 실측. 비정형 공고를 표준 계약으로 환원하고, 매칭 엔진을 실데이터에서 엔드투엔드로 실증했다.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05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74519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57400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3182F6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660903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333D4B"/>
                </a:solidFill>
                <a:latin typeface="Pretendard"/>
                <a:ea typeface="Pretendard"/>
              </a:rPr>
              <a:t>K-Startup 척추 6차원을 LLM 없이 파서만으로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099815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8B95A1"/>
                </a:solidFill>
                <a:latin typeface="Pretendard"/>
                <a:ea typeface="Pretendard"/>
              </a:rPr>
              <a:t>지역·업력·연령·분야·대상·일정 · 오류·비용 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874519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057400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191F28"/>
                </a:solidFill>
                <a:latin typeface="Pretendard"/>
                <a:ea typeface="Pretendard"/>
              </a:rPr>
              <a:t>29,187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2660903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333D4B"/>
                </a:solidFill>
                <a:latin typeface="Pretendard"/>
                <a:ea typeface="Pretendard"/>
              </a:rPr>
              <a:t>수집된 공고 규모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3099815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8B95A1"/>
                </a:solidFill>
                <a:latin typeface="Pretendard"/>
                <a:ea typeface="Pretendard"/>
              </a:rPr>
              <a:t>표본 500건 구조화 커버리지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874519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057400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400" b="1" i="0">
                <a:solidFill>
                  <a:srgbClr val="03B26C"/>
                </a:solidFill>
                <a:latin typeface="Pretendard"/>
                <a:ea typeface="Pretendard"/>
              </a:rPr>
              <a:t>63</a:t>
            </a:r>
            <a:r>
              <a:rPr sz="3400" b="1" i="0">
                <a:solidFill>
                  <a:srgbClr val="8B95A1"/>
                </a:solidFill>
                <a:latin typeface="Pretendard"/>
                <a:ea typeface="Pretendard"/>
              </a:rPr>
              <a:t> · </a:t>
            </a:r>
            <a:r>
              <a:rPr sz="3400" b="1" i="0">
                <a:solidFill>
                  <a:srgbClr val="FE9800"/>
                </a:solidFill>
                <a:latin typeface="Pretendard"/>
                <a:ea typeface="Pretendard"/>
              </a:rPr>
              <a:t>88</a:t>
            </a:r>
            <a:r>
              <a:rPr sz="3400" b="1" i="0">
                <a:solidFill>
                  <a:srgbClr val="8B95A1"/>
                </a:solidFill>
                <a:latin typeface="Pretendard"/>
                <a:ea typeface="Pretendard"/>
              </a:rPr>
              <a:t> · </a:t>
            </a:r>
            <a:r>
              <a:rPr sz="3400" b="1" i="0">
                <a:solidFill>
                  <a:srgbClr val="F04452"/>
                </a:solidFill>
                <a:latin typeface="Pretendard"/>
                <a:ea typeface="Pretendard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660903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333D4B"/>
                </a:solidFill>
                <a:latin typeface="Pretendard"/>
                <a:ea typeface="Pretendard"/>
              </a:rPr>
              <a:t>엔드투엔드 매칭 데모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99815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8B95A1"/>
                </a:solidFill>
                <a:latin typeface="Pretendard"/>
                <a:ea typeface="Pretendard"/>
              </a:rPr>
              <a:t>가상 사업자 × open 215건 → 적격·조건부·부적격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48456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831335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300" b="1" i="0">
                <a:solidFill>
                  <a:srgbClr val="3182F6"/>
                </a:solidFill>
                <a:latin typeface="Pretendard"/>
                <a:ea typeface="Pretendard"/>
              </a:rPr>
              <a:t>1/3 →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4348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333D4B"/>
                </a:solidFill>
                <a:latin typeface="Pretendard"/>
                <a:ea typeface="Pretendard"/>
              </a:rPr>
              <a:t>LLM JSON 파싱 실패율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7" y="4873752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8B95A1"/>
                </a:solidFill>
                <a:latin typeface="Pretendard"/>
                <a:ea typeface="Pretendard"/>
              </a:rPr>
              <a:t>tool-use(구조화 출력) 전환 효과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88536" y="3648456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2856" y="3831335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191F28"/>
                </a:solidFill>
                <a:latin typeface="Pretendard"/>
                <a:ea typeface="Pretendard"/>
              </a:rPr>
              <a:t>11 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44348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333D4B"/>
                </a:solidFill>
                <a:latin typeface="Pretendard"/>
                <a:ea typeface="Pretendard"/>
              </a:rPr>
              <a:t>HWP 자격요건 표 셀 단위 보존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2856" y="4873752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8B95A1"/>
                </a:solidFill>
                <a:latin typeface="Pretendard"/>
                <a:ea typeface="Pretendard"/>
              </a:rPr>
              <a:t>pyhwp hwp5html → LLM-ready 마크다운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3648456"/>
            <a:ext cx="3529584" cy="1591056"/>
          </a:xfrm>
          <a:prstGeom prst="roundRect">
            <a:avLst>
              <a:gd name="adj" fmla="val 9195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3831335"/>
            <a:ext cx="2980944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800" b="1" i="0">
                <a:solidFill>
                  <a:srgbClr val="FFFFFF"/>
                </a:solidFill>
                <a:latin typeface="Pretendard"/>
                <a:ea typeface="Pretendard"/>
              </a:rPr>
              <a:t>11 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4434840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200" b="1" i="0">
                <a:solidFill>
                  <a:srgbClr val="CADCFC"/>
                </a:solidFill>
                <a:latin typeface="Pretendard"/>
                <a:ea typeface="Pretendard"/>
              </a:rPr>
              <a:t>구현된 use-case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4873752"/>
            <a:ext cx="29809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980" b="0" i="0">
                <a:solidFill>
                  <a:srgbClr val="9AA4B0"/>
                </a:solidFill>
                <a:latin typeface="Pretendard"/>
                <a:ea typeface="Pretendard"/>
              </a:rPr>
              <a:t>매칭카드·액션큐·로드맵·신청시트… 동작하는 코드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422392"/>
            <a:ext cx="11055096" cy="566928"/>
          </a:xfrm>
          <a:prstGeom prst="roundRect">
            <a:avLst>
              <a:gd name="adj" fmla="val 19354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42239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91F28"/>
                </a:solidFill>
                <a:latin typeface="Pretendard"/>
                <a:ea typeface="Pretendard"/>
              </a:rPr>
              <a:t>정직성 게이트.  </a:t>
            </a:r>
            <a:r>
              <a:rPr sz="1250" b="0" i="0">
                <a:solidFill>
                  <a:srgbClr val="4E5968"/>
                </a:solidFill>
                <a:latin typeface="Pretendard"/>
                <a:ea typeface="Pretendard"/>
              </a:rPr>
              <a:t>도메인 골든셋 기반 엄밀 정밀도/재현율(P/R)은 진행 중이며, 그 전에는 </a:t>
            </a:r>
            <a:r>
              <a:rPr sz="1250" b="1" i="0">
                <a:solidFill>
                  <a:srgbClr val="333D4B"/>
                </a:solidFill>
                <a:latin typeface="Pretendard"/>
                <a:ea typeface="Pretendard"/>
              </a:rPr>
              <a:t>“정확도 검증 완료”로 표현하지 않는다</a:t>
            </a:r>
            <a:r>
              <a:rPr sz="1250" b="0" i="0">
                <a:solidFill>
                  <a:srgbClr val="4E5968"/>
                </a:solidFill>
                <a:latin typeface="Pretendard"/>
                <a:ea typeface="Pretendard"/>
              </a:rPr>
              <a:t> — 이 절제가 곧 제품 철학.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차별점 ② · 해자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데이터가 쌓일수록 강해진다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시간이 흐르고 데이터가 쌓일수록 추천이 정교해지되, 적격 판정은 언제나 결정론·설명 가능하게 유지한다.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06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993392"/>
            <a:ext cx="1883664" cy="868680"/>
          </a:xfrm>
          <a:prstGeom prst="roundRect">
            <a:avLst>
              <a:gd name="adj" fmla="val 14736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993392"/>
            <a:ext cx="1627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1" i="0">
                <a:solidFill>
                  <a:srgbClr val="191F28"/>
                </a:solidFill>
                <a:latin typeface="Pretendard"/>
                <a:ea typeface="Pretendard"/>
              </a:rPr>
              <a:t>운영 (점수·버전 로깅)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1993392"/>
            <a:ext cx="40919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59786" y="1993392"/>
            <a:ext cx="1883664" cy="868680"/>
          </a:xfrm>
          <a:prstGeom prst="roundRect">
            <a:avLst>
              <a:gd name="adj" fmla="val 14736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7802" y="1993392"/>
            <a:ext cx="1627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1" i="0">
                <a:solidFill>
                  <a:srgbClr val="191F28"/>
                </a:solidFill>
                <a:latin typeface="Pretendard"/>
                <a:ea typeface="Pretendard"/>
              </a:rPr>
              <a:t>저신뢰·피드백·outcome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3450" y="1993392"/>
            <a:ext cx="40919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52644" y="1993392"/>
            <a:ext cx="1883664" cy="868680"/>
          </a:xfrm>
          <a:prstGeom prst="roundRect">
            <a:avLst>
              <a:gd name="adj" fmla="val 14736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59" y="1993392"/>
            <a:ext cx="1627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1" i="0">
                <a:solidFill>
                  <a:srgbClr val="191F28"/>
                </a:solidFill>
                <a:latin typeface="Pretendard"/>
                <a:ea typeface="Pretendard"/>
              </a:rPr>
              <a:t>라벨링 → 골든셋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6308" y="1993392"/>
            <a:ext cx="40919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5501" y="1993392"/>
            <a:ext cx="1883664" cy="868680"/>
          </a:xfrm>
          <a:prstGeom prst="roundRect">
            <a:avLst>
              <a:gd name="adj" fmla="val 14736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73517" y="1993392"/>
            <a:ext cx="1627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1" i="0">
                <a:solidFill>
                  <a:srgbClr val="191F28"/>
                </a:solidFill>
                <a:latin typeface="Pretendard"/>
                <a:ea typeface="Pretendard"/>
              </a:rPr>
              <a:t>CI 평가 게이트 (회귀 시 차단)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9165" y="1993392"/>
            <a:ext cx="409193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C5CCD4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59" y="1993392"/>
            <a:ext cx="1883664" cy="868680"/>
          </a:xfrm>
          <a:prstGeom prst="roundRect">
            <a:avLst>
              <a:gd name="adj" fmla="val 14736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66376" y="1993392"/>
            <a:ext cx="162763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50" b="1" i="0">
                <a:solidFill>
                  <a:srgbClr val="191F28"/>
                </a:solidFill>
                <a:latin typeface="Pretendard"/>
                <a:ea typeface="Pretendard"/>
              </a:rPr>
              <a:t>재추출 (원본 R2 · 재크롤 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26080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50" b="1" i="0">
                <a:solidFill>
                  <a:srgbClr val="6B7684"/>
                </a:solidFill>
                <a:latin typeface="Pretendard"/>
                <a:ea typeface="Pretendard"/>
              </a:rPr>
              <a:t>→  다시 운영으로  ·  데이터가 한 바퀴 돌 때마다 품질이 오른다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64992"/>
            <a:ext cx="2615184" cy="54864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33649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333D4B"/>
                </a:solidFill>
                <a:latin typeface="Pretendard"/>
                <a:ea typeface="Pretendard"/>
              </a:rPr>
              <a:t>① 추출 정확도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0232" y="3364992"/>
            <a:ext cx="2615184" cy="54864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0232" y="33649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333D4B"/>
                </a:solidFill>
                <a:latin typeface="Pretendard"/>
                <a:ea typeface="Pretendard"/>
              </a:rPr>
              <a:t>② 매핑 자산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3536" y="3364992"/>
            <a:ext cx="2615184" cy="54864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3536" y="33649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333D4B"/>
                </a:solidFill>
                <a:latin typeface="Pretendard"/>
                <a:ea typeface="Pretendard"/>
              </a:rPr>
              <a:t>③ 랭킹 가중치 (learn-to-rank)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3364992"/>
            <a:ext cx="2615184" cy="548640"/>
          </a:xfrm>
          <a:prstGeom prst="roundRect">
            <a:avLst>
              <a:gd name="adj" fmla="val 20000"/>
            </a:avLst>
          </a:prstGeom>
          <a:solidFill>
            <a:srgbClr val="F9FAFB"/>
          </a:solidFill>
          <a:ln w="12700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364992"/>
            <a:ext cx="261518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50" b="1" i="0">
                <a:solidFill>
                  <a:srgbClr val="333D4B"/>
                </a:solidFill>
                <a:latin typeface="Pretendard"/>
                <a:ea typeface="Pretendard"/>
              </a:rPr>
              <a:t>④ 선정가능성 모델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078224"/>
            <a:ext cx="11055096" cy="841248"/>
          </a:xfrm>
          <a:prstGeom prst="roundRect">
            <a:avLst>
              <a:gd name="adj" fmla="val 17391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422452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Pretendard"/>
                <a:ea typeface="Pretendard"/>
              </a:rPr>
              <a:t>“더 똑똑해지되, 당락은 언제나 설명 가능.”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553712"/>
            <a:ext cx="103327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CADCFC"/>
                </a:solidFill>
                <a:latin typeface="Pretendard"/>
                <a:ea typeface="Pretendard"/>
              </a:rPr>
              <a:t>신청→선정 이력과 기업 성장 궤적이 </a:t>
            </a:r>
            <a:r>
              <a:rPr sz="1250" b="1" i="0">
                <a:solidFill>
                  <a:srgbClr val="6EB2FF"/>
                </a:solidFill>
                <a:latin typeface="Pretendard"/>
                <a:ea typeface="Pretendard"/>
              </a:rPr>
              <a:t>경쟁자가 복제하기 어려운 데이터 해자</a:t>
            </a:r>
            <a:r>
              <a:rPr sz="1250" b="0" i="0">
                <a:solidFill>
                  <a:srgbClr val="CADCFC"/>
                </a:solidFill>
                <a:latin typeface="Pretendard"/>
                <a:ea typeface="Pretendard"/>
              </a:rPr>
              <a:t>로 축적된다.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3182F6"/>
                </a:solidFill>
                <a:latin typeface="Pretendard"/>
                <a:ea typeface="Pretendard"/>
              </a:rPr>
              <a:t>기술 · 비전 ·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315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3000" b="1" i="0">
                <a:solidFill>
                  <a:srgbClr val="191F28"/>
                </a:solidFill>
                <a:latin typeface="Pretendard"/>
                <a:ea typeface="Pretendard"/>
              </a:rPr>
              <a:t>로드맵 — 정확도 플라이휠에서 성장 데이터 자산으로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417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</a:pPr>
            <a:r>
              <a:rPr sz="1400" b="0" i="0">
                <a:solidFill>
                  <a:srgbClr val="6B7684"/>
                </a:solidFill>
                <a:latin typeface="Pretendard"/>
                <a:ea typeface="Pretendard"/>
              </a:rPr>
              <a:t>데이터가 쌓일수록 추천이 정교해지고, 축적되는 기업 성장 데이터가 (주)노튼의 장기 AI 자산이 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8B95A1"/>
                </a:solidFill>
                <a:latin typeface="Pretendard"/>
                <a:ea typeface="Pretendard"/>
              </a:rPr>
              <a:t>창업노트 · (주)노튼   |   changupnote.com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55664"/>
            <a:ext cx="29379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50" b="1" i="0">
                <a:solidFill>
                  <a:srgbClr val="B0B8C1"/>
                </a:solidFill>
                <a:latin typeface="Pretendard"/>
                <a:ea typeface="Pretendard"/>
              </a:rPr>
              <a:t>07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11680"/>
            <a:ext cx="3529584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6771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182F6"/>
                </a:solidFill>
                <a:latin typeface="Pretendard"/>
                <a:ea typeface="Pretendard"/>
              </a:rPr>
              <a:t>단기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42032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sz="1650" b="1" i="0">
                <a:solidFill>
                  <a:srgbClr val="191F28"/>
                </a:solidFill>
                <a:latin typeface="Pretendard"/>
                <a:ea typeface="Pretendard"/>
              </a:rPr>
              <a:t>정확도 플라이휠 가동</a:t>
            </a:r>
          </a:p>
        </p:txBody>
      </p:sp>
      <p:sp>
        <p:nvSpPr>
          <p:cNvPr id="11" name="Oval 10"/>
          <p:cNvSpPr/>
          <p:nvPr/>
        </p:nvSpPr>
        <p:spPr>
          <a:xfrm>
            <a:off x="877824" y="3392424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3319272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골든셋 P/R 측정 → 프롬프트·매핑 자산 튜닝</a:t>
            </a:r>
          </a:p>
        </p:txBody>
      </p:sp>
      <p:sp>
        <p:nvSpPr>
          <p:cNvPr id="13" name="Oval 12"/>
          <p:cNvSpPr/>
          <p:nvPr/>
        </p:nvSpPr>
        <p:spPr>
          <a:xfrm>
            <a:off x="877824" y="3904488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831336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1" i="0">
                <a:solidFill>
                  <a:srgbClr val="2272EB"/>
                </a:solidFill>
                <a:latin typeface="Pretendard"/>
                <a:ea typeface="Pretendard"/>
              </a:rPr>
              <a:t>HITL 자동화 비율 상승 (사람 개입 ↓)</a:t>
            </a:r>
          </a:p>
        </p:txBody>
      </p:sp>
      <p:sp>
        <p:nvSpPr>
          <p:cNvPr id="15" name="Oval 14"/>
          <p:cNvSpPr/>
          <p:nvPr/>
        </p:nvSpPr>
        <p:spPr>
          <a:xfrm>
            <a:off x="877824" y="4416552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34340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기업마당 추출 본격화 · 채널 확장 1,500+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6" y="2011680"/>
            <a:ext cx="3529584" cy="283464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5E8EB"/>
            </a:solidFill>
          </a:ln>
          <a:effectLst/>
          <a:effectLst>
            <a:outerShdw blurRad="90000" dist="40000" dir="5400000" rotWithShape="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81144" y="226771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182F6"/>
                </a:solidFill>
                <a:latin typeface="Pretendard"/>
                <a:ea typeface="Pretendard"/>
              </a:rPr>
              <a:t>중기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2542032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sz="1650" b="1" i="0">
                <a:solidFill>
                  <a:srgbClr val="191F28"/>
                </a:solidFill>
                <a:latin typeface="Pretendard"/>
                <a:ea typeface="Pretendard"/>
              </a:rPr>
              <a:t>학습으로 정교해지는 랭킹</a:t>
            </a:r>
          </a:p>
        </p:txBody>
      </p:sp>
      <p:sp>
        <p:nvSpPr>
          <p:cNvPr id="20" name="Oval 19"/>
          <p:cNvSpPr/>
          <p:nvPr/>
        </p:nvSpPr>
        <p:spPr>
          <a:xfrm>
            <a:off x="4599432" y="3392424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3319272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1" i="0">
                <a:solidFill>
                  <a:srgbClr val="2272EB"/>
                </a:solidFill>
                <a:latin typeface="Pretendard"/>
                <a:ea typeface="Pretendard"/>
              </a:rPr>
              <a:t>learn-to-rank — 피드백·outcome 가중치 튜닝</a:t>
            </a:r>
          </a:p>
        </p:txBody>
      </p:sp>
      <p:sp>
        <p:nvSpPr>
          <p:cNvPr id="22" name="Oval 21"/>
          <p:cNvSpPr/>
          <p:nvPr/>
        </p:nvSpPr>
        <p:spPr>
          <a:xfrm>
            <a:off x="4599432" y="3904488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3831336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선정가능성 모델 (outcome 누적 후)</a:t>
            </a:r>
          </a:p>
        </p:txBody>
      </p:sp>
      <p:sp>
        <p:nvSpPr>
          <p:cNvPr id="24" name="Oval 23"/>
          <p:cNvSpPr/>
          <p:nvPr/>
        </p:nvSpPr>
        <p:spPr>
          <a:xfrm>
            <a:off x="4599432" y="4416552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434340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CODEF 연동 · 정책자금·민간투자 트랙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2011680"/>
            <a:ext cx="3529584" cy="2834640"/>
          </a:xfrm>
          <a:prstGeom prst="roundRect">
            <a:avLst>
              <a:gd name="adj" fmla="val 5161"/>
            </a:avLst>
          </a:prstGeom>
          <a:solidFill>
            <a:srgbClr val="F4F8FF"/>
          </a:solidFill>
          <a:ln w="12700">
            <a:solidFill>
              <a:srgbClr val="BCD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26771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1" i="0">
                <a:solidFill>
                  <a:srgbClr val="3182F6"/>
                </a:solidFill>
                <a:latin typeface="Pretendard"/>
                <a:ea typeface="Pretendard"/>
              </a:rPr>
              <a:t>장기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2542032"/>
            <a:ext cx="29809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999"/>
              </a:lnSpc>
              <a:spcBef>
                <a:spcPts val="0"/>
              </a:spcBef>
            </a:pPr>
            <a:r>
              <a:rPr sz="1650" b="1" i="0">
                <a:solidFill>
                  <a:srgbClr val="191F28"/>
                </a:solidFill>
                <a:latin typeface="Pretendard"/>
                <a:ea typeface="Pretendard"/>
              </a:rPr>
              <a:t>기업 성장 데이터 = AI 자산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3392424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8784" y="3319272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성장 RPG — 퀘스트·레벨·투자단계가 실데이터에 1:1</a:t>
            </a:r>
          </a:p>
        </p:txBody>
      </p:sp>
      <p:sp>
        <p:nvSpPr>
          <p:cNvPr id="31" name="Oval 30"/>
          <p:cNvSpPr/>
          <p:nvPr/>
        </p:nvSpPr>
        <p:spPr>
          <a:xfrm>
            <a:off x="8321040" y="3904488"/>
            <a:ext cx="109728" cy="109728"/>
          </a:xfrm>
          <a:prstGeom prst="ellipse">
            <a:avLst/>
          </a:prstGeom>
          <a:solidFill>
            <a:srgbClr val="C5C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58784" y="3831336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0" i="0">
                <a:solidFill>
                  <a:srgbClr val="4E5968"/>
                </a:solidFill>
                <a:latin typeface="Pretendard"/>
                <a:ea typeface="Pretendard"/>
              </a:rPr>
              <a:t>수혜이력 타임라인 + 사업계획서 초안 어시스턴트</a:t>
            </a:r>
          </a:p>
        </p:txBody>
      </p:sp>
      <p:sp>
        <p:nvSpPr>
          <p:cNvPr id="33" name="Oval 32"/>
          <p:cNvSpPr/>
          <p:nvPr/>
        </p:nvSpPr>
        <p:spPr>
          <a:xfrm>
            <a:off x="8321040" y="4416552"/>
            <a:ext cx="109728" cy="10972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58784" y="4343400"/>
            <a:ext cx="26883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180" b="1" i="0">
                <a:solidFill>
                  <a:srgbClr val="2272EB"/>
                </a:solidFill>
                <a:latin typeface="Pretendard"/>
                <a:ea typeface="Pretendard"/>
              </a:rPr>
              <a:t>대리 제출 ✗ — 자동완성·초안 도움으로 정직 한정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010912"/>
            <a:ext cx="11055096" cy="548640"/>
          </a:xfrm>
          <a:prstGeom prst="roundRect">
            <a:avLst>
              <a:gd name="adj" fmla="val 23333"/>
            </a:avLst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010912"/>
            <a:ext cx="10515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1" i="0">
                <a:solidFill>
                  <a:srgbClr val="6EB2FF"/>
                </a:solidFill>
                <a:latin typeface="Pretendard"/>
                <a:ea typeface="Pretendard"/>
              </a:rPr>
              <a:t>데이터 해자.  </a:t>
            </a:r>
            <a:r>
              <a:rPr sz="1350" b="0" i="0">
                <a:solidFill>
                  <a:srgbClr val="CADCFC"/>
                </a:solidFill>
                <a:latin typeface="Pretendard"/>
                <a:ea typeface="Pretendard"/>
              </a:rPr>
              <a:t>플라이휠의 outcome이 곧 해자 — 축적되는 기업 성장 데이터가 (주)노튼의 장기 AI 자산이 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F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3182F6"/>
                </a:solidFill>
                <a:latin typeface="Pretendard"/>
                <a:ea typeface="Pretendard"/>
              </a:rPr>
              <a:t>요약 · 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828800"/>
            <a:ext cx="10789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Pretendard"/>
                <a:ea typeface="Pretendard"/>
              </a:rPr>
              <a:t>AI는 읽고, 규칙이 판정한다.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246120"/>
            <a:ext cx="3529584" cy="1920240"/>
          </a:xfrm>
          <a:prstGeom prst="roundRect">
            <a:avLst>
              <a:gd name="adj" fmla="val 7619"/>
            </a:avLst>
          </a:prstGeom>
          <a:solidFill>
            <a:srgbClr val="23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3538727"/>
            <a:ext cx="420624" cy="420624"/>
          </a:xfrm>
          <a:prstGeom prst="roundRect">
            <a:avLst>
              <a:gd name="adj" fmla="val 26086"/>
            </a:avLst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353872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6EB2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1148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</a:rPr>
              <a:t>표준 계약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4507992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80" b="0" i="0">
                <a:solidFill>
                  <a:srgbClr val="CADCFC"/>
                </a:solidFill>
                <a:latin typeface="Pretendard"/>
                <a:ea typeface="Pretendard"/>
              </a:rPr>
              <a:t>흩어진 공고를 14축의 공통어로 환원 — 회사와 같은 좌표계에서 비교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3246120"/>
            <a:ext cx="3529584" cy="1920240"/>
          </a:xfrm>
          <a:prstGeom prst="roundRect">
            <a:avLst>
              <a:gd name="adj" fmla="val 7619"/>
            </a:avLst>
          </a:prstGeom>
          <a:solidFill>
            <a:srgbClr val="23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81144" y="3538727"/>
            <a:ext cx="420624" cy="420624"/>
          </a:xfrm>
          <a:prstGeom prst="roundRect">
            <a:avLst>
              <a:gd name="adj" fmla="val 26086"/>
            </a:avLst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353872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6EB2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41148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</a:rPr>
              <a:t>설명 가능한 판정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4507992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80" b="0" i="0">
                <a:solidFill>
                  <a:srgbClr val="CADCFC"/>
                </a:solidFill>
                <a:latin typeface="Pretendard"/>
                <a:ea typeface="Pretendard"/>
              </a:rPr>
              <a:t>블랙박스가 아닌 결정론 규칙 — 재현·감사 가능, 거짓 확신 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3246120"/>
            <a:ext cx="3529584" cy="1920240"/>
          </a:xfrm>
          <a:prstGeom prst="roundRect">
            <a:avLst>
              <a:gd name="adj" fmla="val 7619"/>
            </a:avLst>
          </a:prstGeom>
          <a:solidFill>
            <a:srgbClr val="23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02752" y="3538727"/>
            <a:ext cx="420624" cy="420624"/>
          </a:xfrm>
          <a:prstGeom prst="roundRect">
            <a:avLst>
              <a:gd name="adj" fmla="val 26086"/>
            </a:avLst>
          </a:prstGeom>
          <a:solidFill>
            <a:srgbClr val="2A3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3538727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6EB2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114800"/>
            <a:ext cx="29809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</a:rPr>
              <a:t>깊어지는 해자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4507992"/>
            <a:ext cx="298094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80" b="0" i="0">
                <a:solidFill>
                  <a:srgbClr val="CADCFC"/>
                </a:solidFill>
                <a:latin typeface="Pretendard"/>
                <a:ea typeface="Pretendard"/>
              </a:rPr>
              <a:t>데이터가 쌓일수록 정교해지는 플라이휠 — 성장 데이터 = 장기 AI 자산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55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00" b="1" i="0">
                <a:solidFill>
                  <a:srgbClr val="9AA4B0"/>
                </a:solidFill>
                <a:latin typeface="Pretendard"/>
                <a:ea typeface="Pretendard"/>
              </a:rPr>
              <a:t>창업노트 · (주)노튼  ·  changupnote.com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