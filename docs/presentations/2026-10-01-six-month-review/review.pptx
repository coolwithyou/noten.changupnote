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d67917d97f41e4" /><Relationship Type="http://schemas.openxmlformats.org/officeDocument/2006/relationships/extended-properties" Target="/docProps/app.xml" Id="R08c91ae8d6d94246" /><Relationship Type="http://schemas.openxmlformats.org/officeDocument/2006/relationships/officeDocument" Target="/ppt/presentation.xml" Id="R2733333761114ed1" /></Relationships>
</file>

<file path=ppt/presentation.xml><?xml version="1.0" encoding="utf-8"?>
<p:presentation xmlns:p="http://schemas.openxmlformats.org/presentationml/2006/main">
  <p:sldMasterIdLst>
    <p:sldMasterId xmlns:r="http://schemas.openxmlformats.org/officeDocument/2006/relationships" id="2147483648" r:id="Rd78efa87f5864abd"/>
  </p:sldMasterIdLst>
  <p:notesMasterIdLst>
    <p:notesMasterId xmlns:r="http://schemas.openxmlformats.org/officeDocument/2006/relationships" r:id="R8d9daa2b65514d89"/>
  </p:notesMasterIdLst>
  <p:sldIdLst>
    <p:sldId xmlns:r="http://schemas.openxmlformats.org/officeDocument/2006/relationships" id="256" r:id="Rbf378c60318d419e"/>
    <p:sldId xmlns:r="http://schemas.openxmlformats.org/officeDocument/2006/relationships" id="257" r:id="R1be1d5e5cce243c2"/>
    <p:sldId xmlns:r="http://schemas.openxmlformats.org/officeDocument/2006/relationships" id="258" r:id="R156afe94c7234230"/>
    <p:sldId xmlns:r="http://schemas.openxmlformats.org/officeDocument/2006/relationships" id="259" r:id="Re990db2bccd043e6"/>
    <p:sldId xmlns:r="http://schemas.openxmlformats.org/officeDocument/2006/relationships" id="260" r:id="Rf8d0f437f0a646c8"/>
    <p:sldId xmlns:r="http://schemas.openxmlformats.org/officeDocument/2006/relationships" id="261" r:id="R0d6a23a36a484d86"/>
    <p:sldId xmlns:r="http://schemas.openxmlformats.org/officeDocument/2006/relationships" id="262" r:id="Rce45a466fb70468c"/>
    <p:sldId xmlns:r="http://schemas.openxmlformats.org/officeDocument/2006/relationships" id="263" r:id="Re80f11d0d5bb4e3b"/>
    <p:sldId xmlns:r="http://schemas.openxmlformats.org/officeDocument/2006/relationships" id="264" r:id="R1cf7507e8377437d"/>
    <p:sldId xmlns:r="http://schemas.openxmlformats.org/officeDocument/2006/relationships" id="265" r:id="Rbed062d0498b427f"/>
    <p:sldId xmlns:r="http://schemas.openxmlformats.org/officeDocument/2006/relationships" id="266" r:id="Rdb71dcc1c0fd4478"/>
    <p:sldId xmlns:r="http://schemas.openxmlformats.org/officeDocument/2006/relationships" id="267" r:id="R6201343e42904a15"/>
    <p:sldId xmlns:r="http://schemas.openxmlformats.org/officeDocument/2006/relationships" id="268" r:id="Rd8c8a77234764960"/>
    <p:sldId xmlns:r="http://schemas.openxmlformats.org/officeDocument/2006/relationships" id="269" r:id="R2f0c8c68d7654994"/>
    <p:sldId xmlns:r="http://schemas.openxmlformats.org/officeDocument/2006/relationships" id="270" r:id="R35d90d7e770049ce"/>
    <p:sldId xmlns:r="http://schemas.openxmlformats.org/officeDocument/2006/relationships" id="271" r:id="Rd71aeb90ff2b4248"/>
    <p:sldId xmlns:r="http://schemas.openxmlformats.org/officeDocument/2006/relationships" id="272" r:id="R85921e29befd4786"/>
    <p:sldId xmlns:r="http://schemas.openxmlformats.org/officeDocument/2006/relationships" id="273" r:id="R8781bb4c0ba94463"/>
    <p:sldId xmlns:r="http://schemas.openxmlformats.org/officeDocument/2006/relationships" id="274" r:id="Ra9f4c0c2e387415f"/>
    <p:sldId xmlns:r="http://schemas.openxmlformats.org/officeDocument/2006/relationships" id="275" r:id="R188501d4053e4ded"/>
    <p:sldId xmlns:r="http://schemas.openxmlformats.org/officeDocument/2006/relationships" id="276" r:id="R532af24c8f3944ef"/>
    <p:sldId xmlns:r="http://schemas.openxmlformats.org/officeDocument/2006/relationships" id="277" r:id="R52bf02aa4ceb47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1f3151a7d843f3" /><Relationship Type="http://schemas.openxmlformats.org/officeDocument/2006/relationships/slideMaster" Target="/ppt/slideMasters/slideMaster1.xml" Id="Rd78efa87f5864abd" /><Relationship Type="http://schemas.openxmlformats.org/officeDocument/2006/relationships/notesMaster" Target="/ppt/notesMasters/notesMaster1.xml" Id="R8d9daa2b65514d89" /><Relationship Type="http://schemas.openxmlformats.org/officeDocument/2006/relationships/presProps" Target="/ppt/presProps.xml" Id="R3d19cd92f1fb4f9d" /><Relationship Type="http://schemas.openxmlformats.org/officeDocument/2006/relationships/tableStyles" Target="/ppt/tableStyles.xml" Id="Rd02c597a2953402c" /><Relationship Type="http://schemas.openxmlformats.org/officeDocument/2006/relationships/slide" Target="/ppt/slides/slide1.xml" Id="Rbf378c60318d419e" /><Relationship Type="http://schemas.openxmlformats.org/officeDocument/2006/relationships/slide" Target="/ppt/slides/slide2.xml" Id="R1be1d5e5cce243c2" /><Relationship Type="http://schemas.openxmlformats.org/officeDocument/2006/relationships/slide" Target="/ppt/slides/slide3.xml" Id="R156afe94c7234230" /><Relationship Type="http://schemas.openxmlformats.org/officeDocument/2006/relationships/slide" Target="/ppt/slides/slide4.xml" Id="Re990db2bccd043e6" /><Relationship Type="http://schemas.openxmlformats.org/officeDocument/2006/relationships/slide" Target="/ppt/slides/slide5.xml" Id="Rf8d0f437f0a646c8" /><Relationship Type="http://schemas.openxmlformats.org/officeDocument/2006/relationships/slide" Target="/ppt/slides/slide6.xml" Id="R0d6a23a36a484d86" /><Relationship Type="http://schemas.openxmlformats.org/officeDocument/2006/relationships/slide" Target="/ppt/slides/slide7.xml" Id="Rce45a466fb70468c" /><Relationship Type="http://schemas.openxmlformats.org/officeDocument/2006/relationships/slide" Target="/ppt/slides/slide8.xml" Id="Re80f11d0d5bb4e3b" /><Relationship Type="http://schemas.openxmlformats.org/officeDocument/2006/relationships/slide" Target="/ppt/slides/slide9.xml" Id="R1cf7507e8377437d" /><Relationship Type="http://schemas.openxmlformats.org/officeDocument/2006/relationships/slide" Target="/ppt/slides/slide10.xml" Id="Rbed062d0498b427f" /><Relationship Type="http://schemas.openxmlformats.org/officeDocument/2006/relationships/slide" Target="/ppt/slides/slide11.xml" Id="Rdb71dcc1c0fd4478" /><Relationship Type="http://schemas.openxmlformats.org/officeDocument/2006/relationships/slide" Target="/ppt/slides/slide12.xml" Id="R6201343e42904a15" /><Relationship Type="http://schemas.openxmlformats.org/officeDocument/2006/relationships/slide" Target="/ppt/slides/slide13.xml" Id="Rd8c8a77234764960" /><Relationship Type="http://schemas.openxmlformats.org/officeDocument/2006/relationships/slide" Target="/ppt/slides/slide14.xml" Id="R2f0c8c68d7654994" /><Relationship Type="http://schemas.openxmlformats.org/officeDocument/2006/relationships/slide" Target="/ppt/slides/slide15.xml" Id="R35d90d7e770049ce" /><Relationship Type="http://schemas.openxmlformats.org/officeDocument/2006/relationships/slide" Target="/ppt/slides/slide16.xml" Id="Rd71aeb90ff2b4248" /><Relationship Type="http://schemas.openxmlformats.org/officeDocument/2006/relationships/slide" Target="/ppt/slides/slide17.xml" Id="R85921e29befd4786" /><Relationship Type="http://schemas.openxmlformats.org/officeDocument/2006/relationships/slide" Target="/ppt/slides/slide18.xml" Id="R8781bb4c0ba94463" /><Relationship Type="http://schemas.openxmlformats.org/officeDocument/2006/relationships/slide" Target="/ppt/slides/slide19.xml" Id="Ra9f4c0c2e387415f" /><Relationship Type="http://schemas.openxmlformats.org/officeDocument/2006/relationships/slide" Target="/ppt/slides/slide20.xml" Id="R188501d4053e4ded" /><Relationship Type="http://schemas.openxmlformats.org/officeDocument/2006/relationships/slide" Target="/ppt/slides/slide21.xml" Id="R532af24c8f3944ef" /><Relationship Type="http://schemas.openxmlformats.org/officeDocument/2006/relationships/slide" Target="/ppt/slides/slide22.xml" Id="R52bf02aa4ceb47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e8f1dd09ad4c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cf1f799b014635" /><Relationship Type="http://schemas.openxmlformats.org/officeDocument/2006/relationships/notesMaster" Target="/ppt/notesMasters/notesMaster1.xml" Id="R7394bdfa994840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14457c67cc4a49" /><Relationship Type="http://schemas.openxmlformats.org/officeDocument/2006/relationships/notesMaster" Target="/ppt/notesMasters/notesMaster1.xml" Id="R6d670914a8d944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8f590dfb014258" /><Relationship Type="http://schemas.openxmlformats.org/officeDocument/2006/relationships/notesMaster" Target="/ppt/notesMasters/notesMaster1.xml" Id="R66a3798a686d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95c51e637446ef" /><Relationship Type="http://schemas.openxmlformats.org/officeDocument/2006/relationships/notesMaster" Target="/ppt/notesMasters/notesMaster1.xml" Id="Rb288bee3e8db47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d52b4b3c364a06" /><Relationship Type="http://schemas.openxmlformats.org/officeDocument/2006/relationships/notesMaster" Target="/ppt/notesMasters/notesMaster1.xml" Id="R551a0ba8f4484d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62229a28d14105" /><Relationship Type="http://schemas.openxmlformats.org/officeDocument/2006/relationships/notesMaster" Target="/ppt/notesMasters/notesMaster1.xml" Id="R0be8b91c8e4d4a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6af46e4acd4460" /><Relationship Type="http://schemas.openxmlformats.org/officeDocument/2006/relationships/notesMaster" Target="/ppt/notesMasters/notesMaster1.xml" Id="R8ca9d999e83e46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e287c22a9a4388" /><Relationship Type="http://schemas.openxmlformats.org/officeDocument/2006/relationships/notesMaster" Target="/ppt/notesMasters/notesMaster1.xml" Id="Ra35a01a42d294b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315e24cd3f461d" /><Relationship Type="http://schemas.openxmlformats.org/officeDocument/2006/relationships/notesMaster" Target="/ppt/notesMasters/notesMaster1.xml" Id="R685a210afb1f43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9508e541844947" /><Relationship Type="http://schemas.openxmlformats.org/officeDocument/2006/relationships/notesMaster" Target="/ppt/notesMasters/notesMaster1.xml" Id="Re4ae013ab5ae45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e2f3c1dd0e495e" /><Relationship Type="http://schemas.openxmlformats.org/officeDocument/2006/relationships/notesMaster" Target="/ppt/notesMasters/notesMaster1.xml" Id="Rdae2fa5f550d4f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650eeda75f4658" /><Relationship Type="http://schemas.openxmlformats.org/officeDocument/2006/relationships/notesMaster" Target="/ppt/notesMasters/notesMaster1.xml" Id="R57b69656cb7646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0816f38b8e4741" /><Relationship Type="http://schemas.openxmlformats.org/officeDocument/2006/relationships/notesMaster" Target="/ppt/notesMasters/notesMaster1.xml" Id="R52a996442d6649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858adde6b24c2b" /><Relationship Type="http://schemas.openxmlformats.org/officeDocument/2006/relationships/notesMaster" Target="/ppt/notesMasters/notesMaster1.xml" Id="R3d0bc23fbe374a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344da4932e46e4" /><Relationship Type="http://schemas.openxmlformats.org/officeDocument/2006/relationships/notesMaster" Target="/ppt/notesMasters/notesMaster1.xml" Id="Rcbc44a14df4b44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1f3e52ecf54f3e" /><Relationship Type="http://schemas.openxmlformats.org/officeDocument/2006/relationships/notesMaster" Target="/ppt/notesMasters/notesMaster1.xml" Id="Redfb88003ad54b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18fe0090df4be0" /><Relationship Type="http://schemas.openxmlformats.org/officeDocument/2006/relationships/notesMaster" Target="/ppt/notesMasters/notesMaster1.xml" Id="Rc2d2216aea0d4e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aadea35a514c64" /><Relationship Type="http://schemas.openxmlformats.org/officeDocument/2006/relationships/notesMaster" Target="/ppt/notesMasters/notesMaster1.xml" Id="Refe11613ebd04d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4bf931dcd8c4ebe" /><Relationship Type="http://schemas.openxmlformats.org/officeDocument/2006/relationships/notesMaster" Target="/ppt/notesMasters/notesMaster1.xml" Id="R74e787e6230d46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ee8269f9054ee5" /><Relationship Type="http://schemas.openxmlformats.org/officeDocument/2006/relationships/notesMaster" Target="/ppt/notesMasters/notesMaster1.xml" Id="R48450eb18a5a44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dc42a9e2ea4fc2" /><Relationship Type="http://schemas.openxmlformats.org/officeDocument/2006/relationships/notesMaster" Target="/ppt/notesMasters/notesMaster1.xml" Id="R3e5d487dc7da4e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7c7095f8194b38" /><Relationship Type="http://schemas.openxmlformats.org/officeDocument/2006/relationships/notesMaster" Target="/ppt/notesMasters/notesMaster1.xml" Id="R75a4ea68398149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목적은 기능 목록을 자랑하는 것이 아니라 초기 가정이 어떤 현실을 만나 바뀌었는지 함께 이해하는 것이다. 6개월 중 저장소 이전 기간은 확인할 기록이 없다. 회고의 범위는 창업노트 저장소와 현재 접근 가능한 로컬 브랜치다.</a:t>
            </a:r>
          </a:p>
          <a:p xmlns:a="http://schemas.openxmlformats.org/drawingml/2006/main">
            <a:r>
              <a:t/>
            </a:r>
          </a:p>
          <a:p xmlns:a="http://schemas.openxmlformats.org/drawingml/2006/main">
            <a:r>
              <a:t>출처</a:t>
            </a:r>
          </a:p>
          <a:p xmlns:a="http://schemas.openxmlformats.org/drawingml/2006/main">
            <a:r>
              <a:t>Local source: source/git-history.json</a:t>
            </a:r>
          </a:p>
          <a:p xmlns:a="http://schemas.openxmlformats.org/drawingml/2006/main">
            <a:r>
              <a:t>Local source: docs/product/창업노트_사용자플로우_로드맵_설계.md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스냅샷 시각 2026-10-01T09:26:19.270693+09:00. 로컬 heads/remotes를 SHA로 중복 제거했다. Git authorDate를 KST 일자로 변환했으며 fetch하지 않았다. 총 90개 일자에 커밋이 있다. 6/19·6/24는 문서 자체 날짜만 있는 기획 기록이다. 병합·문서 커밋도 포함하므로 기능 수, 생산성 또는 성과 지표가 아니다. 4/1~6/18의 다른 업무가 없었다는 뜻이 아니다.</a:t>
            </a:r>
          </a:p>
          <a:p xmlns:a="http://schemas.openxmlformats.org/drawingml/2006/main">
            <a:r>
              <a:t/>
            </a:r>
          </a:p>
          <a:p xmlns:a="http://schemas.openxmlformats.org/drawingml/2006/main">
            <a:r>
              <a:t>출처</a:t>
            </a:r>
          </a:p>
          <a:p xmlns:a="http://schemas.openxmlformats.org/drawingml/2006/main">
            <a:r>
              <a:t>Local source: source/git-history.json</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문서의 의도를 이번 회고에서 요약했다. 처음부터 실제 접수는 기관 포털에서 사용자 책임으로 두었으며 자동 제출을 약속하지 않았다. 수혜이력은 자동 확인이 어려워 자가신고 우선으로 범위를 조정했다. 문서 자체 날짜 6/19와 첫 Git 기록 6/25는 다르다.</a:t>
            </a:r>
          </a:p>
          <a:p xmlns:a="http://schemas.openxmlformats.org/drawingml/2006/main">
            <a:r>
              <a:t/>
            </a:r>
          </a:p>
          <a:p xmlns:a="http://schemas.openxmlformats.org/drawingml/2006/main">
            <a:r>
              <a:t>출처</a:t>
            </a:r>
          </a:p>
          <a:p xmlns:a="http://schemas.openxmlformats.org/drawingml/2006/main">
            <a:r>
              <a:t>Local source: docs/product/창업노트_사용자플로우_로드맵_설계.md</a:t>
            </a:r>
          </a:p>
          <a:p xmlns:a="http://schemas.openxmlformats.org/drawingml/2006/main">
            <a:r>
              <a:t>https://github.com/coolwithyou/noten.changupnote/commit/9909c8420c28b9d46189394a26799d24657124aa</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시기는 여러 작업이 겹친다. 앞 단계가 끝난 뒤 다음 단계가 시작됐다는 엄격한 단계 모델이 아니다. 주별 평은 회고자의 해석이다.</a:t>
            </a:r>
          </a:p>
          <a:p xmlns:a="http://schemas.openxmlformats.org/drawingml/2006/main">
            <a:r>
              <a:t/>
            </a:r>
          </a:p>
          <a:p xmlns:a="http://schemas.openxmlformats.org/drawingml/2006/main">
            <a:r>
              <a:t>출처</a:t>
            </a:r>
          </a:p>
          <a:p xmlns:a="http://schemas.openxmlformats.org/drawingml/2006/main">
            <a:r>
              <a:t>Local source: source/editorial.json</a:t>
            </a:r>
          </a:p>
          <a:p xmlns:a="http://schemas.openxmlformats.org/drawingml/2006/main">
            <a:r>
              <a:t>Local source: docs/STATUS.md</a:t>
            </a:r>
          </a:p>
          <a:p xmlns:a="http://schemas.openxmlformats.org/drawingml/2006/main">
            <a:r>
              <a:t>https://github.com/coolwithyou/noten.changupnote/blob/ce67775/docs/STATUS.md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 마스터 아키텍처는 발견에서 작성 가이드로 확장했다. Gate 0 60/60 렌더링 통과는 문서 변환 표본에 대한 역사 결과이며 모든 기관 양식의 작성·출력 성공을 뜻하지 않는다.</a:t>
            </a:r>
          </a:p>
          <a:p xmlns:a="http://schemas.openxmlformats.org/drawingml/2006/main">
            <a:r>
              <a:t/>
            </a:r>
          </a:p>
          <a:p xmlns:a="http://schemas.openxmlformats.org/drawingml/2006/main">
            <a:r>
              <a:t>출처</a:t>
            </a:r>
          </a:p>
          <a:p xmlns:a="http://schemas.openxmlformats.org/drawingml/2006/main">
            <a:r>
              <a:t>Local source: docs/public-support-application-guide-master-architecture.md</a:t>
            </a:r>
          </a:p>
          <a:p xmlns:a="http://schemas.openxmlformats.org/drawingml/2006/main">
            <a:r>
              <a:t>https://github.com/coolwithyou/noten.changupnote/commit/692683ee42481ec353d124d0135b0b4ea1f47c95</a:t>
            </a:r>
          </a:p>
          <a:p xmlns:a="http://schemas.openxmlformats.org/drawingml/2006/main">
            <a:r>
              <a:t>https://github.com/coolwithyou/noten.changupnote/commit/2bf43ecd694fb69eeeae43bd9f98169ee182be9f</a:t>
            </a:r>
          </a:p>
          <a:p xmlns:a="http://schemas.openxmlformats.org/drawingml/2006/main">
            <a:r>
              <a:t>https://github.com/coolwithyou/noten.changupnote/commit/2e6972505329c9f886136780f82a1ebfd28192b2</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실험실·검수·불변 receipt·exact release 경로를 만든 기록. 단순 모델 응답에서 서비스 판정으로 넘어갈 때 어떤 입력과 판단을 소비했는지 추적한다. 이 구조가 전체 분석 정확도를 보장하는 것은 아니다.</a:t>
            </a:r>
          </a:p>
          <a:p xmlns:a="http://schemas.openxmlformats.org/drawingml/2006/main">
            <a:r>
              <a:t/>
            </a:r>
          </a:p>
          <a:p xmlns:a="http://schemas.openxmlformats.org/drawingml/2006/main">
            <a:r>
              <a:t>출처</a:t>
            </a:r>
          </a:p>
          <a:p xmlns:a="http://schemas.openxmlformats.org/drawingml/2006/main">
            <a:r>
              <a:t>https://github.com/coolwithyou/noten.changupnote/commit/7b26092b0072b6b8154ddf29951c903a7653ec28</a:t>
            </a:r>
          </a:p>
          <a:p xmlns:a="http://schemas.openxmlformats.org/drawingml/2006/main">
            <a:r>
              <a:t>https://github.com/coolwithyou/noten.changupnote/commit/55a22cdc30e1bba1bbe3dc129aedb2ef20139d8d</a:t>
            </a:r>
          </a:p>
          <a:p xmlns:a="http://schemas.openxmlformats.org/drawingml/2006/main">
            <a:r>
              <a:t>https://github.com/coolwithyou/noten.changupnote/commit/d073a547c6fa09a8166e23387e54fc06ab18b731</a:t>
            </a:r>
          </a:p>
          <a:p xmlns:a="http://schemas.openxmlformats.org/drawingml/2006/main">
            <a:r>
              <a:t>https://github.com/coolwithyou/noten.changupnote/commit/4124101b3aec1253bf836d200ea83e79d0ae6c7d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8/10~8/16 실패 진단을 바탕으로 작성. 고단가 API credential 상속 문제를 수정했고 과거 CLI 표기만으로 Max 구독 과금을 증명하지 않는다. 로컬 구독과 운영 API의 경계를 유지한다. 제한된 파일럿 결과를 전량 처리 품질로 일반화하지 않았다.</a:t>
            </a:r>
          </a:p>
          <a:p xmlns:a="http://schemas.openxmlformats.org/drawingml/2006/main">
            <a:r>
              <a:t/>
            </a:r>
          </a:p>
          <a:p xmlns:a="http://schemas.openxmlformats.org/drawingml/2006/main">
            <a:r>
              <a:t>출처</a:t>
            </a:r>
          </a:p>
          <a:p xmlns:a="http://schemas.openxmlformats.org/drawingml/2006/main">
            <a:r>
              <a:t>Local source: docs/research/2026-08-14-구독-딥분석-반복실패-구조진단-및-개선-설계.md</a:t>
            </a:r>
          </a:p>
          <a:p xmlns:a="http://schemas.openxmlformats.org/drawingml/2006/main">
            <a:r>
              <a:t>https://github.com/coolwithyou/noten.changupnote/commit/df817483ebce225fb239aebf269745e859eb10af</a:t>
            </a:r>
          </a:p>
          <a:p xmlns:a="http://schemas.openxmlformats.org/drawingml/2006/main">
            <a:r>
              <a:t>https://github.com/coolwithyou/noten.changupnote/commit/199795f95352d545b110d4f5da56e200b3899ec0</a:t>
            </a:r>
          </a:p>
          <a:p xmlns:a="http://schemas.openxmlformats.org/drawingml/2006/main">
            <a:r>
              <a:t>https://github.com/coolwithyou/noten.changupnote/commit/37b7afcae6dbdedaa977983db851805b24e83ced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docs/plans/2026-08-17-closed-beta-exact-release-cohort.md는 applied 9/9와 snapshot·matcher PASS 9/9를 기록한다. 9월 초 종합 리뷰의 운영 승격 0회 주장은 docs/STATUS.md가 이 기록으로 정정한다. 수치는 당일 exact cohort의 역사 결과이며 현재 서비스 전수 수치나 고객 성과가 아니다.</a:t>
            </a:r>
          </a:p>
          <a:p xmlns:a="http://schemas.openxmlformats.org/drawingml/2006/main">
            <a:r>
              <a:t/>
            </a:r>
          </a:p>
          <a:p xmlns:a="http://schemas.openxmlformats.org/drawingml/2006/main">
            <a:r>
              <a:t>출처</a:t>
            </a:r>
          </a:p>
          <a:p xmlns:a="http://schemas.openxmlformats.org/drawingml/2006/main">
            <a:r>
              <a:t>https://github.com/coolwithyou/noten.changupnote/commit/62176fd1857e8277556dfb759878aa9ea39d8e9d</a:t>
            </a:r>
          </a:p>
          <a:p xmlns:a="http://schemas.openxmlformats.org/drawingml/2006/main">
            <a:r>
              <a:t>Local source: docs/plans/2026-08-17-closed-beta-exact-release-cohort.md</a:t>
            </a:r>
          </a:p>
          <a:p xmlns:a="http://schemas.openxmlformats.org/drawingml/2006/main">
            <a:r>
              <a:t>Local source: docs/STATUS.md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9/7~9/9 구현·격리 PG·인수 기록의 요약. 격리 합성 계정과 합성 serving registry의 왕복 결과를 전체 운영 사용자 인수로 확대하지 않는다.</a:t>
            </a:r>
          </a:p>
          <a:p xmlns:a="http://schemas.openxmlformats.org/drawingml/2006/main">
            <a:r>
              <a:t/>
            </a:r>
          </a:p>
          <a:p xmlns:a="http://schemas.openxmlformats.org/drawingml/2006/main">
            <a:r>
              <a:t>출처</a:t>
            </a:r>
          </a:p>
          <a:p xmlns:a="http://schemas.openxmlformats.org/drawingml/2006/main">
            <a:r>
              <a:t>https://github.com/coolwithyou/noten.changupnote/commit/64481b13525ed083e7d4c4d22b1d2bd3beac492e</a:t>
            </a:r>
          </a:p>
          <a:p xmlns:a="http://schemas.openxmlformats.org/drawingml/2006/main">
            <a:r>
              <a:t>https://github.com/coolwithyou/noten.changupnote/commit/4475188e38fd73c1590b9839a76ba94496ec7110</a:t>
            </a:r>
          </a:p>
          <a:p xmlns:a="http://schemas.openxmlformats.org/drawingml/2006/main">
            <a:r>
              <a:t>https://github.com/coolwithyou/noten.changupnote/commit/b6e1c5f90a088dcd2f5bf8cf87f92e26f1e668b1</a:t>
            </a:r>
          </a:p>
          <a:p xmlns:a="http://schemas.openxmlformats.org/drawingml/2006/main">
            <a:r>
              <a:t>Local source: docs/STATUS.md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9/17 매칭/지원서 트랙 분리, 9/19 원문 확인 후보 노출과 9/30 authoring-first 구현 기록. 미확인 후보를 지원 가능으로 확정하지 않으며, field 준비 부족이 직접 편집·문안 보관을 무조건 막지 않도록 한다.</a:t>
            </a:r>
          </a:p>
          <a:p xmlns:a="http://schemas.openxmlformats.org/drawingml/2006/main">
            <a:r>
              <a:t/>
            </a:r>
          </a:p>
          <a:p xmlns:a="http://schemas.openxmlformats.org/drawingml/2006/main">
            <a:r>
              <a:t>출처</a:t>
            </a:r>
          </a:p>
          <a:p xmlns:a="http://schemas.openxmlformats.org/drawingml/2006/main">
            <a:r>
              <a:t>https://github.com/coolwithyou/noten.changupnote/commit/fd6526fb4c1bd5c0345007ab5f8a05066e13df7a</a:t>
            </a:r>
          </a:p>
          <a:p xmlns:a="http://schemas.openxmlformats.org/drawingml/2006/main">
            <a:r>
              <a:t>https://github.com/coolwithyou/noten.changupnote/commit/f8ef4ca71eadc519fba64344f1b6eac54c18aaf9</a:t>
            </a:r>
          </a:p>
          <a:p xmlns:a="http://schemas.openxmlformats.org/drawingml/2006/main">
            <a:r>
              <a:t>https://github.com/coolwithyou/noten.changupnote/commit/b04213535942ec26de46bf76e1646deaaf0a5004</a:t>
            </a:r>
          </a:p>
          <a:p xmlns:a="http://schemas.openxmlformats.org/drawingml/2006/main">
            <a:r>
              <a:t>https://github.com/coolwithyou/noten.changupnote/blob/ce67775/docs/STATUS.md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b042135, 3b79d5b, 926777a, d7098d9의 실제 파일 변경과 ce67775 문서로 확인했다. 0f8c434 배포 기록에는 공개 화면 대조가 있다. 문항 생성 플래그와 PDF 보관키는 운영 미설정 기록이므로 신규 기능 전체를 운영 완료라고 말하지 않는다. 실자료·R2·모델 의미 품질·로그인 화면·외부 한글 인수는 남았다.</a:t>
            </a:r>
          </a:p>
          <a:p xmlns:a="http://schemas.openxmlformats.org/drawingml/2006/main">
            <a:r>
              <a:t/>
            </a:r>
          </a:p>
          <a:p xmlns:a="http://schemas.openxmlformats.org/drawingml/2006/main">
            <a:r>
              <a:t>출처</a:t>
            </a:r>
          </a:p>
          <a:p xmlns:a="http://schemas.openxmlformats.org/drawingml/2006/main">
            <a:r>
              <a:t>https://github.com/coolwithyou/noten.changupnote/commit/b04213535942ec26de46bf76e1646deaaf0a5004</a:t>
            </a:r>
          </a:p>
          <a:p xmlns:a="http://schemas.openxmlformats.org/drawingml/2006/main">
            <a:r>
              <a:t>https://github.com/coolwithyou/noten.changupnote/commit/3b79d5b30088af091fb6c4c4828c5562ff24e217</a:t>
            </a:r>
          </a:p>
          <a:p xmlns:a="http://schemas.openxmlformats.org/drawingml/2006/main">
            <a:r>
              <a:t>https://github.com/coolwithyou/noten.changupnote/commit/926777a7ed1a4dcb8da7c2e6c680095710d16e1c</a:t>
            </a:r>
          </a:p>
          <a:p xmlns:a="http://schemas.openxmlformats.org/drawingml/2006/main">
            <a:r>
              <a:t>https://github.com/coolwithyou/noten.changupnote/commit/d7098d9b4196919f542dd46efe11f1c231873be7</a:t>
            </a:r>
          </a:p>
          <a:p xmlns:a="http://schemas.openxmlformats.org/drawingml/2006/main">
            <a:r>
              <a:t>https://github.com/coolwithyou/noten.changupnote/commit/0f8c434d2d39f7f5a9f148f2fe685825175954e0</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실적은 구현과 문서에 기록된 검증 단위다. 사업 성과·전수 정확도·반복 사용을 달성했다는 주장은 아니다.</a:t>
            </a:r>
          </a:p>
          <a:p xmlns:a="http://schemas.openxmlformats.org/drawingml/2006/main">
            <a:r>
              <a:t/>
            </a:r>
          </a:p>
          <a:p xmlns:a="http://schemas.openxmlformats.org/drawingml/2006/main">
            <a:r>
              <a:t>출처</a:t>
            </a:r>
          </a:p>
          <a:p xmlns:a="http://schemas.openxmlformats.org/drawingml/2006/main">
            <a:r>
              <a:t>Local source: source/editorial.json</a:t>
            </a:r>
          </a:p>
          <a:p xmlns:a="http://schemas.openxmlformats.org/drawingml/2006/main">
            <a:r>
              <a:t>Local source: docs/STATUS.md</a:t>
            </a:r>
          </a:p>
          <a:p xmlns:a="http://schemas.openxmlformats.org/drawingml/2006/main">
            <a:r>
              <a:t>https://github.com/coolwithyou/noten.changupnote/blob/ce67775/PROGRESS-authoring-first.md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미달성 목표는 근거가 없다는 뜻과 반증된 가정을 구분한다. 번호만으로 모든 자격 확정은 제품 방향에서 시작점으로 재정의했다. 시간 절감·수요는 아직 실사용 검증이 필요하다. 자동 제출은 초기부터 사용자 책임이었으므로 실패한 개발 목표 목록에 넣지 않는다.</a:t>
            </a:r>
          </a:p>
          <a:p xmlns:a="http://schemas.openxmlformats.org/drawingml/2006/main">
            <a:r>
              <a:t/>
            </a:r>
          </a:p>
          <a:p xmlns:a="http://schemas.openxmlformats.org/drawingml/2006/main">
            <a:r>
              <a:t>출처</a:t>
            </a:r>
          </a:p>
          <a:p xmlns:a="http://schemas.openxmlformats.org/drawingml/2006/main">
            <a:r>
              <a:t>Local source: docs/STATUS.md</a:t>
            </a:r>
          </a:p>
          <a:p xmlns:a="http://schemas.openxmlformats.org/drawingml/2006/main">
            <a:r>
              <a:t>Local source: docs/research/2026-09-28-공고검토-워크벤치-제품정의-제안.md</a:t>
            </a:r>
          </a:p>
          <a:p xmlns:a="http://schemas.openxmlformats.org/drawingml/2006/main">
            <a:r>
              <a:t>https://github.com/coolwithyou/noten.changupnote/blob/ce67775/PROGRESS-authoring-first.md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이는 회고자의 권장안이다. 새 릴리스나 전체 제품 승인으로 취급하지 않는다. 이미 작성 중심 계획·브랜치가 존재하지만 실사용 수요로 범위를 검증해야 한다.</a:t>
            </a:r>
          </a:p>
          <a:p xmlns:a="http://schemas.openxmlformats.org/drawingml/2006/main">
            <a:r>
              <a:t/>
            </a:r>
          </a:p>
          <a:p xmlns:a="http://schemas.openxmlformats.org/drawingml/2006/main">
            <a:r>
              <a:t>출처</a:t>
            </a:r>
          </a:p>
          <a:p xmlns:a="http://schemas.openxmlformats.org/drawingml/2006/main">
            <a:r>
              <a:t>https://github.com/coolwithyou/noten.changupnote/blob/ce67775/docs/STATUS.md</a:t>
            </a:r>
          </a:p>
          <a:p xmlns:a="http://schemas.openxmlformats.org/drawingml/2006/main">
            <a:r>
              <a:t>Local source: docs/plans/2026-09-30-authoring-first-implementation.md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5명·양식 3종은 기존 authoring-first acceptance의 미래 검증 요구이며 달성 수치가 아니다. 첫 사례는 회사 자료 텍스트 하나와 핵심 문항 3개로 작게 시작한다. 실제 R2·인증·자료 동의·모델 실행 범위가 갖춰진 인수에서 진행한다.</a:t>
            </a:r>
          </a:p>
          <a:p xmlns:a="http://schemas.openxmlformats.org/drawingml/2006/main">
            <a:r>
              <a:t/>
            </a:r>
          </a:p>
          <a:p xmlns:a="http://schemas.openxmlformats.org/drawingml/2006/main">
            <a:r>
              <a:t>출처</a:t>
            </a:r>
          </a:p>
          <a:p xmlns:a="http://schemas.openxmlformats.org/drawingml/2006/main">
            <a:r>
              <a:t>https://github.com/coolwithyou/noten.changupnote/blob/ce67775/docs/plans/2026-09-30-authoring-first-acceptance.md</a:t>
            </a:r>
          </a:p>
          <a:p xmlns:a="http://schemas.openxmlformats.org/drawingml/2006/main">
            <a:r>
              <a:t>https://github.com/coolwithyou/noten.changupnote/blob/ce67775/PROGRESS-authoring-first.md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회의에서 검토할 의제다. 아직 실험으로 판단하지 못한 시장·가격 결정에 임의의 확정 답을 넣지 않았다. 범위 확대보다 현재 구현의 고객 왕복을 검증하는 권장안을 제시한다.</a:t>
            </a:r>
          </a:p>
          <a:p xmlns:a="http://schemas.openxmlformats.org/drawingml/2006/main">
            <a:r>
              <a:t/>
            </a:r>
          </a:p>
          <a:p xmlns:a="http://schemas.openxmlformats.org/drawingml/2006/main">
            <a:r>
              <a:t>출처</a:t>
            </a:r>
          </a:p>
          <a:p xmlns:a="http://schemas.openxmlformats.org/drawingml/2006/main">
            <a:r>
              <a:t>https://github.com/coolwithyou/noten.changupnote/blob/ce67775/PROGRESS-authoring-first.md</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2026-06-22</a:t>
            </a:r>
          </a:p>
          <a:p xmlns:a="http://schemas.openxmlformats.org/drawingml/2006/main">
            <a:r>
              <a:t>고민: 사업자번호라는 단순한 진입 뒤에 어떤 데이터·판정·권한이 있어야 거짓 확신을 주지 않을까.</a:t>
            </a:r>
          </a:p>
          <a:p xmlns:a="http://schemas.openxmlformats.org/drawingml/2006/main">
            <a:r>
              <a:t>만든 것: 초기 설계와 스파이크에서 웹 티저·매칭 콘솔, DB 상태·행동 이벤트, 피드백과 골든셋 평가, 로드맵, 계정·회사 권한으로 빠르게 확장했다. TDS 적용과 로그인·랜딩 시안도 이때 들어왔다.</a:t>
            </a:r>
          </a:p>
          <a:p xmlns:a="http://schemas.openxmlformats.org/drawingml/2006/main">
            <a:r>
              <a:t>짧은 평: 첫 주의 강점은 “찾아준다”는 카피를 규칙·출처·unknown 처리로 뒷받침한 점이다. 다만 화면과 시스템을 한 번에 넓힌 속도만큼, 한 사용자가 끝까지 가는 검증은 별도의 숙제로 남았다.</a:t>
            </a:r>
          </a:p>
          <a:p xmlns:a="http://schemas.openxmlformats.org/drawingml/2006/main">
            <a:r>
              <a:t/>
            </a:r>
          </a:p>
          <a:p xmlns:a="http://schemas.openxmlformats.org/drawingml/2006/main">
            <a:r>
              <a:t>2026-06-29</a:t>
            </a:r>
          </a:p>
          <a:p xmlns:a="http://schemas.openxmlformats.org/drawingml/2006/main">
            <a:r>
              <a:t>고민: 좋은 공고를 찾은 다음에도 공고문 해석과 양식 작성이 막히면 사용자의 일은 끝나지 않는다.</a:t>
            </a:r>
          </a:p>
          <a:p xmlns:a="http://schemas.openxmlformats.org/drawingml/2006/main">
            <a:r>
              <a:t>만든 것: 지원사업 아카이브·혜택 정보와 함께 문서 변환, 필드 추출, 미리보기·좌표·검수 파이프라인, 운영 지식 인제스천을 구축했다. 7월 2일 마스터 설계는 발견 서비스에서 공공 지원사업 작성 가이드로 범위를 명시적으로 바꿨다.</a:t>
            </a:r>
          </a:p>
          <a:p xmlns:a="http://schemas.openxmlformats.org/drawingml/2006/main">
            <a:r>
              <a:t>짧은 평: 검색 결과를 넘어 실제 서류 작업에 가까워진 중요한 확장이다. HWP/PDF/웹폼의 다양성 때문에 기능 추가보다 “어디까지 정확하게 읽고 쓸 수 있나”가 제품의 핵심 관문이 되기 시작했다.</a:t>
            </a:r>
          </a:p>
          <a:p xmlns:a="http://schemas.openxmlformats.org/drawingml/2006/main">
            <a:r>
              <a:t/>
            </a:r>
          </a:p>
          <a:p xmlns:a="http://schemas.openxmlformats.org/drawingml/2006/main">
            <a:r>
              <a:t>2026-07-06</a:t>
            </a:r>
          </a:p>
          <a:p xmlns:a="http://schemas.openxmlformats.org/drawingml/2006/main">
            <a:r>
              <a:t>고민: 반복 입력을 없애고, 화면상의 초안이 실제 기관 양식 파일까지 이어질 수 있을까.</a:t>
            </a:r>
          </a:p>
          <a:p xmlns:a="http://schemas.openxmlformats.org/drawingml/2006/main">
            <a:r>
              <a:t>만든 것: 프로필과 작성의 연결, HWPX 채움·다운로드, HWP 변환 서버·자동 수집, 필드 작성 도우미, 크레딧·결제·구독 기반, 회사정보 소싱과 매칭 차원 확장을 병행했다. 7월 8일에는 HWPX 셀 안착에 대한 사용자 확인이 기록돼 있다.</a:t>
            </a:r>
          </a:p>
          <a:p xmlns:a="http://schemas.openxmlformats.org/drawingml/2006/main">
            <a:r>
              <a:t>짧은 평: 가능성을 가장 넓게 펼친 주였다. 다만 기능 폭과 과금 체계가 추천 신뢰보다 앞서가면서, 이후 “기능이 많아도 정말 쓸 공고가 나오나”라는 질문을 피할 수 없게 됐다.</a:t>
            </a:r>
          </a:p>
          <a:p xmlns:a="http://schemas.openxmlformats.org/drawingml/2006/main">
            <a:r>
              <a:t/>
            </a:r>
          </a:p>
          <a:p xmlns:a="http://schemas.openxmlformats.org/drawingml/2006/main">
            <a:r>
              <a:t>출처</a:t>
            </a:r>
          </a:p>
          <a:p xmlns:a="http://schemas.openxmlformats.org/drawingml/2006/main">
            <a:r>
              <a:t>https://github.com/coolwithyou/noten.changupnote/commit/9909c8420c28b9d46189394a26799d24657124aa</a:t>
            </a:r>
          </a:p>
          <a:p xmlns:a="http://schemas.openxmlformats.org/drawingml/2006/main">
            <a:r>
              <a:t>https://github.com/coolwithyou/noten.changupnote/commit/925c772d7ad96cdf80c2a2e0b751e7896c14eaed</a:t>
            </a:r>
          </a:p>
          <a:p xmlns:a="http://schemas.openxmlformats.org/drawingml/2006/main">
            <a:r>
              <a:t>https://github.com/coolwithyou/noten.changupnote/commit/715aaf89eb1b05ae231af995506ad54728762736</a:t>
            </a:r>
          </a:p>
          <a:p xmlns:a="http://schemas.openxmlformats.org/drawingml/2006/main">
            <a:r>
              <a:t>https://github.com/coolwithyou/noten.changupnote/commit/6c65552fe17430a89f486bcb28b76f936584aaad</a:t>
            </a:r>
          </a:p>
          <a:p xmlns:a="http://schemas.openxmlformats.org/drawingml/2006/main">
            <a:r>
              <a:t>https://github.com/coolwithyou/noten.changupnote/commit/9b015af216f6d3fdebbadbb1f7993cdb5f6f8503</a:t>
            </a:r>
          </a:p>
          <a:p xmlns:a="http://schemas.openxmlformats.org/drawingml/2006/main">
            <a:r>
              <a:t>https://github.com/coolwithyou/noten.changupnote/commit/f07b709a39f2579825d55b1c76d31712782cb233</a:t>
            </a:r>
          </a:p>
          <a:p xmlns:a="http://schemas.openxmlformats.org/drawingml/2006/main">
            <a:r>
              <a:t>https://github.com/coolwithyou/noten.changupnote/commit/c00c14686f2d5d0bb74d0a04fb38f96dd83c4c1c</a:t>
            </a:r>
          </a:p>
          <a:p xmlns:a="http://schemas.openxmlformats.org/drawingml/2006/main">
            <a:r>
              <a:t>https://github.com/coolwithyou/noten.changupnote/commit/692683ee42481ec353d124d0135b0b4ea1f47c95</a:t>
            </a:r>
          </a:p>
          <a:p xmlns:a="http://schemas.openxmlformats.org/drawingml/2006/main">
            <a:r>
              <a:t>https://github.com/coolwithyou/noten.changupnote/commit/28de885e13c94cd5a87d2571d4f4230a815a6a23</a:t>
            </a:r>
          </a:p>
          <a:p xmlns:a="http://schemas.openxmlformats.org/drawingml/2006/main">
            <a:r>
              <a:t>https://github.com/coolwithyou/noten.changupnote/commit/3be928a003e96019fcb596eacb49ee3da8ef9587</a:t>
            </a:r>
          </a:p>
          <a:p xmlns:a="http://schemas.openxmlformats.org/drawingml/2006/main">
            <a:r>
              <a:t>https://github.com/coolwithyou/noten.changupnote/commit/cf9328cd7ec5cb1341c42454048edb0b1d0c413f</a:t>
            </a:r>
          </a:p>
          <a:p xmlns:a="http://schemas.openxmlformats.org/drawingml/2006/main">
            <a:r>
              <a:t>https://github.com/coolwithyou/noten.changupnote/commit/2bf43ecd694fb69eeeae43bd9f98169ee182be9f</a:t>
            </a:r>
          </a:p>
          <a:p xmlns:a="http://schemas.openxmlformats.org/drawingml/2006/main">
            <a:r>
              <a:t>https://github.com/coolwithyou/noten.changupnote/commit/6926b8bd7a93658cd5402eee8b5798953000f6f1</a:t>
            </a:r>
          </a:p>
          <a:p xmlns:a="http://schemas.openxmlformats.org/drawingml/2006/main">
            <a:r>
              <a:t>https://github.com/coolwithyou/noten.changupnote/commit/65615800f2799249c7849276b132f0617fde6530</a:t>
            </a:r>
          </a:p>
          <a:p xmlns:a="http://schemas.openxmlformats.org/drawingml/2006/main">
            <a:r>
              <a:t>https://github.com/coolwithyou/noten.changupnote/commit/463f973096bf58bfda999a969374b81295a0aa33</a:t>
            </a:r>
          </a:p>
          <a:p xmlns:a="http://schemas.openxmlformats.org/drawingml/2006/main">
            <a:r>
              <a:t>https://github.com/coolwithyou/noten.changupnote/commit/483a9eca0c12c07a0a86207a470be3ba9aa21ddd</a:t>
            </a:r>
          </a:p>
          <a:p xmlns:a="http://schemas.openxmlformats.org/drawingml/2006/main">
            <a:r>
              <a:t>https://github.com/coolwithyou/noten.changupnote/commit/e9f2235c4e9b87e79e1a6618a49ac821fe6c637c</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2026-07-13</a:t>
            </a:r>
          </a:p>
          <a:p xmlns:a="http://schemas.openxmlformats.org/drawingml/2006/main">
            <a:r>
              <a:t>고민: 22축 엔진과 많은 커넥터가 있어도 사용자가 체감하는 추천이 거의 없다면 어디에 투자해야 할까.</a:t>
            </a:r>
          </a:p>
          <a:p xmlns:a="http://schemas.openxmlformats.org/drawingml/2006/main">
            <a:r>
              <a:t>만든 것: 매칭 현황·화면 복잡도 평가, service-data 일관성·조회 성능 개선, 공개 캘린더·ICS, 40건 공고 분석 평가와 딥분석 실험실을 추가했다. 내부 상태를 화면에 다 보여주는 대신 “받을 수 있나 / 지금 뭘 하나 / 언제까지인가”로 정리하는 원칙이 등장했다.</a:t>
            </a:r>
          </a:p>
          <a:p xmlns:a="http://schemas.openxmlformats.org/drawingml/2006/main">
            <a:r>
              <a:t>짧은 평: 측정 결과가 범위 확장에 제동을 건 첫 큰 전환이다. 당시 추천 가능 0.61%라는 역사 실측은 엔진의 존재와 사용자 가치의 차이를 드러냈고, 이후 첨부 원문 분석과 검수에 투자하는 근거가 됐다.</a:t>
            </a:r>
          </a:p>
          <a:p xmlns:a="http://schemas.openxmlformats.org/drawingml/2006/main">
            <a:r>
              <a:t/>
            </a:r>
          </a:p>
          <a:p xmlns:a="http://schemas.openxmlformats.org/drawingml/2006/main">
            <a:r>
              <a:t>2026-07-20</a:t>
            </a:r>
          </a:p>
          <a:p xmlns:a="http://schemas.openxmlformats.org/drawingml/2006/main">
            <a:r>
              <a:t>고민: 모델이 읽었다는 사실을 어떻게 검증된 조건과 실제 매칭으로 이어갈까.</a:t>
            </a:r>
          </a:p>
          <a:p xmlns:a="http://schemas.openxmlformats.org/drawingml/2006/main">
            <a:r>
              <a:t>만든 것: 5건 파일럿 검수, 층화 cohort·AI 검수·감사·집계·shadow 매칭, 확인 질문, 기본 dry-run 승격 경로와 운영 worker 준비를 구축했다. RHWP 직접 편집·구조 앵커·revision 저장도 함께 탐색했다.</a:t>
            </a:r>
          </a:p>
          <a:p xmlns:a="http://schemas.openxmlformats.org/drawingml/2006/main">
            <a:r>
              <a:t>짧은 평: AI 출력에서 제품 데이터로 넘어가는 중간 책임을 설계한 주다. 소표본 통과는 가능성의 증거였지만, 확대 실험의 정확도나 전량 공급을 증명하지는 않았고 검수 노동의 병목도 아직 남았다.</a:t>
            </a:r>
          </a:p>
          <a:p xmlns:a="http://schemas.openxmlformats.org/drawingml/2006/main">
            <a:r>
              <a:t/>
            </a:r>
          </a:p>
          <a:p xmlns:a="http://schemas.openxmlformats.org/drawingml/2006/main">
            <a:r>
              <a:t>2026-07-27</a:t>
            </a:r>
          </a:p>
          <a:p xmlns:a="http://schemas.openxmlformats.org/drawingml/2006/main">
            <a:r>
              <a:t>고민: 신청 단계의 조건과 사후 의무를 혼동하지 않고, 오류를 고칠수록 분석 비용이 커지는 문제를 어떻게 다룰까.</a:t>
            </a:r>
          </a:p>
          <a:p xmlns:a="http://schemas.openxmlformats.org/drawingml/2006/main">
            <a:r>
              <a:t>만든 것: 22축 자격 의미에 검수를 좁히고 매처 표현 가능성·승격 준비도를 분리했다. 조건부 결과의 운영 승격 증거, 가상 기업 매칭·작성 기준선, 구독 CLI transport와 A/B 채택 기록을 남겼다.</a:t>
            </a:r>
          </a:p>
          <a:p xmlns:a="http://schemas.openxmlformats.org/drawingml/2006/main">
            <a:r>
              <a:t>짧은 평: “전부 확실해야 서비스에 넣는다”에서 “확인한 조건으로 안전하게 사용할 수 있다”로 의미를 정교하게 만든 주다. API 비용의 부담은 줄일 경로를 찾았지만, 원문 정확도·재시도·검수 자체의 어려움까지 해결한 것은 아니었다.</a:t>
            </a:r>
          </a:p>
          <a:p xmlns:a="http://schemas.openxmlformats.org/drawingml/2006/main">
            <a:r>
              <a:t/>
            </a:r>
          </a:p>
          <a:p xmlns:a="http://schemas.openxmlformats.org/drawingml/2006/main">
            <a:r>
              <a:t>출처</a:t>
            </a:r>
          </a:p>
          <a:p xmlns:a="http://schemas.openxmlformats.org/drawingml/2006/main">
            <a:r>
              <a:t>https://github.com/coolwithyou/noten.changupnote/commit/1e6306f7dcb654b0acf324c118be24aad4acb721</a:t>
            </a:r>
          </a:p>
          <a:p xmlns:a="http://schemas.openxmlformats.org/drawingml/2006/main">
            <a:r>
              <a:t>https://github.com/coolwithyou/noten.changupnote/commit/4c15b49a46c65456e61a8c53ef568178e9878244</a:t>
            </a:r>
          </a:p>
          <a:p xmlns:a="http://schemas.openxmlformats.org/drawingml/2006/main">
            <a:r>
              <a:t>https://github.com/coolwithyou/noten.changupnote/commit/866b7adbb692e2b4e0805a41a7193f2515291267</a:t>
            </a:r>
          </a:p>
          <a:p xmlns:a="http://schemas.openxmlformats.org/drawingml/2006/main">
            <a:r>
              <a:t>https://github.com/coolwithyou/noten.changupnote/commit/255e9960617575afd48410da86c97bef3a311eef</a:t>
            </a:r>
          </a:p>
          <a:p xmlns:a="http://schemas.openxmlformats.org/drawingml/2006/main">
            <a:r>
              <a:t>https://github.com/coolwithyou/noten.changupnote/commit/128bee240a681d22f95459978a223adfe1860f17</a:t>
            </a:r>
          </a:p>
          <a:p xmlns:a="http://schemas.openxmlformats.org/drawingml/2006/main">
            <a:r>
              <a:t>https://github.com/coolwithyou/noten.changupnote/commit/7b26092b0072b6b8154ddf29951c903a7653ec28</a:t>
            </a:r>
          </a:p>
          <a:p xmlns:a="http://schemas.openxmlformats.org/drawingml/2006/main">
            <a:r>
              <a:t>https://github.com/coolwithyou/noten.changupnote/commit/55a22cdc30e1bba1bbe3dc129aedb2ef20139d8d</a:t>
            </a:r>
          </a:p>
          <a:p xmlns:a="http://schemas.openxmlformats.org/drawingml/2006/main">
            <a:r>
              <a:t>https://github.com/coolwithyou/noten.changupnote/commit/eb0b9348b464f544f9e1a03a58743cf6ee95ed6f</a:t>
            </a:r>
          </a:p>
          <a:p xmlns:a="http://schemas.openxmlformats.org/drawingml/2006/main">
            <a:r>
              <a:t>https://github.com/coolwithyou/noten.changupnote/commit/d073a547c6fa09a8166e23387e54fc06ab18b731</a:t>
            </a:r>
          </a:p>
          <a:p xmlns:a="http://schemas.openxmlformats.org/drawingml/2006/main">
            <a:r>
              <a:t>https://github.com/coolwithyou/noten.changupnote/commit/2e6972505329c9f886136780f82a1ebfd28192b2</a:t>
            </a:r>
          </a:p>
          <a:p xmlns:a="http://schemas.openxmlformats.org/drawingml/2006/main">
            <a:r>
              <a:t>https://github.com/coolwithyou/noten.changupnote/commit/1ed02385d83fa3268ce876b992e9238381f2bc94</a:t>
            </a:r>
          </a:p>
          <a:p xmlns:a="http://schemas.openxmlformats.org/drawingml/2006/main">
            <a:r>
              <a:t>https://github.com/coolwithyou/noten.changupnote/commit/6a4af32b059d4c977d861c44d9232260709075a0</a:t>
            </a:r>
          </a:p>
          <a:p xmlns:a="http://schemas.openxmlformats.org/drawingml/2006/main">
            <a:r>
              <a:t>https://github.com/coolwithyou/noten.changupnote/commit/13708e85a64cc5b40127af517c396ad16e2373f4</a:t>
            </a:r>
          </a:p>
          <a:p xmlns:a="http://schemas.openxmlformats.org/drawingml/2006/main">
            <a:r>
              <a:t>https://github.com/coolwithyou/noten.changupnote/commit/415480d742fcf9a4de9551b95671d02f55ae2e86</a:t>
            </a:r>
          </a:p>
          <a:p xmlns:a="http://schemas.openxmlformats.org/drawingml/2006/main">
            <a:r>
              <a:t>https://github.com/coolwithyou/noten.changupnote/commit/5d4b837660a3eb82bb4718201d5d2d0bbab8ae86</a:t>
            </a:r>
          </a:p>
          <a:p xmlns:a="http://schemas.openxmlformats.org/drawingml/2006/main">
            <a:r>
              <a:t>https://github.com/coolwithyou/noten.changupnote/commit/463a7aca9c10aaa90a5e5481700a1295d1c05689</a:t>
            </a:r>
          </a:p>
          <a:p xmlns:a="http://schemas.openxmlformats.org/drawingml/2006/main">
            <a:r>
              <a:t>https://github.com/coolwithyou/noten.changupnote/commit/29b830a1e465ab742660c39e3394a7d41b20164f</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2026-08-03</a:t>
            </a:r>
          </a:p>
          <a:p xmlns:a="http://schemas.openxmlformats.org/drawingml/2006/main">
            <a:r>
              <a:t>고민: 대량 분석을 구독으로 반복하면서 유료 운영 worker와 겹치지 않게 할 수 있을까.</a:t>
            </a:r>
          </a:p>
          <a:p xmlns:a="http://schemas.openxmlformats.org/drawingml/2006/main">
            <a:r>
              <a:t>만든 것: 검수·확인 레인을 구독 경로로 묶고, 운영 observe_only·로컬 lease 상호배제, 승격 조건 보존, Kordoc 신청서 선분석·서빙 증거·교정 루프·준비 gate를 구축했다.</a:t>
            </a:r>
          </a:p>
          <a:p xmlns:a="http://schemas.openxmlformats.org/drawingml/2006/main">
            <a:r>
              <a:t>짧은 평: 실험 비용과 운영 안전을 분리한 것은 중요한 기반이다. 동시에 매칭 조건과 신청서 필드 준비를 한 batch에 묶으면서, 뒤의 작성 실패가 앞의 매칭 공급까지 막는 구조적 부담이 커졌다.</a:t>
            </a:r>
          </a:p>
          <a:p xmlns:a="http://schemas.openxmlformats.org/drawingml/2006/main">
            <a:r>
              <a:t/>
            </a:r>
          </a:p>
          <a:p xmlns:a="http://schemas.openxmlformats.org/drawingml/2006/main">
            <a:r>
              <a:t>2026-08-10</a:t>
            </a:r>
          </a:p>
          <a:p xmlns:a="http://schemas.openxmlformats.org/drawingml/2006/main">
            <a:r>
              <a:t>고민: 빠르게 돌려도 필드가 조용히 빠지거나 불확실성을 오류로 처리하면 무엇이 개선된 것인가.</a:t>
            </a:r>
          </a:p>
          <a:p xmlns:a="http://schemas.openxmlformats.org/drawingml/2006/main">
            <a:r>
              <a:t>만든 것: 처리시간·호출·슬롯 병목 실측, 2단 effort, repair/held 분리, 불변 receipt·정확한 recovery, 조건부 후보 판정, API 자격증명 상속 차단과 Max 인증 증명을 추가했다.</a:t>
            </a:r>
          </a:p>
          <a:p xmlns:a="http://schemas.openxmlformats.org/drawingml/2006/main">
            <a:r>
              <a:t>짧은 평: 작은 파일럿의 repair 0/5가 확대 10건에서 6/10으로 반증되자 성공을 일반화하지 않고 구조를 고친 점이 좋다. 가장 큰 교훈은 속도·프로세스 종결·품질·서비스 공급을 하나의 성공률로 말하면 안 된다는 것이다. 과거 CLI 표기만으로 구독 과금을 증명하지도 않는다.</a:t>
            </a:r>
          </a:p>
          <a:p xmlns:a="http://schemas.openxmlformats.org/drawingml/2006/main">
            <a:r>
              <a:t/>
            </a:r>
          </a:p>
          <a:p xmlns:a="http://schemas.openxmlformats.org/drawingml/2006/main">
            <a:r>
              <a:t>2026-08-17</a:t>
            </a:r>
          </a:p>
          <a:p xmlns:a="http://schemas.openxmlformats.org/drawingml/2006/main">
            <a:r>
              <a:t>고민: 승인·검수한 결과를 실제 서비스에 넣고, 사용자가 양식에서 바로 작업하게 할 수 있을까.</a:t>
            </a:r>
          </a:p>
          <a:p xmlns:a="http://schemas.openxmlformats.org/drawingml/2006/main">
            <a:r>
              <a:t>만든 것: exact release 9건 적용, manifest 전체 batch 승인·launch, target 오류 격리, RHWP 필드·누름틀 AI 입력, 제안 적용·Undo와 작업 공간 개선을 진행했다.</a:t>
            </a:r>
          </a:p>
          <a:p xmlns:a="http://schemas.openxmlformats.org/drawingml/2006/main">
            <a:r>
              <a:t>짧은 평: 준비와 gate를 넘어 작은 실제 공급에 도달한 주다. “운영 승격을 한 적이 없다”는 서술은 8월 17일 적용 기록과 모순되므로 폐기해야 한다. 다만 9건의 공급과 자동 검증은 넓은 고객 인수나 제출 성과를 뜻하지 않는다.</a:t>
            </a:r>
          </a:p>
          <a:p xmlns:a="http://schemas.openxmlformats.org/drawingml/2006/main">
            <a:r>
              <a:t/>
            </a:r>
          </a:p>
          <a:p xmlns:a="http://schemas.openxmlformats.org/drawingml/2006/main">
            <a:r>
              <a:t>출처</a:t>
            </a:r>
          </a:p>
          <a:p xmlns:a="http://schemas.openxmlformats.org/drawingml/2006/main">
            <a:r>
              <a:t>https://github.com/coolwithyou/noten.changupnote/commit/4863d99afe097fcc9b44f7167bcfd45861aeb8c9</a:t>
            </a:r>
          </a:p>
          <a:p xmlns:a="http://schemas.openxmlformats.org/drawingml/2006/main">
            <a:r>
              <a:t>https://github.com/coolwithyou/noten.changupnote/commit/5c571e503fa0a866b0c72438755b6fce6795c5fa</a:t>
            </a:r>
          </a:p>
          <a:p xmlns:a="http://schemas.openxmlformats.org/drawingml/2006/main">
            <a:r>
              <a:t>https://github.com/coolwithyou/noten.changupnote/commit/c79e2c03d527bfc742473111ee0bf433973019db</a:t>
            </a:r>
          </a:p>
          <a:p xmlns:a="http://schemas.openxmlformats.org/drawingml/2006/main">
            <a:r>
              <a:t>https://github.com/coolwithyou/noten.changupnote/commit/db78fb2d436f10650037b8e9c7ae28eaaec17b1b</a:t>
            </a:r>
          </a:p>
          <a:p xmlns:a="http://schemas.openxmlformats.org/drawingml/2006/main">
            <a:r>
              <a:t>https://github.com/coolwithyou/noten.changupnote/commit/099f966e8b443e02861ca3b00553cb0cd904c68d</a:t>
            </a:r>
          </a:p>
          <a:p xmlns:a="http://schemas.openxmlformats.org/drawingml/2006/main">
            <a:r>
              <a:t>https://github.com/coolwithyou/noten.changupnote/commit/4124101b3aec1253bf836d200ea83e79d0ae6c7d</a:t>
            </a:r>
          </a:p>
          <a:p xmlns:a="http://schemas.openxmlformats.org/drawingml/2006/main">
            <a:r>
              <a:t>https://github.com/coolwithyou/noten.changupnote/commit/9c80d18a639f625286cb1993cb817bd13d990272</a:t>
            </a:r>
          </a:p>
          <a:p xmlns:a="http://schemas.openxmlformats.org/drawingml/2006/main">
            <a:r>
              <a:t>https://github.com/coolwithyou/noten.changupnote/commit/af65bf2659495ae46557410d2c3c6d17b8bf4c55</a:t>
            </a:r>
          </a:p>
          <a:p xmlns:a="http://schemas.openxmlformats.org/drawingml/2006/main">
            <a:r>
              <a:t>https://github.com/coolwithyou/noten.changupnote/commit/daa7b5173f22f132e6f4cff232f3ac896d443e88</a:t>
            </a:r>
          </a:p>
          <a:p xmlns:a="http://schemas.openxmlformats.org/drawingml/2006/main">
            <a:r>
              <a:t>https://github.com/coolwithyou/noten.changupnote/commit/37b7afcae6dbdedaa977983db851805b24e83ced</a:t>
            </a:r>
          </a:p>
          <a:p xmlns:a="http://schemas.openxmlformats.org/drawingml/2006/main">
            <a:r>
              <a:t>https://github.com/coolwithyou/noten.changupnote/commit/df817483ebce225fb239aebf269745e859eb10af</a:t>
            </a:r>
          </a:p>
          <a:p xmlns:a="http://schemas.openxmlformats.org/drawingml/2006/main">
            <a:r>
              <a:t>https://github.com/coolwithyou/noten.changupnote/commit/199795f95352d545b110d4f5da56e200b3899ec0</a:t>
            </a:r>
          </a:p>
          <a:p xmlns:a="http://schemas.openxmlformats.org/drawingml/2006/main">
            <a:r>
              <a:t>https://github.com/coolwithyou/noten.changupnote/commit/62176fd1857e8277556dfb759878aa9ea39d8e9d</a:t>
            </a:r>
          </a:p>
          <a:p xmlns:a="http://schemas.openxmlformats.org/drawingml/2006/main">
            <a:r>
              <a:t>https://github.com/coolwithyou/noten.changupnote/commit/ae24289465af37c8ebe3eb80a3908c5538fbb82c</a:t>
            </a:r>
          </a:p>
          <a:p xmlns:a="http://schemas.openxmlformats.org/drawingml/2006/main">
            <a:r>
              <a:t>https://github.com/coolwithyou/noten.changupnote/commit/b9f97df537c1fe0a2fb3b5e2d396bedc645ede9a</a:t>
            </a:r>
          </a:p>
          <a:p xmlns:a="http://schemas.openxmlformats.org/drawingml/2006/main">
            <a:r>
              <a:t>https://github.com/coolwithyou/noten.changupnote/commit/0c8585b1bde3e7b4ac86e0cc976962ece9c8e773</a:t>
            </a:r>
          </a:p>
          <a:p xmlns:a="http://schemas.openxmlformats.org/drawingml/2006/main">
            <a:r>
              <a:t>https://github.com/coolwithyou/noten.changupnote/commit/8fd90d177c0dce7fc9467157638248d2fa7b4eac</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2026-08-24</a:t>
            </a:r>
          </a:p>
          <a:p xmlns:a="http://schemas.openxmlformats.org/drawingml/2006/main">
            <a:r>
              <a:t>고민: 신청서 선분석이 완벽하지 않다는 이유로 문서를 열거나 쓰는 일 자체가 막혀야 할까.</a:t>
            </a:r>
          </a:p>
          <a:p xmlns:a="http://schemas.openxmlformats.org/drawingml/2006/main">
            <a:r>
              <a:t>만든 것: 일정표 자동 구성, Kordoc 중심 작성 경로를 RHWP 작성 가이드로 전환, 기존 분석 재사용·원문 복구·실패 대상만 재시도, 독립 검수와 복합 조건 오류 차단을 추가했다.</a:t>
            </a:r>
          </a:p>
          <a:p xmlns:a="http://schemas.openxmlformats.org/drawingml/2006/main">
            <a:r>
              <a:t>짧은 평: 전처리가 끝나야 쓸 수 있다는 의존성을 걷어내고, 편집은 열되 AI 반영은 안전한 위치에 한정하는 방향으로 발전했다. 다만 검수 실패마다 가드를 늘리는 패턴은 계속되어 공급까지 걸리는 시간이 줄었는지는 별도로 물어야 했다.</a:t>
            </a:r>
          </a:p>
          <a:p xmlns:a="http://schemas.openxmlformats.org/drawingml/2006/main">
            <a:r>
              <a:t/>
            </a:r>
          </a:p>
          <a:p xmlns:a="http://schemas.openxmlformats.org/drawingml/2006/main">
            <a:r>
              <a:t>2026-08-31</a:t>
            </a:r>
          </a:p>
          <a:p xmlns:a="http://schemas.openxmlformats.org/drawingml/2006/main">
            <a:r>
              <a:t>고민: 30→50→100건으로 분석을 늘리는 것이 사용자에게 전달되는 가치와 같은가.</a:t>
            </a:r>
          </a:p>
          <a:p xmlns:a="http://schemas.openxmlformats.org/drawingml/2006/main">
            <a:r>
              <a:t>만든 것: launch→승격 연결, 최신 검수 결속, 미착수 재개·input drift 격리, 종합 리뷰와 사업자 정보 중심 제품 기준을 정리했다.</a:t>
            </a:r>
          </a:p>
          <a:p xmlns:a="http://schemas.openxmlformats.org/drawingml/2006/main">
            <a:r>
              <a:t>짧은 평: 처리량 확대와 함께 기능·검증·실사용 사이의 간격을 드러낸 회고가 시작됐다. 9월 초 리뷰의 과장된 일부 진단은 후속 정정이 필요하지만, “분석 건수보다 사용자가 조건을 확인하고 문서를 얻는 왕복을 보자”는 방향은 지금도 유효하다.</a:t>
            </a:r>
          </a:p>
          <a:p xmlns:a="http://schemas.openxmlformats.org/drawingml/2006/main">
            <a:r>
              <a:t/>
            </a:r>
          </a:p>
          <a:p xmlns:a="http://schemas.openxmlformats.org/drawingml/2006/main">
            <a:r>
              <a:t>2026-09-07</a:t>
            </a:r>
          </a:p>
          <a:p xmlns:a="http://schemas.openxmlformats.org/drawingml/2006/main">
            <a:r>
              <a:t>고민: required/preferred/exclusion 의미가 변환에서 바뀌거나 사용자가 답해도 조건이 해소되지 않으면 정밀 분석은 무슨 소용인가.</a:t>
            </a:r>
          </a:p>
          <a:p xmlns:a="http://schemas.openxmlformats.org/drawingml/2006/main">
            <a:r>
              <a:t>만든 것: 조건 종류 보존, 확인질문 개정·철회와 4역할 격리 인수, 늦은 응답·viewer 쓰기 보호, 매칭/작성 준비도 분리, 조회 중복 제거, 원천 정정과 운영 반영 기록, 회사정보 자동입력·Undo를 보완했다.</a:t>
            </a:r>
          </a:p>
          <a:p xmlns:a="http://schemas.openxmlformats.org/drawingml/2006/main">
            <a:r>
              <a:t>짧은 평: 모델 결과를 잘 만드는 일에서 실제 사용자 해소 경로를 고치는 일로 초점이 이동했다. 9월 7일 역사 관측은 1,434개 정책 대상 중 매칭 조회 90개였고, 100건 실행 성공도 검수·공급 성공과 달랐다. 공급 비율과 사용자 왕복을 함께 봐야 한다는 근거가 더 분명해졌다.</a:t>
            </a:r>
          </a:p>
          <a:p xmlns:a="http://schemas.openxmlformats.org/drawingml/2006/main">
            <a:r>
              <a:t/>
            </a:r>
          </a:p>
          <a:p xmlns:a="http://schemas.openxmlformats.org/drawingml/2006/main">
            <a:r>
              <a:t>출처</a:t>
            </a:r>
          </a:p>
          <a:p xmlns:a="http://schemas.openxmlformats.org/drawingml/2006/main">
            <a:r>
              <a:t>https://github.com/coolwithyou/noten.changupnote/commit/23b27bed01b02031884ab75d0c32e49e6ee05d95</a:t>
            </a:r>
          </a:p>
          <a:p xmlns:a="http://schemas.openxmlformats.org/drawingml/2006/main">
            <a:r>
              <a:t>https://github.com/coolwithyou/noten.changupnote/commit/28119762a2cffa137423ed81e102a3dc9770756d</a:t>
            </a:r>
          </a:p>
          <a:p xmlns:a="http://schemas.openxmlformats.org/drawingml/2006/main">
            <a:r>
              <a:t>https://github.com/coolwithyou/noten.changupnote/commit/1ec6e1459df4796ea81df00af4fcbb0cf0e5bb7b</a:t>
            </a:r>
          </a:p>
          <a:p xmlns:a="http://schemas.openxmlformats.org/drawingml/2006/main">
            <a:r>
              <a:t>https://github.com/coolwithyou/noten.changupnote/commit/49b0fdb61edb0a266ae26c9fbd840048e39aa1a4</a:t>
            </a:r>
          </a:p>
          <a:p xmlns:a="http://schemas.openxmlformats.org/drawingml/2006/main">
            <a:r>
              <a:t>https://github.com/coolwithyou/noten.changupnote/commit/12d0730387c20b01f6a19c1d1b6322466e16f1ee</a:t>
            </a:r>
          </a:p>
          <a:p xmlns:a="http://schemas.openxmlformats.org/drawingml/2006/main">
            <a:r>
              <a:t>https://github.com/coolwithyou/noten.changupnote/commit/0002fd687201da4784abce6fffafe5d444f894c8</a:t>
            </a:r>
          </a:p>
          <a:p xmlns:a="http://schemas.openxmlformats.org/drawingml/2006/main">
            <a:r>
              <a:t>https://github.com/coolwithyou/noten.changupnote/commit/4787a6b600ae3051647c1d489ccd3a16c985e104</a:t>
            </a:r>
          </a:p>
          <a:p xmlns:a="http://schemas.openxmlformats.org/drawingml/2006/main">
            <a:r>
              <a:t>https://github.com/coolwithyou/noten.changupnote/commit/5d24052eded9362c454e1a45610956f845ff7cc8</a:t>
            </a:r>
          </a:p>
          <a:p xmlns:a="http://schemas.openxmlformats.org/drawingml/2006/main">
            <a:r>
              <a:t>https://github.com/coolwithyou/noten.changupnote/commit/59c1eda5f144f043a01842daf020bc8c7b963a8d</a:t>
            </a:r>
          </a:p>
          <a:p xmlns:a="http://schemas.openxmlformats.org/drawingml/2006/main">
            <a:r>
              <a:t>https://github.com/coolwithyou/noten.changupnote/commit/6430c25c24c111283eb85e9720c1dda6a19ffa2b</a:t>
            </a:r>
          </a:p>
          <a:p xmlns:a="http://schemas.openxmlformats.org/drawingml/2006/main">
            <a:r>
              <a:t>https://github.com/coolwithyou/noten.changupnote/commit/6dea17c067cee33c61c98aa78b2c9bda9f5b0ca2</a:t>
            </a:r>
          </a:p>
          <a:p xmlns:a="http://schemas.openxmlformats.org/drawingml/2006/main">
            <a:r>
              <a:t>https://github.com/coolwithyou/noten.changupnote/commit/d935dcc95ab3a8800ad65175c9561716eedbe875</a:t>
            </a:r>
          </a:p>
          <a:p xmlns:a="http://schemas.openxmlformats.org/drawingml/2006/main">
            <a:r>
              <a:t>https://github.com/coolwithyou/noten.changupnote/commit/6c6914299ada6f676d0814290b308d0871fdbc28</a:t>
            </a:r>
          </a:p>
          <a:p xmlns:a="http://schemas.openxmlformats.org/drawingml/2006/main">
            <a:r>
              <a:t>https://github.com/coolwithyou/noten.changupnote/commit/0c5c2adda1316784f304a9afcebc006bfd4c2310</a:t>
            </a:r>
          </a:p>
          <a:p xmlns:a="http://schemas.openxmlformats.org/drawingml/2006/main">
            <a:r>
              <a:t>https://github.com/coolwithyou/noten.changupnote/commit/2f49a0ff55354b71fc30e1248c0cfddb5acf87c0</a:t>
            </a:r>
          </a:p>
          <a:p xmlns:a="http://schemas.openxmlformats.org/drawingml/2006/main">
            <a:r>
              <a:t>https://github.com/coolwithyou/noten.changupnote/commit/43a752ae5105902661cdf0f30c6b4d01cea102fe</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2026-09-14</a:t>
            </a:r>
          </a:p>
          <a:p xmlns:a="http://schemas.openxmlformats.org/drawingml/2006/main">
            <a:r>
              <a:t>고민: 필드 분석이나 검수 한 곳이 실패했다고 공고 탐색과 다른 성공 결과까지 막아야 할까.</a:t>
            </a:r>
          </a:p>
          <a:p xmlns:a="http://schemas.openxmlformats.org/drawingml/2006/main">
            <a:r>
              <a:t>만든 것: 원문·필드 인용 오류와 포털 해석 개선, 성공 결과 보존·부분 재실행, 매칭과 신청서 트랙 분리, 전체 매칭 campaign, 미검증 공고의 원문 확인 후보 노출·preview 인수 기록을 추가했다.</a:t>
            </a:r>
          </a:p>
          <a:p xmlns:a="http://schemas.openxmlformats.org/drawingml/2006/main">
            <a:r>
              <a:t>짧은 평: “모든 분석이 완벽해야 보인다”는 구조가 서비스 공급을 막는다는 사실을 제품 정책으로 다루기 시작했다. 후보 노출과 자격 확정을 구분한 덕분에 더 많은 공고를 보여줄 수 있지만, 남은 확인을 누가 어떻게 끝내는지는 여전히 핵심 과제였다.</a:t>
            </a:r>
          </a:p>
          <a:p xmlns:a="http://schemas.openxmlformats.org/drawingml/2006/main">
            <a:r>
              <a:t/>
            </a:r>
          </a:p>
          <a:p xmlns:a="http://schemas.openxmlformats.org/drawingml/2006/main">
            <a:r>
              <a:t>2026-09-21</a:t>
            </a:r>
          </a:p>
          <a:p xmlns:a="http://schemas.openxmlformats.org/drawingml/2006/main">
            <a:r>
              <a:t>고민: 검수한 조건을 잃지 않고 넘기고, 마지막 질문에 답했을 때 화면의 결론과 행동이 함께 바뀌는가. 또 이 여정을 가능한 공고를 꾸준히 공급할 수 있는가.</a:t>
            </a:r>
          </a:p>
          <a:p xmlns:a="http://schemas.openxmlformats.org/drawingml/2006/main">
            <a:r>
              <a:t>만든 것: 텍스트 조건의 무손실 투영 승계, release 결속, 카드 내 확인을 구현하고 회사 사실 답변의 관련 공고 재사용, 질문 이관 검수·발행, 공급 경로 통합과 운영 검증·팝빌 유료 재조회 보호를 진행했다. 60건 매칭 실행·독립 검수 기록, 아스카웍스 507건 분류와 가상 답변 검증 기록도 다른 refs에 존재한다.</a:t>
            </a:r>
          </a:p>
          <a:p xmlns:a="http://schemas.openxmlformats.org/drawingml/2006/main">
            <a:r>
              <a:t>짧은 평: 초기 progressive 입력의 “질문 하나→다음 행동”이 화면과 공급 양쪽으로 구체화된 주다. 한편 질문이 준비되지 않은 공고·원문 결손·검수 실패가 실제 공급 병목으로 드러나, 엔진 개선만으로 전체 후보가 채워지지 않는다는 점도 확인했다. 일부 운영 반영과 fixture 인수를 전체 고객 여정의 인수로 확대해서 말하지 않는다.</a:t>
            </a:r>
          </a:p>
          <a:p xmlns:a="http://schemas.openxmlformats.org/drawingml/2006/main">
            <a:r>
              <a:t/>
            </a:r>
          </a:p>
          <a:p xmlns:a="http://schemas.openxmlformats.org/drawingml/2006/main">
            <a:r>
              <a:t>2026-09-28</a:t>
            </a:r>
          </a:p>
          <a:p xmlns:a="http://schemas.openxmlformats.org/drawingml/2006/main">
            <a:r>
              <a:t>고민: “번호 하나면 지원 가능한 공고가 나온다”는 약속이 비현실적인 사전 분석 정확도를 요구한 것은 아닐까.</a:t>
            </a:r>
          </a:p>
          <a:p xmlns:a="http://schemas.openxmlformats.org/drawingml/2006/main">
            <a:r>
              <a:t>만든 것: 변환 대기열·긴 문서 병목·중복 실행 임대·5분 자동 스윕을 개선했다. 작성 브랜치에는 회사 공통/신청 자료와 brief, 문항별 초안 보관·복사·반영, 암호화 PDF, 유연한 후보 조회·복원, 표 넘침 저장 보호·선택적 쪽 나눔과 Undo, 본문·표 수치 점검을 구현했다. 2라운드 시안을 랜딩·기회 맵·신청 관리·조건 행에 반영하고 운영 배포 기록을 남겼다.</a:t>
            </a:r>
          </a:p>
          <a:p xmlns:a="http://schemas.openxmlformats.org/drawingml/2006/main">
            <a:r>
              <a:t>짧은 평: “한 공고에서 실제 서류를 만든다”는 방향이 이제 계획을 넘어 코드와 운영 화면에 닿았다. 다만 디자인 반영 첫 시도가 카피 변경에 머물러 재작업한 기록은 화면 구조와 실제 데이터를 직접 대조해야 한다는 교훈이다. 3문항·5개 DB 저장본의 native 왕복 증거가 있어도, 로그인 브라우저·외부 한글·실제 모델·5명 파일럿까지 끝난 것은 아니다.</a:t>
            </a:r>
          </a:p>
          <a:p xmlns:a="http://schemas.openxmlformats.org/drawingml/2006/main">
            <a:r>
              <a:t/>
            </a:r>
          </a:p>
          <a:p xmlns:a="http://schemas.openxmlformats.org/drawingml/2006/main">
            <a:r>
              <a:t>출처</a:t>
            </a:r>
          </a:p>
          <a:p xmlns:a="http://schemas.openxmlformats.org/drawingml/2006/main">
            <a:r>
              <a:t>https://github.com/coolwithyou/noten.changupnote/commit/fd6526fb4c1bd5c0345007ab5f8a05066e13df7a</a:t>
            </a:r>
          </a:p>
          <a:p xmlns:a="http://schemas.openxmlformats.org/drawingml/2006/main">
            <a:r>
              <a:t>https://github.com/coolwithyou/noten.changupnote/commit/3809c8c53d24d59c2fc0e77f1da9f997309efbaf</a:t>
            </a:r>
          </a:p>
          <a:p xmlns:a="http://schemas.openxmlformats.org/drawingml/2006/main">
            <a:r>
              <a:t>https://github.com/coolwithyou/noten.changupnote/commit/236ca2e755177e0ef097043995623f164994bba9</a:t>
            </a:r>
          </a:p>
          <a:p xmlns:a="http://schemas.openxmlformats.org/drawingml/2006/main">
            <a:r>
              <a:t>https://github.com/coolwithyou/noten.changupnote/commit/f8ef4ca71eadc519fba64344f1b6eac54c18aaf9</a:t>
            </a:r>
          </a:p>
          <a:p xmlns:a="http://schemas.openxmlformats.org/drawingml/2006/main">
            <a:r>
              <a:t>https://github.com/coolwithyou/noten.changupnote/commit/8668796681416ed92f8938c7e3b490c193bdc4c8</a:t>
            </a:r>
          </a:p>
          <a:p xmlns:a="http://schemas.openxmlformats.org/drawingml/2006/main">
            <a:r>
              <a:t>https://github.com/coolwithyou/noten.changupnote/commit/6e4e95d7cb83cea2dcb6a35c5a6b499f2ba7eaf1</a:t>
            </a:r>
          </a:p>
          <a:p xmlns:a="http://schemas.openxmlformats.org/drawingml/2006/main">
            <a:r>
              <a:t>https://github.com/coolwithyou/noten.changupnote/commit/d134b49206ab5e64494da4e2af5861136f69d532</a:t>
            </a:r>
          </a:p>
          <a:p xmlns:a="http://schemas.openxmlformats.org/drawingml/2006/main">
            <a:r>
              <a:t>https://github.com/coolwithyou/noten.changupnote/commit/8a010e82874b2668a47b04ac91fb4efe74b8aa36</a:t>
            </a:r>
          </a:p>
          <a:p xmlns:a="http://schemas.openxmlformats.org/drawingml/2006/main">
            <a:r>
              <a:t>https://github.com/coolwithyou/noten.changupnote/commit/f143417bec98c0b9dc47ee3b61697574a5249ac8</a:t>
            </a:r>
          </a:p>
          <a:p xmlns:a="http://schemas.openxmlformats.org/drawingml/2006/main">
            <a:r>
              <a:t>https://github.com/coolwithyou/noten.changupnote/commit/200db14a1459e53cd5a665a63fdcec39d628148f</a:t>
            </a:r>
          </a:p>
          <a:p xmlns:a="http://schemas.openxmlformats.org/drawingml/2006/main">
            <a:r>
              <a:t>https://github.com/coolwithyou/noten.changupnote/commit/db05ecfd6c0e36715427c23c3db26adce9665d38</a:t>
            </a:r>
          </a:p>
          <a:p xmlns:a="http://schemas.openxmlformats.org/drawingml/2006/main">
            <a:r>
              <a:t>https://github.com/coolwithyou/noten.changupnote/commit/8a701b6cee8f69af2302a16a60ff942c0309a9c4</a:t>
            </a:r>
          </a:p>
          <a:p xmlns:a="http://schemas.openxmlformats.org/drawingml/2006/main">
            <a:r>
              <a:t>https://github.com/coolwithyou/noten.changupnote/commit/ab4e7254aa5bef09e8c3fb4d0de40394efa696a9</a:t>
            </a:r>
          </a:p>
          <a:p xmlns:a="http://schemas.openxmlformats.org/drawingml/2006/main">
            <a:r>
              <a:t>https://github.com/coolwithyou/noten.changupnote/commit/5f2fbe1bc9f5fa4e47494f57cadfa9df455c1973</a:t>
            </a:r>
          </a:p>
          <a:p xmlns:a="http://schemas.openxmlformats.org/drawingml/2006/main">
            <a:r>
              <a:t>https://github.com/coolwithyou/noten.changupnote/commit/b04213535942ec26de46bf76e1646deaaf0a5004</a:t>
            </a:r>
          </a:p>
          <a:p xmlns:a="http://schemas.openxmlformats.org/drawingml/2006/main">
            <a:r>
              <a:t>https://github.com/coolwithyou/noten.changupnote/commit/3b79d5b30088af091fb6c4c4828c5562ff24e217</a:t>
            </a:r>
          </a:p>
          <a:p xmlns:a="http://schemas.openxmlformats.org/drawingml/2006/main">
            <a:r>
              <a:t>https://github.com/coolwithyou/noten.changupnote/commit/33b9dada1840a0d238af5ed9bb47e280cd330ad0</a:t>
            </a:r>
          </a:p>
          <a:p xmlns:a="http://schemas.openxmlformats.org/drawingml/2006/main">
            <a:r>
              <a:t>https://github.com/coolwithyou/noten.changupnote/commit/926777a7ed1a4dcb8da7c2e6c680095710d16e1c</a:t>
            </a:r>
          </a:p>
          <a:p xmlns:a="http://schemas.openxmlformats.org/drawingml/2006/main">
            <a:r>
              <a:t>https://github.com/coolwithyou/noten.changupnote/commit/d7098d9b4196919f542dd46efe11f1c231873be7</a:t>
            </a:r>
          </a:p>
          <a:p xmlns:a="http://schemas.openxmlformats.org/drawingml/2006/main">
            <a:r>
              <a:t>https://github.com/coolwithyou/noten.changupnote/commit/31943eddf95d7f403bd1cb8e563201819b9af10a</a:t>
            </a:r>
          </a:p>
          <a:p xmlns:a="http://schemas.openxmlformats.org/drawingml/2006/main">
            <a:r>
              <a:t>https://github.com/coolwithyou/noten.changupnote/commit/0f8c434d2d39f7f5a9f148f2fe685825175954e0</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브랜치 refs는 2026-10-01 09:26 KST snapshot. 회고 제작 중 계속 진행된 후속 커밋은 이 자료의 수치에 자동 반영하지 않는다. 기준 main d7958c6, 작성 브랜치 ce67775. source/git-history.json은 원문 로그, editorial.json은 직접 작성한 요약과 리뷰, document-evidence.json은 출처 해시·당시 기록 발췌다. TDS Colors/Typography 공식 문서의 컬러와 위계를 참고했고 폰트는 사용 가능한 Apple SD Gothic Neo를 사용한다.</a:t>
            </a:r>
          </a:p>
          <a:p xmlns:a="http://schemas.openxmlformats.org/drawingml/2006/main">
            <a:r>
              <a:t/>
            </a:r>
          </a:p>
          <a:p xmlns:a="http://schemas.openxmlformats.org/drawingml/2006/main">
            <a:r>
              <a:t>출처</a:t>
            </a:r>
          </a:p>
          <a:p xmlns:a="http://schemas.openxmlformats.org/drawingml/2006/main">
            <a:r>
              <a:t>Local source: source/git-history.json</a:t>
            </a:r>
          </a:p>
          <a:p xmlns:a="http://schemas.openxmlformats.org/drawingml/2006/main">
            <a:r>
              <a:t>Local source: source/editorial.json</a:t>
            </a:r>
          </a:p>
          <a:p xmlns:a="http://schemas.openxmlformats.org/drawingml/2006/main">
            <a:r>
              <a:t>Local source: source/document-evidence.json</a:t>
            </a:r>
          </a:p>
          <a:p xmlns:a="http://schemas.openxmlformats.org/drawingml/2006/main">
            <a:r>
              <a:t>https://tossmini-docs.toss.im/tds-mobile/foundation/colors/</a:t>
            </a:r>
          </a:p>
          <a:p xmlns:a="http://schemas.openxmlformats.org/drawingml/2006/main">
            <a:r>
              <a:t>https://tossmini-docs.toss.im/tds-mobile/foundation/typography/</a:t>
            </a:r>
          </a:p>
          <a:p xmlns:a="http://schemas.openxmlformats.org/drawingml/2006/main">
            <a:r>
              <a:t/>
            </a:r>
          </a:p>
          <a:p xmlns:a="http://schemas.openxmlformats.org/drawingml/2006/main">
            <a:r>
              <a:t>TDS Colors: https://tossmini-docs.toss.im/tds-mobile/foundation/colors/</a:t>
            </a:r>
          </a:p>
          <a:p xmlns:a="http://schemas.openxmlformats.org/drawingml/2006/main">
            <a:r>
              <a:t>TDS Typography: https://tossmini-docs.toss.im/tds-mobile/foundation/typography/</a:t>
            </a:r>
          </a:p>
          <a:p xmlns:a="http://schemas.openxmlformats.org/drawingml/2006/main">
            <a:r>
              <a:t>폰트: Apple SD Gothic Neo (로컬 사용 가능 폰트).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480ad348944a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638bcc73564413" /><Relationship Type="http://schemas.openxmlformats.org/officeDocument/2006/relationships/slideLayout" Target="/ppt/slideLayouts/slideLayout1.xml" Id="Rf8b69e68e4544e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b69e68e4544e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fc79e6c1154915" /><Relationship Type="http://schemas.openxmlformats.org/officeDocument/2006/relationships/notesSlide" Target="/ppt/notesSlides/notesSlide1.xml" Id="R0cc0accf3e0a4c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9ea2f1eea0416e" /><Relationship Type="http://schemas.openxmlformats.org/officeDocument/2006/relationships/notesSlide" Target="/ppt/notesSlides/notesSlide2.xml" Id="R51930340017748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831310d7ee4f79" /><Relationship Type="http://schemas.openxmlformats.org/officeDocument/2006/relationships/notesSlide" Target="/ppt/notesSlides/notesSlide3.xml" Id="Reed6847424c2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3f0da0c42d40ba" /><Relationship Type="http://schemas.openxmlformats.org/officeDocument/2006/relationships/notesSlide" Target="/ppt/notesSlides/notesSlide4.xml" Id="Rda75987dffa14b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7453c3cc9b4170" /><Relationship Type="http://schemas.openxmlformats.org/officeDocument/2006/relationships/notesSlide" Target="/ppt/notesSlides/notesSlide5.xml" Id="Rd310195b54ac4b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ba6694008f49aa" /><Relationship Type="http://schemas.openxmlformats.org/officeDocument/2006/relationships/notesSlide" Target="/ppt/notesSlides/notesSlide6.xml" Id="R1f4fe554da1646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35d8dfaec14fc9" /><Relationship Type="http://schemas.openxmlformats.org/officeDocument/2006/relationships/notesSlide" Target="/ppt/notesSlides/notesSlide7.xml" Id="R2ca507fc8e1544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6a567ab4a44f81" /><Relationship Type="http://schemas.openxmlformats.org/officeDocument/2006/relationships/notesSlide" Target="/ppt/notesSlides/notesSlide8.xml" Id="Rf98c99a9ed1345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dea16896624e39" /><Relationship Type="http://schemas.openxmlformats.org/officeDocument/2006/relationships/notesSlide" Target="/ppt/notesSlides/notesSlide9.xml" Id="Rca66d305b62340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666cc7a4e649dc" /><Relationship Type="http://schemas.openxmlformats.org/officeDocument/2006/relationships/notesSlide" Target="/ppt/notesSlides/notesSlide10.xml" Id="R846028b2091440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5b1efa5ac94de8" /><Relationship Type="http://schemas.openxmlformats.org/officeDocument/2006/relationships/notesSlide" Target="/ppt/notesSlides/notesSlide11.xml" Id="Rf9e201217afa44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4ffadd71a94fdd" /><Relationship Type="http://schemas.openxmlformats.org/officeDocument/2006/relationships/notesSlide" Target="/ppt/notesSlides/notesSlide12.xml" Id="Ra16811544da043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39b27bdf1f409d" /><Relationship Type="http://schemas.openxmlformats.org/officeDocument/2006/relationships/notesSlide" Target="/ppt/notesSlides/notesSlide13.xml" Id="R0f2faabca3d643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0df7722ee04908" /><Relationship Type="http://schemas.openxmlformats.org/officeDocument/2006/relationships/notesSlide" Target="/ppt/notesSlides/notesSlide14.xml" Id="R5abd8e149e0243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ff3dea39524e53" /><Relationship Type="http://schemas.openxmlformats.org/officeDocument/2006/relationships/notesSlide" Target="/ppt/notesSlides/notesSlide15.xml" Id="Rb8bf76e669c54d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5b4ecf29884e04" /><Relationship Type="http://schemas.openxmlformats.org/officeDocument/2006/relationships/notesSlide" Target="/ppt/notesSlides/notesSlide16.xml" Id="R585e392854084f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2405059a55c4057" /><Relationship Type="http://schemas.openxmlformats.org/officeDocument/2006/relationships/notesSlide" Target="/ppt/notesSlides/notesSlide17.xml" Id="Rb3e7358964694c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9a6e979b3834ce3" /><Relationship Type="http://schemas.openxmlformats.org/officeDocument/2006/relationships/notesSlide" Target="/ppt/notesSlides/notesSlide18.xml" Id="Rc672e811028b48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0d2eea0d6b4a8d" /><Relationship Type="http://schemas.openxmlformats.org/officeDocument/2006/relationships/notesSlide" Target="/ppt/notesSlides/notesSlide19.xml" Id="Ra4fb44e77cd34b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713b29e6684fe7" /><Relationship Type="http://schemas.openxmlformats.org/officeDocument/2006/relationships/notesSlide" Target="/ppt/notesSlides/notesSlide20.xml" Id="R792bb62e61a146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b5805f902744b42" /><Relationship Type="http://schemas.openxmlformats.org/officeDocument/2006/relationships/notesSlide" Target="/ppt/notesSlides/notesSlide21.xml" Id="R23bab2bad9e045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6152b953bd449fc" /><Relationship Type="http://schemas.openxmlformats.org/officeDocument/2006/relationships/notesSlide" Target="/ppt/notesSlides/notesSlide22.xml" Id="R132f0138c7a749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4FCE69-298A-4E4C-B74F-5E65539E7496}"/>
              </a:ext>
            </a:extLst>
          </p:cNvPr>
          <p:cNvSpPr>
            <a:spLocks xmlns:a="http://schemas.openxmlformats.org/drawingml/2006/main" noGrp="1"/>
          </p:cNvSpPr>
          <p:nvPr/>
        </p:nvSpPr>
        <p:spPr>
          <a:xfrm xmlns:a="http://schemas.openxmlformats.org/drawingml/2006/main">
            <a:off x="685800" y="571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2026.04.01–10.01  /  본사 팀 공유</a:t>
            </a:r>
          </a:p>
        </p:txBody>
      </p:sp>
      <p:sp>
        <p:nvSpPr>
          <p:cNvPr id="2" name="">
            <a:extLst xmlns:a="http://schemas.openxmlformats.org/drawingml/2006/main">
              <a:ext uri="{FF2B5EF4-FFF2-40B4-BE49-F238E27FC236}">
                <a16:creationId xmlns:a16="http://schemas.microsoft.com/office/drawing/2014/main" id="{056D6C19-483E-48C5-95EE-B141FA66B9C4}"/>
              </a:ext>
            </a:extLst>
          </p:cNvPr>
          <p:cNvSpPr>
            <a:spLocks xmlns:a="http://schemas.openxmlformats.org/drawingml/2006/main" noGrp="1"/>
          </p:cNvSpPr>
          <p:nvPr/>
        </p:nvSpPr>
        <p:spPr>
          <a:xfrm xmlns:a="http://schemas.openxmlformats.org/drawingml/2006/main">
            <a:off x="685800" y="18573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800" b="1">
                <a:solidFill>
                  <a:srgbClr val="191F28"/>
                </a:solidFill>
                <a:latin typeface="Apple SD Gothic Neo"/>
                <a:ea typeface="Apple SD Gothic Neo"/>
                <a:cs typeface="Apple SD Gothic Neo"/>
              </a:defRPr>
            </a:pPr>
            <a:r>
              <a:rPr sz="4800" b="1">
                <a:solidFill>
                  <a:srgbClr val="191F28"/>
                </a:solidFill>
                <a:latin typeface="Apple SD Gothic Neo"/>
                <a:ea typeface="Apple SD Gothic Neo"/>
                <a:cs typeface="Apple SD Gothic Neo"/>
              </a:rPr>
              <a:t>창업노트,</a:t>
            </a:r>
          </a:p>
          <a:p xmlns:a="http://schemas.openxmlformats.org/drawingml/2006/main">
            <a:pPr algn="l">
              <a:defRPr sz="4800" b="1">
                <a:solidFill>
                  <a:srgbClr val="191F28"/>
                </a:solidFill>
                <a:latin typeface="Apple SD Gothic Neo"/>
                <a:ea typeface="Apple SD Gothic Neo"/>
                <a:cs typeface="Apple SD Gothic Neo"/>
              </a:defRPr>
            </a:pPr>
            <a:r>
              <a:rPr sz="4800" b="1">
                <a:solidFill>
                  <a:srgbClr val="191F28"/>
                </a:solidFill>
                <a:latin typeface="Apple SD Gothic Neo"/>
                <a:ea typeface="Apple SD Gothic Neo"/>
                <a:cs typeface="Apple SD Gothic Neo"/>
              </a:rPr>
              <a:t>그동안의 고민과 다음 방향</a:t>
            </a:r>
          </a:p>
        </p:txBody>
      </p:sp>
      <p:sp>
        <p:nvSpPr>
          <p:cNvPr id="3" name="">
            <a:extLst xmlns:a="http://schemas.openxmlformats.org/drawingml/2006/main">
              <a:ext uri="{FF2B5EF4-FFF2-40B4-BE49-F238E27FC236}">
                <a16:creationId xmlns:a16="http://schemas.microsoft.com/office/drawing/2014/main" id="{5A672286-D17D-4A8C-BB29-B54186837CFA}"/>
              </a:ext>
            </a:extLst>
          </p:cNvPr>
          <p:cNvSpPr>
            <a:spLocks xmlns:a="http://schemas.openxmlformats.org/drawingml/2006/main" noGrp="1"/>
          </p:cNvSpPr>
          <p:nvPr/>
        </p:nvSpPr>
        <p:spPr>
          <a:xfrm xmlns:a="http://schemas.openxmlformats.org/drawingml/2006/main">
            <a:off x="685800" y="41910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3182F6"/>
                </a:solidFill>
                <a:latin typeface="Apple SD Gothic Neo"/>
                <a:ea typeface="Apple SD Gothic Neo"/>
                <a:cs typeface="Apple SD Gothic Neo"/>
              </a:defRPr>
            </a:pPr>
            <a:r>
              <a:rPr sz="2100" b="0">
                <a:solidFill>
                  <a:srgbClr val="3182F6"/>
                </a:solidFill>
                <a:latin typeface="Apple SD Gothic Neo"/>
                <a:ea typeface="Apple SD Gothic Neo"/>
                <a:cs typeface="Apple SD Gothic Neo"/>
              </a:rPr>
              <a:t>사업자번호로 시작한 탐색, 실제 문서를 만드는 도구로</a:t>
            </a:r>
          </a:p>
        </p:txBody>
      </p:sp>
      <p:sp>
        <p:nvSpPr>
          <p:cNvPr id="4" name="">
            <a:extLst xmlns:a="http://schemas.openxmlformats.org/drawingml/2006/main">
              <a:ext uri="{FF2B5EF4-FFF2-40B4-BE49-F238E27FC236}">
                <a16:creationId xmlns:a16="http://schemas.microsoft.com/office/drawing/2014/main" id="{9CE05A65-8904-411C-8DAD-BBD0963A72FF}"/>
              </a:ext>
            </a:extLst>
          </p:cNvPr>
          <p:cNvSpPr>
            <a:spLocks xmlns:a="http://schemas.openxmlformats.org/drawingml/2006/main" noGrp="1"/>
          </p:cNvSpPr>
          <p:nvPr/>
        </p:nvSpPr>
        <p:spPr>
          <a:xfrm xmlns:a="http://schemas.openxmlformats.org/drawingml/2006/main">
            <a:off x="685800" y="5429250"/>
            <a:ext cx="5334000" cy="133350"/>
          </a:xfrm>
          <a:prstGeom xmlns:a="http://schemas.openxmlformats.org/drawingml/2006/main" prst="roundRect">
            <a:avLst>
              <a:gd name="adj" fmla="val 50000"/>
            </a:avLst>
          </a:prstGeom>
          <a:solidFill xmlns:a="http://schemas.openxmlformats.org/drawingml/2006/main">
            <a:srgbClr val="3182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AF1017-03A1-41A2-BA1F-C894DA4333A2}"/>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6" name="">
            <a:extLst xmlns:a="http://schemas.openxmlformats.org/drawingml/2006/main">
              <a:ext uri="{FF2B5EF4-FFF2-40B4-BE49-F238E27FC236}">
                <a16:creationId xmlns:a16="http://schemas.microsoft.com/office/drawing/2014/main" id="{BF1C1596-CB6F-43DB-9172-6AFB2A531E6C}"/>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01 / 22</a:t>
            </a:r>
          </a:p>
        </p:txBody>
      </p:sp>
    </p:spTree>
    <p:extLst>
      <p:ext uri="{BB962C8B-B14F-4D97-AF65-F5344CB8AC3E}">
        <p14:creationId xmlns:p14="http://schemas.microsoft.com/office/powerpoint/2010/main" val="672830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08BEA6-5E9B-4602-9165-195CF8F9F223}"/>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기록으로 확인한 범위</a:t>
            </a:r>
          </a:p>
        </p:txBody>
      </p:sp>
      <p:sp>
        <p:nvSpPr>
          <p:cNvPr id="2" name="">
            <a:extLst xmlns:a="http://schemas.openxmlformats.org/drawingml/2006/main">
              <a:ext uri="{FF2B5EF4-FFF2-40B4-BE49-F238E27FC236}">
                <a16:creationId xmlns:a16="http://schemas.microsoft.com/office/drawing/2014/main" id="{CC1538A8-0A4D-4767-9706-271FEDED3D46}"/>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6개월 달력 안에서 확인할 수 있는 개발 기록을 정리했습니다.</a:t>
            </a:r>
          </a:p>
        </p:txBody>
      </p:sp>
      <p:sp>
        <p:nvSpPr>
          <p:cNvPr id="3" name="">
            <a:extLst xmlns:a="http://schemas.openxmlformats.org/drawingml/2006/main">
              <a:ext uri="{FF2B5EF4-FFF2-40B4-BE49-F238E27FC236}">
                <a16:creationId xmlns:a16="http://schemas.microsoft.com/office/drawing/2014/main" id="{8B1C3095-3F24-4BAF-B3DD-B28D58A0AD35}"/>
              </a:ext>
            </a:extLst>
          </p:cNvPr>
          <p:cNvSpPr>
            <a:spLocks xmlns:a="http://schemas.openxmlformats.org/drawingml/2006/main" noGrp="1"/>
          </p:cNvSpPr>
          <p:nvPr/>
        </p:nvSpPr>
        <p:spPr>
          <a:xfrm xmlns:a="http://schemas.openxmlformats.org/drawingml/2006/main">
            <a:off x="685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3368BE-EBAF-4DA6-B54C-A1068768EF66}"/>
              </a:ext>
            </a:extLst>
          </p:cNvPr>
          <p:cNvSpPr>
            <a:spLocks xmlns:a="http://schemas.openxmlformats.org/drawingml/2006/main" noGrp="1"/>
          </p:cNvSpPr>
          <p:nvPr/>
        </p:nvSpPr>
        <p:spPr>
          <a:xfrm xmlns:a="http://schemas.openxmlformats.org/drawingml/2006/main">
            <a:off x="952500" y="2600325"/>
            <a:ext cx="292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3182F6"/>
                </a:solidFill>
                <a:latin typeface="Apple SD Gothic Neo"/>
                <a:ea typeface="Apple SD Gothic Neo"/>
                <a:cs typeface="Apple SD Gothic Neo"/>
              </a:defRPr>
            </a:pPr>
            <a:r>
              <a:rPr sz="4500" b="1">
                <a:solidFill>
                  <a:srgbClr val="3182F6"/>
                </a:solidFill>
                <a:latin typeface="Apple SD Gothic Neo"/>
                <a:ea typeface="Apple SD Gothic Neo"/>
                <a:cs typeface="Apple SD Gothic Neo"/>
              </a:rPr>
              <a:t>184일</a:t>
            </a:r>
          </a:p>
        </p:txBody>
      </p:sp>
      <p:sp>
        <p:nvSpPr>
          <p:cNvPr id="5" name="">
            <a:extLst xmlns:a="http://schemas.openxmlformats.org/drawingml/2006/main">
              <a:ext uri="{FF2B5EF4-FFF2-40B4-BE49-F238E27FC236}">
                <a16:creationId xmlns:a16="http://schemas.microsoft.com/office/drawing/2014/main" id="{E83E5668-B13E-4F35-8326-C6DE960604CB}"/>
              </a:ext>
            </a:extLst>
          </p:cNvPr>
          <p:cNvSpPr>
            <a:spLocks xmlns:a="http://schemas.openxmlformats.org/drawingml/2006/main" noGrp="1"/>
          </p:cNvSpPr>
          <p:nvPr/>
        </p:nvSpPr>
        <p:spPr>
          <a:xfrm xmlns:a="http://schemas.openxmlformats.org/drawingml/2006/main">
            <a:off x="952500" y="3743325"/>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4월 1일부터 10월 1일까지</a:t>
            </a:r>
          </a:p>
        </p:txBody>
      </p:sp>
      <p:sp>
        <p:nvSpPr>
          <p:cNvPr id="6" name="">
            <a:extLst xmlns:a="http://schemas.openxmlformats.org/drawingml/2006/main">
              <a:ext uri="{FF2B5EF4-FFF2-40B4-BE49-F238E27FC236}">
                <a16:creationId xmlns:a16="http://schemas.microsoft.com/office/drawing/2014/main" id="{E3B07304-2E3C-44DA-8EA4-04F6B70D97FF}"/>
              </a:ext>
            </a:extLst>
          </p:cNvPr>
          <p:cNvSpPr>
            <a:spLocks xmlns:a="http://schemas.openxmlformats.org/drawingml/2006/main" noGrp="1"/>
          </p:cNvSpPr>
          <p:nvPr/>
        </p:nvSpPr>
        <p:spPr>
          <a:xfrm xmlns:a="http://schemas.openxmlformats.org/drawingml/2006/main">
            <a:off x="4368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E5E941-143B-44EB-9AC0-DF5F301B3691}"/>
              </a:ext>
            </a:extLst>
          </p:cNvPr>
          <p:cNvSpPr>
            <a:spLocks xmlns:a="http://schemas.openxmlformats.org/drawingml/2006/main" noGrp="1"/>
          </p:cNvSpPr>
          <p:nvPr/>
        </p:nvSpPr>
        <p:spPr>
          <a:xfrm xmlns:a="http://schemas.openxmlformats.org/drawingml/2006/main">
            <a:off x="4635500" y="2600325"/>
            <a:ext cx="292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3182F6"/>
                </a:solidFill>
                <a:latin typeface="Apple SD Gothic Neo"/>
                <a:ea typeface="Apple SD Gothic Neo"/>
                <a:cs typeface="Apple SD Gothic Neo"/>
              </a:defRPr>
            </a:pPr>
            <a:r>
              <a:rPr sz="4500" b="1">
                <a:solidFill>
                  <a:srgbClr val="3182F6"/>
                </a:solidFill>
                <a:latin typeface="Apple SD Gothic Neo"/>
                <a:ea typeface="Apple SD Gothic Neo"/>
                <a:cs typeface="Apple SD Gothic Neo"/>
              </a:rPr>
              <a:t>1,445개</a:t>
            </a:r>
          </a:p>
        </p:txBody>
      </p:sp>
      <p:sp>
        <p:nvSpPr>
          <p:cNvPr id="8" name="">
            <a:extLst xmlns:a="http://schemas.openxmlformats.org/drawingml/2006/main">
              <a:ext uri="{FF2B5EF4-FFF2-40B4-BE49-F238E27FC236}">
                <a16:creationId xmlns:a16="http://schemas.microsoft.com/office/drawing/2014/main" id="{7A48CC2C-4144-45C2-82A4-8B69B6E5EF03}"/>
              </a:ext>
            </a:extLst>
          </p:cNvPr>
          <p:cNvSpPr>
            <a:spLocks xmlns:a="http://schemas.openxmlformats.org/drawingml/2006/main" noGrp="1"/>
          </p:cNvSpPr>
          <p:nvPr/>
        </p:nvSpPr>
        <p:spPr>
          <a:xfrm xmlns:a="http://schemas.openxmlformats.org/drawingml/2006/main">
            <a:off x="4635500" y="3743325"/>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봉인한 브랜치 전체 커밋</a:t>
            </a:r>
          </a:p>
        </p:txBody>
      </p:sp>
      <p:sp>
        <p:nvSpPr>
          <p:cNvPr id="9" name="">
            <a:extLst xmlns:a="http://schemas.openxmlformats.org/drawingml/2006/main">
              <a:ext uri="{FF2B5EF4-FFF2-40B4-BE49-F238E27FC236}">
                <a16:creationId xmlns:a16="http://schemas.microsoft.com/office/drawing/2014/main" id="{555E9E98-CB13-4B2B-9C5E-33401ED0900E}"/>
              </a:ext>
            </a:extLst>
          </p:cNvPr>
          <p:cNvSpPr>
            <a:spLocks xmlns:a="http://schemas.openxmlformats.org/drawingml/2006/main" noGrp="1"/>
          </p:cNvSpPr>
          <p:nvPr/>
        </p:nvSpPr>
        <p:spPr>
          <a:xfrm xmlns:a="http://schemas.openxmlformats.org/drawingml/2006/main">
            <a:off x="8051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E088D4-99A1-4555-9504-7B75935F1B54}"/>
              </a:ext>
            </a:extLst>
          </p:cNvPr>
          <p:cNvSpPr>
            <a:spLocks xmlns:a="http://schemas.openxmlformats.org/drawingml/2006/main" noGrp="1"/>
          </p:cNvSpPr>
          <p:nvPr/>
        </p:nvSpPr>
        <p:spPr>
          <a:xfrm xmlns:a="http://schemas.openxmlformats.org/drawingml/2006/main">
            <a:off x="8318500" y="2600325"/>
            <a:ext cx="292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3182F6"/>
                </a:solidFill>
                <a:latin typeface="Apple SD Gothic Neo"/>
                <a:ea typeface="Apple SD Gothic Neo"/>
                <a:cs typeface="Apple SD Gothic Neo"/>
              </a:defRPr>
            </a:pPr>
            <a:r>
              <a:rPr sz="3000" b="1">
                <a:solidFill>
                  <a:srgbClr val="3182F6"/>
                </a:solidFill>
                <a:latin typeface="Apple SD Gothic Neo"/>
                <a:ea typeface="Apple SD Gothic Neo"/>
                <a:cs typeface="Apple SD Gothic Neo"/>
              </a:rPr>
              <a:t>1,206 + 239</a:t>
            </a:r>
          </a:p>
        </p:txBody>
      </p:sp>
      <p:sp>
        <p:nvSpPr>
          <p:cNvPr id="11" name="">
            <a:extLst xmlns:a="http://schemas.openxmlformats.org/drawingml/2006/main">
              <a:ext uri="{FF2B5EF4-FFF2-40B4-BE49-F238E27FC236}">
                <a16:creationId xmlns:a16="http://schemas.microsoft.com/office/drawing/2014/main" id="{D48B5B28-D8EA-4F23-ABEB-B4DBE229874A}"/>
              </a:ext>
            </a:extLst>
          </p:cNvPr>
          <p:cNvSpPr>
            <a:spLocks xmlns:a="http://schemas.openxmlformats.org/drawingml/2006/main" noGrp="1"/>
          </p:cNvSpPr>
          <p:nvPr/>
        </p:nvSpPr>
        <p:spPr>
          <a:xfrm xmlns:a="http://schemas.openxmlformats.org/drawingml/2006/main">
            <a:off x="8318500" y="3743325"/>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main 포함 + main 외 커밋</a:t>
            </a:r>
          </a:p>
        </p:txBody>
      </p:sp>
      <p:sp>
        <p:nvSpPr>
          <p:cNvPr id="12" name="">
            <a:extLst xmlns:a="http://schemas.openxmlformats.org/drawingml/2006/main">
              <a:ext uri="{FF2B5EF4-FFF2-40B4-BE49-F238E27FC236}">
                <a16:creationId xmlns:a16="http://schemas.microsoft.com/office/drawing/2014/main" id="{1730C844-5872-4B2A-88CE-364BE967734A}"/>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첫 문서 표기 6/19, 첫 커밋 6/25. 4/1–6/18은 이 저장소에 입증 기록이 없습니다.</a:t>
            </a:r>
          </a:p>
        </p:txBody>
      </p:sp>
      <p:sp>
        <p:nvSpPr>
          <p:cNvPr id="13" name="">
            <a:extLst xmlns:a="http://schemas.openxmlformats.org/drawingml/2006/main">
              <a:ext uri="{FF2B5EF4-FFF2-40B4-BE49-F238E27FC236}">
                <a16:creationId xmlns:a16="http://schemas.microsoft.com/office/drawing/2014/main" id="{658E188A-F127-495C-A62E-4941F71C5A3A}"/>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02 / 22</a:t>
            </a:r>
          </a:p>
        </p:txBody>
      </p:sp>
    </p:spTree>
    <p:extLst>
      <p:ext uri="{BB962C8B-B14F-4D97-AF65-F5344CB8AC3E}">
        <p14:creationId xmlns:p14="http://schemas.microsoft.com/office/powerpoint/2010/main" val="18121496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96A7AA-33A2-440F-8615-9F523D8671C0}"/>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처음의 아이디어</a:t>
            </a:r>
          </a:p>
        </p:txBody>
      </p:sp>
      <p:sp>
        <p:nvSpPr>
          <p:cNvPr id="2" name="">
            <a:extLst xmlns:a="http://schemas.openxmlformats.org/drawingml/2006/main">
              <a:ext uri="{FF2B5EF4-FFF2-40B4-BE49-F238E27FC236}">
                <a16:creationId xmlns:a16="http://schemas.microsoft.com/office/drawing/2014/main" id="{8E4D51F5-94EE-4C72-967A-9406F7F229E9}"/>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6월 19일자 사용자 플로우 문서</a:t>
            </a:r>
          </a:p>
        </p:txBody>
      </p:sp>
      <p:sp>
        <p:nvSpPr>
          <p:cNvPr id="3" name="">
            <a:extLst xmlns:a="http://schemas.openxmlformats.org/drawingml/2006/main">
              <a:ext uri="{FF2B5EF4-FFF2-40B4-BE49-F238E27FC236}">
                <a16:creationId xmlns:a16="http://schemas.microsoft.com/office/drawing/2014/main" id="{969CB979-1B7D-436E-A909-97C60F26DA72}"/>
              </a:ext>
            </a:extLst>
          </p:cNvPr>
          <p:cNvSpPr>
            <a:spLocks xmlns:a="http://schemas.openxmlformats.org/drawingml/2006/main" noGrp="1"/>
          </p:cNvSpPr>
          <p:nvPr/>
        </p:nvSpPr>
        <p:spPr>
          <a:xfrm xmlns:a="http://schemas.openxmlformats.org/drawingml/2006/main">
            <a:off x="685800" y="2038350"/>
            <a:ext cx="10477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3182F6"/>
                </a:solidFill>
                <a:latin typeface="Apple SD Gothic Neo"/>
                <a:ea typeface="Apple SD Gothic Neo"/>
                <a:cs typeface="Apple SD Gothic Neo"/>
              </a:defRPr>
            </a:pPr>
            <a:r>
              <a:rPr sz="3750" b="1">
                <a:solidFill>
                  <a:srgbClr val="3182F6"/>
                </a:solidFill>
                <a:latin typeface="Apple SD Gothic Neo"/>
                <a:ea typeface="Apple SD Gothic Neo"/>
                <a:cs typeface="Apple SD Gothic Neo"/>
              </a:rPr>
              <a:t>복잡한 지원사업 탐색을</a:t>
            </a:r>
          </a:p>
          <a:p xmlns:a="http://schemas.openxmlformats.org/drawingml/2006/main">
            <a:pPr algn="l">
              <a:defRPr sz="3750" b="1">
                <a:solidFill>
                  <a:srgbClr val="3182F6"/>
                </a:solidFill>
                <a:latin typeface="Apple SD Gothic Neo"/>
                <a:ea typeface="Apple SD Gothic Neo"/>
                <a:cs typeface="Apple SD Gothic Neo"/>
              </a:defRPr>
            </a:pPr>
            <a:r>
              <a:rPr sz="3750" b="1">
                <a:solidFill>
                  <a:srgbClr val="3182F6"/>
                </a:solidFill>
                <a:latin typeface="Apple SD Gothic Neo"/>
                <a:ea typeface="Apple SD Gothic Neo"/>
                <a:cs typeface="Apple SD Gothic Neo"/>
              </a:rPr>
              <a:t>한 번에 한 단계씩 쉽게</a:t>
            </a:r>
          </a:p>
        </p:txBody>
      </p:sp>
      <p:sp>
        <p:nvSpPr>
          <p:cNvPr id="4" name="">
            <a:extLst xmlns:a="http://schemas.openxmlformats.org/drawingml/2006/main">
              <a:ext uri="{FF2B5EF4-FFF2-40B4-BE49-F238E27FC236}">
                <a16:creationId xmlns:a16="http://schemas.microsoft.com/office/drawing/2014/main" id="{6630E786-D751-4C9B-89B3-9384D4B7C1A3}"/>
              </a:ext>
            </a:extLst>
          </p:cNvPr>
          <p:cNvSpPr>
            <a:spLocks xmlns:a="http://schemas.openxmlformats.org/drawingml/2006/main" noGrp="1"/>
          </p:cNvSpPr>
          <p:nvPr/>
        </p:nvSpPr>
        <p:spPr>
          <a:xfrm xmlns:a="http://schemas.openxmlformats.org/drawingml/2006/main">
            <a:off x="685800" y="3952875"/>
            <a:ext cx="3416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사업자번호로 시작</a:t>
            </a:r>
          </a:p>
        </p:txBody>
      </p:sp>
      <p:sp>
        <p:nvSpPr>
          <p:cNvPr id="5" name="">
            <a:extLst xmlns:a="http://schemas.openxmlformats.org/drawingml/2006/main">
              <a:ext uri="{FF2B5EF4-FFF2-40B4-BE49-F238E27FC236}">
                <a16:creationId xmlns:a16="http://schemas.microsoft.com/office/drawing/2014/main" id="{E6CFE7DE-3F43-44DC-BA0B-17778ED706E5}"/>
              </a:ext>
            </a:extLst>
          </p:cNvPr>
          <p:cNvSpPr>
            <a:spLocks xmlns:a="http://schemas.openxmlformats.org/drawingml/2006/main" noGrp="1"/>
          </p:cNvSpPr>
          <p:nvPr/>
        </p:nvSpPr>
        <p:spPr>
          <a:xfrm xmlns:a="http://schemas.openxmlformats.org/drawingml/2006/main">
            <a:off x="685800" y="4533900"/>
            <a:ext cx="34163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기본 정보를 조회하고 부족한 조건은</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질문 하나씩 확인한다.</a:t>
            </a:r>
          </a:p>
        </p:txBody>
      </p:sp>
      <p:sp>
        <p:nvSpPr>
          <p:cNvPr id="6" name="">
            <a:extLst xmlns:a="http://schemas.openxmlformats.org/drawingml/2006/main">
              <a:ext uri="{FF2B5EF4-FFF2-40B4-BE49-F238E27FC236}">
                <a16:creationId xmlns:a16="http://schemas.microsoft.com/office/drawing/2014/main" id="{F73A9657-5A0E-45A1-B6FF-35726B2BBC3B}"/>
              </a:ext>
            </a:extLst>
          </p:cNvPr>
          <p:cNvSpPr>
            <a:spLocks xmlns:a="http://schemas.openxmlformats.org/drawingml/2006/main" noGrp="1"/>
          </p:cNvSpPr>
          <p:nvPr/>
        </p:nvSpPr>
        <p:spPr>
          <a:xfrm xmlns:a="http://schemas.openxmlformats.org/drawingml/2006/main">
            <a:off x="4387850" y="3952875"/>
            <a:ext cx="3416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조건과 시간으로 탐색</a:t>
            </a:r>
          </a:p>
        </p:txBody>
      </p:sp>
      <p:sp>
        <p:nvSpPr>
          <p:cNvPr id="7" name="">
            <a:extLst xmlns:a="http://schemas.openxmlformats.org/drawingml/2006/main">
              <a:ext uri="{FF2B5EF4-FFF2-40B4-BE49-F238E27FC236}">
                <a16:creationId xmlns:a16="http://schemas.microsoft.com/office/drawing/2014/main" id="{222F7D91-0045-43CF-A730-67BE5D6A72C0}"/>
              </a:ext>
            </a:extLst>
          </p:cNvPr>
          <p:cNvSpPr>
            <a:spLocks xmlns:a="http://schemas.openxmlformats.org/drawingml/2006/main" noGrp="1"/>
          </p:cNvSpPr>
          <p:nvPr/>
        </p:nvSpPr>
        <p:spPr>
          <a:xfrm xmlns:a="http://schemas.openxmlformats.org/drawingml/2006/main">
            <a:off x="4387850" y="4533900"/>
            <a:ext cx="34163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지금 가능하거나 준비하면 열리는</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기회를 로드맵으로 보여준다.</a:t>
            </a:r>
          </a:p>
        </p:txBody>
      </p:sp>
      <p:sp>
        <p:nvSpPr>
          <p:cNvPr id="8" name="">
            <a:extLst xmlns:a="http://schemas.openxmlformats.org/drawingml/2006/main">
              <a:ext uri="{FF2B5EF4-FFF2-40B4-BE49-F238E27FC236}">
                <a16:creationId xmlns:a16="http://schemas.microsoft.com/office/drawing/2014/main" id="{0AAC3BD7-07FB-42A6-84DA-023BA338C7C8}"/>
              </a:ext>
            </a:extLst>
          </p:cNvPr>
          <p:cNvSpPr>
            <a:spLocks xmlns:a="http://schemas.openxmlformats.org/drawingml/2006/main" noGrp="1"/>
          </p:cNvSpPr>
          <p:nvPr/>
        </p:nvSpPr>
        <p:spPr>
          <a:xfrm xmlns:a="http://schemas.openxmlformats.org/drawingml/2006/main">
            <a:off x="8089900" y="3952875"/>
            <a:ext cx="3416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이유를 함께 제시</a:t>
            </a:r>
          </a:p>
        </p:txBody>
      </p:sp>
      <p:sp>
        <p:nvSpPr>
          <p:cNvPr id="9" name="">
            <a:extLst xmlns:a="http://schemas.openxmlformats.org/drawingml/2006/main">
              <a:ext uri="{FF2B5EF4-FFF2-40B4-BE49-F238E27FC236}">
                <a16:creationId xmlns:a16="http://schemas.microsoft.com/office/drawing/2014/main" id="{87D1838C-5B74-4CE5-99B5-20184563DF6B}"/>
              </a:ext>
            </a:extLst>
          </p:cNvPr>
          <p:cNvSpPr>
            <a:spLocks xmlns:a="http://schemas.openxmlformats.org/drawingml/2006/main" noGrp="1"/>
          </p:cNvSpPr>
          <p:nvPr/>
        </p:nvSpPr>
        <p:spPr>
          <a:xfrm xmlns:a="http://schemas.openxmlformats.org/drawingml/2006/main">
            <a:off x="8089900" y="4533900"/>
            <a:ext cx="34163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모르는 조건과 부적격 이유를 숨기지</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않는다.</a:t>
            </a:r>
          </a:p>
        </p:txBody>
      </p:sp>
      <p:sp>
        <p:nvSpPr>
          <p:cNvPr id="10" name="">
            <a:extLst xmlns:a="http://schemas.openxmlformats.org/drawingml/2006/main">
              <a:ext uri="{FF2B5EF4-FFF2-40B4-BE49-F238E27FC236}">
                <a16:creationId xmlns:a16="http://schemas.microsoft.com/office/drawing/2014/main" id="{BB8A58B2-B235-486D-94C8-4B4B32FFC8A1}"/>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1" name="">
            <a:extLst xmlns:a="http://schemas.openxmlformats.org/drawingml/2006/main">
              <a:ext uri="{FF2B5EF4-FFF2-40B4-BE49-F238E27FC236}">
                <a16:creationId xmlns:a16="http://schemas.microsoft.com/office/drawing/2014/main" id="{946AB3CD-9CFA-4E06-956A-22059856CD56}"/>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03 / 22</a:t>
            </a:r>
          </a:p>
        </p:txBody>
      </p:sp>
    </p:spTree>
    <p:extLst>
      <p:ext uri="{BB962C8B-B14F-4D97-AF65-F5344CB8AC3E}">
        <p14:creationId xmlns:p14="http://schemas.microsoft.com/office/powerpoint/2010/main" val="14887534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60D58F6-C787-479C-833B-A46A216575E3}"/>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고민의 무게중심이 이동했습니다</a:t>
            </a:r>
          </a:p>
        </p:txBody>
      </p:sp>
      <p:sp>
        <p:nvSpPr>
          <p:cNvPr id="2" name="">
            <a:extLst xmlns:a="http://schemas.openxmlformats.org/drawingml/2006/main">
              <a:ext uri="{FF2B5EF4-FFF2-40B4-BE49-F238E27FC236}">
                <a16:creationId xmlns:a16="http://schemas.microsoft.com/office/drawing/2014/main" id="{D15276DC-AB19-40B3-8253-82F8E9F7788E}"/>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처음의 목표를 버리기보다, 사용자가 끝낼 수 있는 작업에 가까워졌습니다.</a:t>
            </a:r>
          </a:p>
        </p:txBody>
      </p:sp>
      <p:sp>
        <p:nvSpPr>
          <p:cNvPr id="3" name="">
            <a:extLst xmlns:a="http://schemas.openxmlformats.org/drawingml/2006/main">
              <a:ext uri="{FF2B5EF4-FFF2-40B4-BE49-F238E27FC236}">
                <a16:creationId xmlns:a16="http://schemas.microsoft.com/office/drawing/2014/main" id="{1B300A2D-603E-4696-B8D0-35D4F660BF54}"/>
              </a:ext>
            </a:extLst>
          </p:cNvPr>
          <p:cNvSpPr>
            <a:spLocks xmlns:a="http://schemas.openxmlformats.org/drawingml/2006/main" noGrp="1"/>
          </p:cNvSpPr>
          <p:nvPr/>
        </p:nvSpPr>
        <p:spPr>
          <a:xfrm xmlns:a="http://schemas.openxmlformats.org/drawingml/2006/main">
            <a:off x="685800" y="2333625"/>
            <a:ext cx="198120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D379EC-F203-49CE-97A1-6447F74EBA85}"/>
              </a:ext>
            </a:extLst>
          </p:cNvPr>
          <p:cNvSpPr>
            <a:spLocks xmlns:a="http://schemas.openxmlformats.org/drawingml/2006/main" noGrp="1"/>
          </p:cNvSpPr>
          <p:nvPr/>
        </p:nvSpPr>
        <p:spPr>
          <a:xfrm xmlns:a="http://schemas.openxmlformats.org/drawingml/2006/main">
            <a:off x="685800" y="264795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B7684"/>
                </a:solidFill>
                <a:latin typeface="Apple SD Gothic Neo"/>
                <a:ea typeface="Apple SD Gothic Neo"/>
                <a:cs typeface="Apple SD Gothic Neo"/>
              </a:defRPr>
            </a:pPr>
            <a:r>
              <a:rPr sz="1350" b="0">
                <a:solidFill>
                  <a:srgbClr val="6B7684"/>
                </a:solidFill>
                <a:latin typeface="Apple SD Gothic Neo"/>
                <a:ea typeface="Apple SD Gothic Neo"/>
                <a:cs typeface="Apple SD Gothic Neo"/>
              </a:rPr>
              <a:t>6월 말</a:t>
            </a:r>
          </a:p>
        </p:txBody>
      </p:sp>
      <p:sp>
        <p:nvSpPr>
          <p:cNvPr id="5" name="">
            <a:extLst xmlns:a="http://schemas.openxmlformats.org/drawingml/2006/main">
              <a:ext uri="{FF2B5EF4-FFF2-40B4-BE49-F238E27FC236}">
                <a16:creationId xmlns:a16="http://schemas.microsoft.com/office/drawing/2014/main" id="{CE8DE8FD-BC66-4817-B598-E355C34D471C}"/>
              </a:ext>
            </a:extLst>
          </p:cNvPr>
          <p:cNvSpPr>
            <a:spLocks xmlns:a="http://schemas.openxmlformats.org/drawingml/2006/main" noGrp="1"/>
          </p:cNvSpPr>
          <p:nvPr/>
        </p:nvSpPr>
        <p:spPr>
          <a:xfrm xmlns:a="http://schemas.openxmlformats.org/drawingml/2006/main">
            <a:off x="685800" y="3314700"/>
            <a:ext cx="1981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기회 발견</a:t>
            </a:r>
          </a:p>
        </p:txBody>
      </p:sp>
      <p:sp>
        <p:nvSpPr>
          <p:cNvPr id="6" name="">
            <a:extLst xmlns:a="http://schemas.openxmlformats.org/drawingml/2006/main">
              <a:ext uri="{FF2B5EF4-FFF2-40B4-BE49-F238E27FC236}">
                <a16:creationId xmlns:a16="http://schemas.microsoft.com/office/drawing/2014/main" id="{D182432C-9D49-4632-98DD-E3529E00A41C}"/>
              </a:ext>
            </a:extLst>
          </p:cNvPr>
          <p:cNvSpPr>
            <a:spLocks xmlns:a="http://schemas.openxmlformats.org/drawingml/2006/main" noGrp="1"/>
          </p:cNvSpPr>
          <p:nvPr/>
        </p:nvSpPr>
        <p:spPr>
          <a:xfrm xmlns:a="http://schemas.openxmlformats.org/drawingml/2006/main">
            <a:off x="685800" y="4457700"/>
            <a:ext cx="1981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기업정보와 공고를</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연결</a:t>
            </a:r>
          </a:p>
        </p:txBody>
      </p:sp>
      <p:sp>
        <p:nvSpPr>
          <p:cNvPr id="7" name="">
            <a:extLst xmlns:a="http://schemas.openxmlformats.org/drawingml/2006/main">
              <a:ext uri="{FF2B5EF4-FFF2-40B4-BE49-F238E27FC236}">
                <a16:creationId xmlns:a16="http://schemas.microsoft.com/office/drawing/2014/main" id="{1DE14EF0-CBEF-4609-918A-4D52BE0E3E28}"/>
              </a:ext>
            </a:extLst>
          </p:cNvPr>
          <p:cNvSpPr>
            <a:spLocks xmlns:a="http://schemas.openxmlformats.org/drawingml/2006/main" noGrp="1"/>
          </p:cNvSpPr>
          <p:nvPr/>
        </p:nvSpPr>
        <p:spPr>
          <a:xfrm xmlns:a="http://schemas.openxmlformats.org/drawingml/2006/main">
            <a:off x="2895600" y="2333625"/>
            <a:ext cx="198120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88D571-B0B0-4FB5-8DA3-FAB24DDA6198}"/>
              </a:ext>
            </a:extLst>
          </p:cNvPr>
          <p:cNvSpPr>
            <a:spLocks xmlns:a="http://schemas.openxmlformats.org/drawingml/2006/main" noGrp="1"/>
          </p:cNvSpPr>
          <p:nvPr/>
        </p:nvSpPr>
        <p:spPr>
          <a:xfrm xmlns:a="http://schemas.openxmlformats.org/drawingml/2006/main">
            <a:off x="2895600" y="264795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B7684"/>
                </a:solidFill>
                <a:latin typeface="Apple SD Gothic Neo"/>
                <a:ea typeface="Apple SD Gothic Neo"/>
                <a:cs typeface="Apple SD Gothic Neo"/>
              </a:defRPr>
            </a:pPr>
            <a:r>
              <a:rPr sz="1350" b="0">
                <a:solidFill>
                  <a:srgbClr val="6B7684"/>
                </a:solidFill>
                <a:latin typeface="Apple SD Gothic Neo"/>
                <a:ea typeface="Apple SD Gothic Neo"/>
                <a:cs typeface="Apple SD Gothic Neo"/>
              </a:rPr>
              <a:t>7월 초</a:t>
            </a:r>
          </a:p>
        </p:txBody>
      </p:sp>
      <p:sp>
        <p:nvSpPr>
          <p:cNvPr id="9" name="">
            <a:extLst xmlns:a="http://schemas.openxmlformats.org/drawingml/2006/main">
              <a:ext uri="{FF2B5EF4-FFF2-40B4-BE49-F238E27FC236}">
                <a16:creationId xmlns:a16="http://schemas.microsoft.com/office/drawing/2014/main" id="{18CA2B8C-1732-4B01-BF54-63FD28E04D91}"/>
              </a:ext>
            </a:extLst>
          </p:cNvPr>
          <p:cNvSpPr>
            <a:spLocks xmlns:a="http://schemas.openxmlformats.org/drawingml/2006/main" noGrp="1"/>
          </p:cNvSpPr>
          <p:nvPr/>
        </p:nvSpPr>
        <p:spPr>
          <a:xfrm xmlns:a="http://schemas.openxmlformats.org/drawingml/2006/main">
            <a:off x="2895600" y="3314700"/>
            <a:ext cx="1981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문서 이해</a:t>
            </a:r>
          </a:p>
        </p:txBody>
      </p:sp>
      <p:sp>
        <p:nvSpPr>
          <p:cNvPr id="10" name="">
            <a:extLst xmlns:a="http://schemas.openxmlformats.org/drawingml/2006/main">
              <a:ext uri="{FF2B5EF4-FFF2-40B4-BE49-F238E27FC236}">
                <a16:creationId xmlns:a16="http://schemas.microsoft.com/office/drawing/2014/main" id="{A64A9E97-1DA2-4668-89D2-8A6D38767F1C}"/>
              </a:ext>
            </a:extLst>
          </p:cNvPr>
          <p:cNvSpPr>
            <a:spLocks xmlns:a="http://schemas.openxmlformats.org/drawingml/2006/main" noGrp="1"/>
          </p:cNvSpPr>
          <p:nvPr/>
        </p:nvSpPr>
        <p:spPr>
          <a:xfrm xmlns:a="http://schemas.openxmlformats.org/drawingml/2006/main">
            <a:off x="2895600" y="4457700"/>
            <a:ext cx="1981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양식 렌더링과 검수</a:t>
            </a:r>
          </a:p>
        </p:txBody>
      </p:sp>
      <p:sp>
        <p:nvSpPr>
          <p:cNvPr id="11" name="">
            <a:extLst xmlns:a="http://schemas.openxmlformats.org/drawingml/2006/main">
              <a:ext uri="{FF2B5EF4-FFF2-40B4-BE49-F238E27FC236}">
                <a16:creationId xmlns:a16="http://schemas.microsoft.com/office/drawing/2014/main" id="{13CF51D4-887A-465E-AB14-9A323F66EE56}"/>
              </a:ext>
            </a:extLst>
          </p:cNvPr>
          <p:cNvSpPr>
            <a:spLocks xmlns:a="http://schemas.openxmlformats.org/drawingml/2006/main" noGrp="1"/>
          </p:cNvSpPr>
          <p:nvPr/>
        </p:nvSpPr>
        <p:spPr>
          <a:xfrm xmlns:a="http://schemas.openxmlformats.org/drawingml/2006/main">
            <a:off x="5105400" y="2333625"/>
            <a:ext cx="198120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58BA726-A7F4-4837-B04D-6D2BA8A2E226}"/>
              </a:ext>
            </a:extLst>
          </p:cNvPr>
          <p:cNvSpPr>
            <a:spLocks xmlns:a="http://schemas.openxmlformats.org/drawingml/2006/main" noGrp="1"/>
          </p:cNvSpPr>
          <p:nvPr/>
        </p:nvSpPr>
        <p:spPr>
          <a:xfrm xmlns:a="http://schemas.openxmlformats.org/drawingml/2006/main">
            <a:off x="5105400" y="264795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B7684"/>
                </a:solidFill>
                <a:latin typeface="Apple SD Gothic Neo"/>
                <a:ea typeface="Apple SD Gothic Neo"/>
                <a:cs typeface="Apple SD Gothic Neo"/>
              </a:defRPr>
            </a:pPr>
            <a:r>
              <a:rPr sz="1350" b="0">
                <a:solidFill>
                  <a:srgbClr val="6B7684"/>
                </a:solidFill>
                <a:latin typeface="Apple SD Gothic Neo"/>
                <a:ea typeface="Apple SD Gothic Neo"/>
                <a:cs typeface="Apple SD Gothic Neo"/>
              </a:rPr>
              <a:t>7월 말–8월</a:t>
            </a:r>
          </a:p>
        </p:txBody>
      </p:sp>
      <p:sp>
        <p:nvSpPr>
          <p:cNvPr id="13" name="">
            <a:extLst xmlns:a="http://schemas.openxmlformats.org/drawingml/2006/main">
              <a:ext uri="{FF2B5EF4-FFF2-40B4-BE49-F238E27FC236}">
                <a16:creationId xmlns:a16="http://schemas.microsoft.com/office/drawing/2014/main" id="{926DA6ED-3094-4124-A13C-8270D746461D}"/>
              </a:ext>
            </a:extLst>
          </p:cNvPr>
          <p:cNvSpPr>
            <a:spLocks xmlns:a="http://schemas.openxmlformats.org/drawingml/2006/main" noGrp="1"/>
          </p:cNvSpPr>
          <p:nvPr/>
        </p:nvSpPr>
        <p:spPr>
          <a:xfrm xmlns:a="http://schemas.openxmlformats.org/drawingml/2006/main">
            <a:off x="5105400" y="3314700"/>
            <a:ext cx="1981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분석 신뢰</a:t>
            </a:r>
          </a:p>
        </p:txBody>
      </p:sp>
      <p:sp>
        <p:nvSpPr>
          <p:cNvPr id="14" name="">
            <a:extLst xmlns:a="http://schemas.openxmlformats.org/drawingml/2006/main">
              <a:ext uri="{FF2B5EF4-FFF2-40B4-BE49-F238E27FC236}">
                <a16:creationId xmlns:a16="http://schemas.microsoft.com/office/drawing/2014/main" id="{1C7435A7-2601-4FEA-AC73-EE5F0834F4A1}"/>
              </a:ext>
            </a:extLst>
          </p:cNvPr>
          <p:cNvSpPr>
            <a:spLocks xmlns:a="http://schemas.openxmlformats.org/drawingml/2006/main" noGrp="1"/>
          </p:cNvSpPr>
          <p:nvPr/>
        </p:nvSpPr>
        <p:spPr>
          <a:xfrm xmlns:a="http://schemas.openxmlformats.org/drawingml/2006/main">
            <a:off x="5105400" y="4457700"/>
            <a:ext cx="1981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근거·독립 검수·실행</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증거</a:t>
            </a:r>
          </a:p>
        </p:txBody>
      </p:sp>
      <p:sp>
        <p:nvSpPr>
          <p:cNvPr id="15" name="">
            <a:extLst xmlns:a="http://schemas.openxmlformats.org/drawingml/2006/main">
              <a:ext uri="{FF2B5EF4-FFF2-40B4-BE49-F238E27FC236}">
                <a16:creationId xmlns:a16="http://schemas.microsoft.com/office/drawing/2014/main" id="{FD6AEA13-CC02-42C7-B679-E6164DCE97C6}"/>
              </a:ext>
            </a:extLst>
          </p:cNvPr>
          <p:cNvSpPr>
            <a:spLocks xmlns:a="http://schemas.openxmlformats.org/drawingml/2006/main" noGrp="1"/>
          </p:cNvSpPr>
          <p:nvPr/>
        </p:nvSpPr>
        <p:spPr>
          <a:xfrm xmlns:a="http://schemas.openxmlformats.org/drawingml/2006/main">
            <a:off x="7315200" y="2333625"/>
            <a:ext cx="198120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C84D6F-02C2-41C4-A6C2-C8C54B52768A}"/>
              </a:ext>
            </a:extLst>
          </p:cNvPr>
          <p:cNvSpPr>
            <a:spLocks xmlns:a="http://schemas.openxmlformats.org/drawingml/2006/main" noGrp="1"/>
          </p:cNvSpPr>
          <p:nvPr/>
        </p:nvSpPr>
        <p:spPr>
          <a:xfrm xmlns:a="http://schemas.openxmlformats.org/drawingml/2006/main">
            <a:off x="7315200" y="264795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B7684"/>
                </a:solidFill>
                <a:latin typeface="Apple SD Gothic Neo"/>
                <a:ea typeface="Apple SD Gothic Neo"/>
                <a:cs typeface="Apple SD Gothic Neo"/>
              </a:defRPr>
            </a:pPr>
            <a:r>
              <a:rPr sz="1350" b="0">
                <a:solidFill>
                  <a:srgbClr val="6B7684"/>
                </a:solidFill>
                <a:latin typeface="Apple SD Gothic Neo"/>
                <a:ea typeface="Apple SD Gothic Neo"/>
                <a:cs typeface="Apple SD Gothic Neo"/>
              </a:rPr>
              <a:t>8월 말–9월</a:t>
            </a:r>
          </a:p>
        </p:txBody>
      </p:sp>
      <p:sp>
        <p:nvSpPr>
          <p:cNvPr id="17" name="">
            <a:extLst xmlns:a="http://schemas.openxmlformats.org/drawingml/2006/main">
              <a:ext uri="{FF2B5EF4-FFF2-40B4-BE49-F238E27FC236}">
                <a16:creationId xmlns:a16="http://schemas.microsoft.com/office/drawing/2014/main" id="{49815683-6C8F-4419-82A7-1A4C16D60389}"/>
              </a:ext>
            </a:extLst>
          </p:cNvPr>
          <p:cNvSpPr>
            <a:spLocks xmlns:a="http://schemas.openxmlformats.org/drawingml/2006/main" noGrp="1"/>
          </p:cNvSpPr>
          <p:nvPr/>
        </p:nvSpPr>
        <p:spPr>
          <a:xfrm xmlns:a="http://schemas.openxmlformats.org/drawingml/2006/main">
            <a:off x="7315200" y="3314700"/>
            <a:ext cx="1981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서비스 연결</a:t>
            </a:r>
          </a:p>
        </p:txBody>
      </p:sp>
      <p:sp>
        <p:nvSpPr>
          <p:cNvPr id="18" name="">
            <a:extLst xmlns:a="http://schemas.openxmlformats.org/drawingml/2006/main">
              <a:ext uri="{FF2B5EF4-FFF2-40B4-BE49-F238E27FC236}">
                <a16:creationId xmlns:a16="http://schemas.microsoft.com/office/drawing/2014/main" id="{03F78130-E0FA-4DB8-94A7-C542FF6C510A}"/>
              </a:ext>
            </a:extLst>
          </p:cNvPr>
          <p:cNvSpPr>
            <a:spLocks xmlns:a="http://schemas.openxmlformats.org/drawingml/2006/main" noGrp="1"/>
          </p:cNvSpPr>
          <p:nvPr/>
        </p:nvSpPr>
        <p:spPr>
          <a:xfrm xmlns:a="http://schemas.openxmlformats.org/drawingml/2006/main">
            <a:off x="7315200" y="4457700"/>
            <a:ext cx="1981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답변·편집·저장·재계산</a:t>
            </a:r>
          </a:p>
        </p:txBody>
      </p:sp>
      <p:sp>
        <p:nvSpPr>
          <p:cNvPr id="19" name="">
            <a:extLst xmlns:a="http://schemas.openxmlformats.org/drawingml/2006/main">
              <a:ext uri="{FF2B5EF4-FFF2-40B4-BE49-F238E27FC236}">
                <a16:creationId xmlns:a16="http://schemas.microsoft.com/office/drawing/2014/main" id="{347D4114-FA7F-4170-A092-0E4AA7A70007}"/>
              </a:ext>
            </a:extLst>
          </p:cNvPr>
          <p:cNvSpPr>
            <a:spLocks xmlns:a="http://schemas.openxmlformats.org/drawingml/2006/main" noGrp="1"/>
          </p:cNvSpPr>
          <p:nvPr/>
        </p:nvSpPr>
        <p:spPr>
          <a:xfrm xmlns:a="http://schemas.openxmlformats.org/drawingml/2006/main">
            <a:off x="9525000" y="2333625"/>
            <a:ext cx="198120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ADD4CD-B40D-45B5-8D81-7B78FA7E7705}"/>
              </a:ext>
            </a:extLst>
          </p:cNvPr>
          <p:cNvSpPr>
            <a:spLocks xmlns:a="http://schemas.openxmlformats.org/drawingml/2006/main" noGrp="1"/>
          </p:cNvSpPr>
          <p:nvPr/>
        </p:nvSpPr>
        <p:spPr>
          <a:xfrm xmlns:a="http://schemas.openxmlformats.org/drawingml/2006/main">
            <a:off x="9525000" y="264795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B7684"/>
                </a:solidFill>
                <a:latin typeface="Apple SD Gothic Neo"/>
                <a:ea typeface="Apple SD Gothic Neo"/>
                <a:cs typeface="Apple SD Gothic Neo"/>
              </a:defRPr>
            </a:pPr>
            <a:r>
              <a:rPr sz="1350" b="0">
                <a:solidFill>
                  <a:srgbClr val="6B7684"/>
                </a:solidFill>
                <a:latin typeface="Apple SD Gothic Neo"/>
                <a:ea typeface="Apple SD Gothic Neo"/>
                <a:cs typeface="Apple SD Gothic Neo"/>
              </a:rPr>
              <a:t>9월 말</a:t>
            </a:r>
          </a:p>
        </p:txBody>
      </p:sp>
      <p:sp>
        <p:nvSpPr>
          <p:cNvPr id="21" name="">
            <a:extLst xmlns:a="http://schemas.openxmlformats.org/drawingml/2006/main">
              <a:ext uri="{FF2B5EF4-FFF2-40B4-BE49-F238E27FC236}">
                <a16:creationId xmlns:a16="http://schemas.microsoft.com/office/drawing/2014/main" id="{DE4BC1AF-C7D1-4680-A530-3D3FF7D9F013}"/>
              </a:ext>
            </a:extLst>
          </p:cNvPr>
          <p:cNvSpPr>
            <a:spLocks xmlns:a="http://schemas.openxmlformats.org/drawingml/2006/main" noGrp="1"/>
          </p:cNvSpPr>
          <p:nvPr/>
        </p:nvSpPr>
        <p:spPr>
          <a:xfrm xmlns:a="http://schemas.openxmlformats.org/drawingml/2006/main">
            <a:off x="9525000" y="3314700"/>
            <a:ext cx="1981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작성 중심</a:t>
            </a:r>
          </a:p>
        </p:txBody>
      </p:sp>
      <p:sp>
        <p:nvSpPr>
          <p:cNvPr id="22" name="">
            <a:extLst xmlns:a="http://schemas.openxmlformats.org/drawingml/2006/main">
              <a:ext uri="{FF2B5EF4-FFF2-40B4-BE49-F238E27FC236}">
                <a16:creationId xmlns:a16="http://schemas.microsoft.com/office/drawing/2014/main" id="{80B760F7-6AB6-4598-99AF-632833EA8788}"/>
              </a:ext>
            </a:extLst>
          </p:cNvPr>
          <p:cNvSpPr>
            <a:spLocks xmlns:a="http://schemas.openxmlformats.org/drawingml/2006/main" noGrp="1"/>
          </p:cNvSpPr>
          <p:nvPr/>
        </p:nvSpPr>
        <p:spPr>
          <a:xfrm xmlns:a="http://schemas.openxmlformats.org/drawingml/2006/main">
            <a:off x="9525000" y="4457700"/>
            <a:ext cx="1981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회사 자료와 문항별</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초안</a:t>
            </a:r>
          </a:p>
        </p:txBody>
      </p:sp>
      <p:sp>
        <p:nvSpPr>
          <p:cNvPr id="23" name="">
            <a:extLst xmlns:a="http://schemas.openxmlformats.org/drawingml/2006/main">
              <a:ext uri="{FF2B5EF4-FFF2-40B4-BE49-F238E27FC236}">
                <a16:creationId xmlns:a16="http://schemas.microsoft.com/office/drawing/2014/main" id="{3FDE72DB-8CF9-459B-BCA7-F606779131C8}"/>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24" name="">
            <a:extLst xmlns:a="http://schemas.openxmlformats.org/drawingml/2006/main">
              <a:ext uri="{FF2B5EF4-FFF2-40B4-BE49-F238E27FC236}">
                <a16:creationId xmlns:a16="http://schemas.microsoft.com/office/drawing/2014/main" id="{F4AE6002-3173-4092-AF44-CC1F73E04C36}"/>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04 / 22</a:t>
            </a:r>
          </a:p>
        </p:txBody>
      </p:sp>
    </p:spTree>
    <p:extLst>
      <p:ext uri="{BB962C8B-B14F-4D97-AF65-F5344CB8AC3E}">
        <p14:creationId xmlns:p14="http://schemas.microsoft.com/office/powerpoint/2010/main" val="11577584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BA00A9-E5FA-4D57-B11B-1D77CB28D8D8}"/>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발견 다음에는 서류 작업이 남았습니다</a:t>
            </a:r>
          </a:p>
        </p:txBody>
      </p:sp>
      <p:sp>
        <p:nvSpPr>
          <p:cNvPr id="2" name="">
            <a:extLst xmlns:a="http://schemas.openxmlformats.org/drawingml/2006/main">
              <a:ext uri="{FF2B5EF4-FFF2-40B4-BE49-F238E27FC236}">
                <a16:creationId xmlns:a16="http://schemas.microsoft.com/office/drawing/2014/main" id="{B7C45140-ED52-40F1-AE4F-AC28C3731D92}"/>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7월에는 검색의 결과물을 신청 준비와 양식으로 넓혔습니다.</a:t>
            </a:r>
          </a:p>
        </p:txBody>
      </p:sp>
      <p:sp>
        <p:nvSpPr>
          <p:cNvPr id="3" name="">
            <a:extLst xmlns:a="http://schemas.openxmlformats.org/drawingml/2006/main">
              <a:ext uri="{FF2B5EF4-FFF2-40B4-BE49-F238E27FC236}">
                <a16:creationId xmlns:a16="http://schemas.microsoft.com/office/drawing/2014/main" id="{A816E349-CC02-4A65-8ADA-237148F97BDA}"/>
              </a:ext>
            </a:extLst>
          </p:cNvPr>
          <p:cNvSpPr>
            <a:spLocks xmlns:a="http://schemas.openxmlformats.org/drawingml/2006/main" noGrp="1"/>
          </p:cNvSpPr>
          <p:nvPr/>
        </p:nvSpPr>
        <p:spPr>
          <a:xfrm xmlns:a="http://schemas.openxmlformats.org/drawingml/2006/main">
            <a:off x="6858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408114-7FF0-4C05-A440-7A41CE883607}"/>
              </a:ext>
            </a:extLst>
          </p:cNvPr>
          <p:cNvSpPr>
            <a:spLocks xmlns:a="http://schemas.openxmlformats.org/drawingml/2006/main" noGrp="1"/>
          </p:cNvSpPr>
          <p:nvPr/>
        </p:nvSpPr>
        <p:spPr>
          <a:xfrm xmlns:a="http://schemas.openxmlformats.org/drawingml/2006/main">
            <a:off x="9525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문서 기반</a:t>
            </a:r>
          </a:p>
        </p:txBody>
      </p:sp>
      <p:sp>
        <p:nvSpPr>
          <p:cNvPr id="5" name="">
            <a:extLst xmlns:a="http://schemas.openxmlformats.org/drawingml/2006/main">
              <a:ext uri="{FF2B5EF4-FFF2-40B4-BE49-F238E27FC236}">
                <a16:creationId xmlns:a16="http://schemas.microsoft.com/office/drawing/2014/main" id="{AD1E4E6F-D1D5-468D-8157-FFD5395CAA25}"/>
              </a:ext>
            </a:extLst>
          </p:cNvPr>
          <p:cNvSpPr>
            <a:spLocks xmlns:a="http://schemas.openxmlformats.org/drawingml/2006/main" noGrp="1"/>
          </p:cNvSpPr>
          <p:nvPr/>
        </p:nvSpPr>
        <p:spPr>
          <a:xfrm xmlns:a="http://schemas.openxmlformats.org/drawingml/2006/main">
            <a:off x="9525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HWP/PDF 변환, 미리보기, 필드 위치와 검수</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화면을 연결했다.</a:t>
            </a:r>
          </a:p>
        </p:txBody>
      </p:sp>
      <p:sp>
        <p:nvSpPr>
          <p:cNvPr id="6" name="">
            <a:extLst xmlns:a="http://schemas.openxmlformats.org/drawingml/2006/main">
              <a:ext uri="{FF2B5EF4-FFF2-40B4-BE49-F238E27FC236}">
                <a16:creationId xmlns:a16="http://schemas.microsoft.com/office/drawing/2014/main" id="{BE0F1FAE-5065-40CD-92C7-2E4AAEB9D342}"/>
              </a:ext>
            </a:extLst>
          </p:cNvPr>
          <p:cNvSpPr>
            <a:spLocks xmlns:a="http://schemas.openxmlformats.org/drawingml/2006/main" noGrp="1"/>
          </p:cNvSpPr>
          <p:nvPr/>
        </p:nvSpPr>
        <p:spPr>
          <a:xfrm xmlns:a="http://schemas.openxmlformats.org/drawingml/2006/main">
            <a:off x="62103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0A3A10-D0FB-488B-949F-2160617F205A}"/>
              </a:ext>
            </a:extLst>
          </p:cNvPr>
          <p:cNvSpPr>
            <a:spLocks xmlns:a="http://schemas.openxmlformats.org/drawingml/2006/main" noGrp="1"/>
          </p:cNvSpPr>
          <p:nvPr/>
        </p:nvSpPr>
        <p:spPr>
          <a:xfrm xmlns:a="http://schemas.openxmlformats.org/drawingml/2006/main">
            <a:off x="64770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작성 기반</a:t>
            </a:r>
          </a:p>
        </p:txBody>
      </p:sp>
      <p:sp>
        <p:nvSpPr>
          <p:cNvPr id="8" name="">
            <a:extLst xmlns:a="http://schemas.openxmlformats.org/drawingml/2006/main">
              <a:ext uri="{FF2B5EF4-FFF2-40B4-BE49-F238E27FC236}">
                <a16:creationId xmlns:a16="http://schemas.microsoft.com/office/drawing/2014/main" id="{0AFBAB4C-5C79-4F60-B7BA-9D6F328E90FB}"/>
              </a:ext>
            </a:extLst>
          </p:cNvPr>
          <p:cNvSpPr>
            <a:spLocks xmlns:a="http://schemas.openxmlformats.org/drawingml/2006/main" noGrp="1"/>
          </p:cNvSpPr>
          <p:nvPr/>
        </p:nvSpPr>
        <p:spPr>
          <a:xfrm xmlns:a="http://schemas.openxmlformats.org/drawingml/2006/main">
            <a:off x="64770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HWPX 입력·다운로드, RHWP 직접 편집과</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revision 저장을 마련했다.</a:t>
            </a:r>
          </a:p>
        </p:txBody>
      </p:sp>
      <p:sp>
        <p:nvSpPr>
          <p:cNvPr id="9" name="">
            <a:extLst xmlns:a="http://schemas.openxmlformats.org/drawingml/2006/main">
              <a:ext uri="{FF2B5EF4-FFF2-40B4-BE49-F238E27FC236}">
                <a16:creationId xmlns:a16="http://schemas.microsoft.com/office/drawing/2014/main" id="{3BDCD42C-ED65-48A3-8A02-5CE8E4CEB6BE}"/>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7/2 Gate 0 렌더링 60/60은 당시 표본 기록입니다. 전 양식 자동작성의 증거와 구분합니다.</a:t>
            </a:r>
          </a:p>
        </p:txBody>
      </p:sp>
      <p:sp>
        <p:nvSpPr>
          <p:cNvPr id="10" name="">
            <a:extLst xmlns:a="http://schemas.openxmlformats.org/drawingml/2006/main">
              <a:ext uri="{FF2B5EF4-FFF2-40B4-BE49-F238E27FC236}">
                <a16:creationId xmlns:a16="http://schemas.microsoft.com/office/drawing/2014/main" id="{66CA8A1D-93CB-4707-961A-DEC5662B351A}"/>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05 / 22</a:t>
            </a:r>
          </a:p>
        </p:txBody>
      </p:sp>
    </p:spTree>
    <p:extLst>
      <p:ext uri="{BB962C8B-B14F-4D97-AF65-F5344CB8AC3E}">
        <p14:creationId xmlns:p14="http://schemas.microsoft.com/office/powerpoint/2010/main" val="4179993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706243A-6AA2-4D67-9417-3F76CCD193EE}"/>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분석이 제품 데이터가 되는 과정</a:t>
            </a:r>
          </a:p>
        </p:txBody>
      </p:sp>
      <p:sp>
        <p:nvSpPr>
          <p:cNvPr id="2" name="">
            <a:extLst xmlns:a="http://schemas.openxmlformats.org/drawingml/2006/main">
              <a:ext uri="{FF2B5EF4-FFF2-40B4-BE49-F238E27FC236}">
                <a16:creationId xmlns:a16="http://schemas.microsoft.com/office/drawing/2014/main" id="{7B1C5D0E-6DD6-41A2-88E7-721D9C6C10A2}"/>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읽은 내용에 출처와 검수 책임을 붙였습니다.</a:t>
            </a:r>
          </a:p>
        </p:txBody>
      </p:sp>
      <p:sp>
        <p:nvSpPr>
          <p:cNvPr id="3" name="">
            <a:extLst xmlns:a="http://schemas.openxmlformats.org/drawingml/2006/main">
              <a:ext uri="{FF2B5EF4-FFF2-40B4-BE49-F238E27FC236}">
                <a16:creationId xmlns:a16="http://schemas.microsoft.com/office/drawing/2014/main" id="{41F741FE-A707-4450-85F5-022369F42816}"/>
              </a:ext>
            </a:extLst>
          </p:cNvPr>
          <p:cNvSpPr>
            <a:spLocks xmlns:a="http://schemas.openxmlformats.org/drawingml/2006/main" noGrp="1"/>
          </p:cNvSpPr>
          <p:nvPr/>
        </p:nvSpPr>
        <p:spPr>
          <a:xfrm xmlns:a="http://schemas.openxmlformats.org/drawingml/2006/main">
            <a:off x="685800" y="2333625"/>
            <a:ext cx="253365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B5671F-138E-445F-BF1B-B840B7AAA792}"/>
              </a:ext>
            </a:extLst>
          </p:cNvPr>
          <p:cNvSpPr>
            <a:spLocks xmlns:a="http://schemas.openxmlformats.org/drawingml/2006/main" noGrp="1"/>
          </p:cNvSpPr>
          <p:nvPr/>
        </p:nvSpPr>
        <p:spPr>
          <a:xfrm xmlns:a="http://schemas.openxmlformats.org/drawingml/2006/main">
            <a:off x="685800" y="26479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C4B0E54B-F4FD-4FC7-8F0A-5151DC87C826}"/>
              </a:ext>
            </a:extLst>
          </p:cNvPr>
          <p:cNvSpPr>
            <a:spLocks xmlns:a="http://schemas.openxmlformats.org/drawingml/2006/main" noGrp="1"/>
          </p:cNvSpPr>
          <p:nvPr/>
        </p:nvSpPr>
        <p:spPr>
          <a:xfrm xmlns:a="http://schemas.openxmlformats.org/drawingml/2006/main">
            <a:off x="685800" y="3314700"/>
            <a:ext cx="2533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원문 확보</a:t>
            </a:r>
          </a:p>
        </p:txBody>
      </p:sp>
      <p:sp>
        <p:nvSpPr>
          <p:cNvPr id="6" name="">
            <a:extLst xmlns:a="http://schemas.openxmlformats.org/drawingml/2006/main">
              <a:ext uri="{FF2B5EF4-FFF2-40B4-BE49-F238E27FC236}">
                <a16:creationId xmlns:a16="http://schemas.microsoft.com/office/drawing/2014/main" id="{E40BD23C-6A16-4223-A21B-2C2B0B1E9977}"/>
              </a:ext>
            </a:extLst>
          </p:cNvPr>
          <p:cNvSpPr>
            <a:spLocks xmlns:a="http://schemas.openxmlformats.org/drawingml/2006/main" noGrp="1"/>
          </p:cNvSpPr>
          <p:nvPr/>
        </p:nvSpPr>
        <p:spPr>
          <a:xfrm xmlns:a="http://schemas.openxmlformats.org/drawingml/2006/main">
            <a:off x="685800" y="4457700"/>
            <a:ext cx="2533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공고 본문과 첨부를 보존</a:t>
            </a:r>
          </a:p>
        </p:txBody>
      </p:sp>
      <p:sp>
        <p:nvSpPr>
          <p:cNvPr id="7" name="">
            <a:extLst xmlns:a="http://schemas.openxmlformats.org/drawingml/2006/main">
              <a:ext uri="{FF2B5EF4-FFF2-40B4-BE49-F238E27FC236}">
                <a16:creationId xmlns:a16="http://schemas.microsoft.com/office/drawing/2014/main" id="{A52A4D72-14DF-4530-B151-FA5B1DB67D67}"/>
              </a:ext>
            </a:extLst>
          </p:cNvPr>
          <p:cNvSpPr>
            <a:spLocks xmlns:a="http://schemas.openxmlformats.org/drawingml/2006/main" noGrp="1"/>
          </p:cNvSpPr>
          <p:nvPr/>
        </p:nvSpPr>
        <p:spPr>
          <a:xfrm xmlns:a="http://schemas.openxmlformats.org/drawingml/2006/main">
            <a:off x="3448050" y="2333625"/>
            <a:ext cx="253365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AD06CB-0975-4AF2-8444-A6A75E858A07}"/>
              </a:ext>
            </a:extLst>
          </p:cNvPr>
          <p:cNvSpPr>
            <a:spLocks xmlns:a="http://schemas.openxmlformats.org/drawingml/2006/main" noGrp="1"/>
          </p:cNvSpPr>
          <p:nvPr/>
        </p:nvSpPr>
        <p:spPr>
          <a:xfrm xmlns:a="http://schemas.openxmlformats.org/drawingml/2006/main">
            <a:off x="3448050" y="26479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B5264DCC-C24F-49F5-8873-B9677A62B36B}"/>
              </a:ext>
            </a:extLst>
          </p:cNvPr>
          <p:cNvSpPr>
            <a:spLocks xmlns:a="http://schemas.openxmlformats.org/drawingml/2006/main" noGrp="1"/>
          </p:cNvSpPr>
          <p:nvPr/>
        </p:nvSpPr>
        <p:spPr>
          <a:xfrm xmlns:a="http://schemas.openxmlformats.org/drawingml/2006/main">
            <a:off x="3448050" y="3314700"/>
            <a:ext cx="2533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조건 해석</a:t>
            </a:r>
          </a:p>
        </p:txBody>
      </p:sp>
      <p:sp>
        <p:nvSpPr>
          <p:cNvPr id="10" name="">
            <a:extLst xmlns:a="http://schemas.openxmlformats.org/drawingml/2006/main">
              <a:ext uri="{FF2B5EF4-FFF2-40B4-BE49-F238E27FC236}">
                <a16:creationId xmlns:a16="http://schemas.microsoft.com/office/drawing/2014/main" id="{E6880146-E60A-4B86-B84B-630F6112D5B3}"/>
              </a:ext>
            </a:extLst>
          </p:cNvPr>
          <p:cNvSpPr>
            <a:spLocks xmlns:a="http://schemas.openxmlformats.org/drawingml/2006/main" noGrp="1"/>
          </p:cNvSpPr>
          <p:nvPr/>
        </p:nvSpPr>
        <p:spPr>
          <a:xfrm xmlns:a="http://schemas.openxmlformats.org/drawingml/2006/main">
            <a:off x="3448050" y="4457700"/>
            <a:ext cx="2533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회사 사실과 비교할 규칙으로</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구조화</a:t>
            </a:r>
          </a:p>
        </p:txBody>
      </p:sp>
      <p:sp>
        <p:nvSpPr>
          <p:cNvPr id="11" name="">
            <a:extLst xmlns:a="http://schemas.openxmlformats.org/drawingml/2006/main">
              <a:ext uri="{FF2B5EF4-FFF2-40B4-BE49-F238E27FC236}">
                <a16:creationId xmlns:a16="http://schemas.microsoft.com/office/drawing/2014/main" id="{1CCF87A0-371B-4F06-B793-7786B728BE77}"/>
              </a:ext>
            </a:extLst>
          </p:cNvPr>
          <p:cNvSpPr>
            <a:spLocks xmlns:a="http://schemas.openxmlformats.org/drawingml/2006/main" noGrp="1"/>
          </p:cNvSpPr>
          <p:nvPr/>
        </p:nvSpPr>
        <p:spPr>
          <a:xfrm xmlns:a="http://schemas.openxmlformats.org/drawingml/2006/main">
            <a:off x="6210300" y="2333625"/>
            <a:ext cx="253365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46DD3A-BD29-4050-ACA9-AA4C421510CF}"/>
              </a:ext>
            </a:extLst>
          </p:cNvPr>
          <p:cNvSpPr>
            <a:spLocks xmlns:a="http://schemas.openxmlformats.org/drawingml/2006/main" noGrp="1"/>
          </p:cNvSpPr>
          <p:nvPr/>
        </p:nvSpPr>
        <p:spPr>
          <a:xfrm xmlns:a="http://schemas.openxmlformats.org/drawingml/2006/main">
            <a:off x="6210300" y="26479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A0DAA8A3-7582-41D2-900A-C2DEC4C65CD1}"/>
              </a:ext>
            </a:extLst>
          </p:cNvPr>
          <p:cNvSpPr>
            <a:spLocks xmlns:a="http://schemas.openxmlformats.org/drawingml/2006/main" noGrp="1"/>
          </p:cNvSpPr>
          <p:nvPr/>
        </p:nvSpPr>
        <p:spPr>
          <a:xfrm xmlns:a="http://schemas.openxmlformats.org/drawingml/2006/main">
            <a:off x="6210300" y="3314700"/>
            <a:ext cx="2533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독립 검수</a:t>
            </a:r>
          </a:p>
        </p:txBody>
      </p:sp>
      <p:sp>
        <p:nvSpPr>
          <p:cNvPr id="14" name="">
            <a:extLst xmlns:a="http://schemas.openxmlformats.org/drawingml/2006/main">
              <a:ext uri="{FF2B5EF4-FFF2-40B4-BE49-F238E27FC236}">
                <a16:creationId xmlns:a16="http://schemas.microsoft.com/office/drawing/2014/main" id="{16D0F477-3940-4BA8-AE9E-570813BC3B32}"/>
              </a:ext>
            </a:extLst>
          </p:cNvPr>
          <p:cNvSpPr>
            <a:spLocks xmlns:a="http://schemas.openxmlformats.org/drawingml/2006/main" noGrp="1"/>
          </p:cNvSpPr>
          <p:nvPr/>
        </p:nvSpPr>
        <p:spPr>
          <a:xfrm xmlns:a="http://schemas.openxmlformats.org/drawingml/2006/main">
            <a:off x="6210300" y="4457700"/>
            <a:ext cx="2533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오분류·원문 모순과 미확인을</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분리</a:t>
            </a:r>
          </a:p>
        </p:txBody>
      </p:sp>
      <p:sp>
        <p:nvSpPr>
          <p:cNvPr id="15" name="">
            <a:extLst xmlns:a="http://schemas.openxmlformats.org/drawingml/2006/main">
              <a:ext uri="{FF2B5EF4-FFF2-40B4-BE49-F238E27FC236}">
                <a16:creationId xmlns:a16="http://schemas.microsoft.com/office/drawing/2014/main" id="{CF13A66F-69FD-41E1-824E-8A355BBD75DC}"/>
              </a:ext>
            </a:extLst>
          </p:cNvPr>
          <p:cNvSpPr>
            <a:spLocks xmlns:a="http://schemas.openxmlformats.org/drawingml/2006/main" noGrp="1"/>
          </p:cNvSpPr>
          <p:nvPr/>
        </p:nvSpPr>
        <p:spPr>
          <a:xfrm xmlns:a="http://schemas.openxmlformats.org/drawingml/2006/main">
            <a:off x="8972550" y="2333625"/>
            <a:ext cx="2533650" cy="47625"/>
          </a:xfrm>
          <a:prstGeom xmlns:a="http://schemas.openxmlformats.org/drawingml/2006/main" prst="rect">
            <a:avLst/>
          </a:prstGeom>
          <a:solidFill xmlns:a="http://schemas.openxmlformats.org/drawingml/2006/main">
            <a:srgbClr val="3182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42894F-A72C-4675-A6B6-217545B7B267}"/>
              </a:ext>
            </a:extLst>
          </p:cNvPr>
          <p:cNvSpPr>
            <a:spLocks xmlns:a="http://schemas.openxmlformats.org/drawingml/2006/main" noGrp="1"/>
          </p:cNvSpPr>
          <p:nvPr/>
        </p:nvSpPr>
        <p:spPr>
          <a:xfrm xmlns:a="http://schemas.openxmlformats.org/drawingml/2006/main">
            <a:off x="8972550" y="26479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02239392-DDD9-4DB7-8093-3A711F788CE4}"/>
              </a:ext>
            </a:extLst>
          </p:cNvPr>
          <p:cNvSpPr>
            <a:spLocks xmlns:a="http://schemas.openxmlformats.org/drawingml/2006/main" noGrp="1"/>
          </p:cNvSpPr>
          <p:nvPr/>
        </p:nvSpPr>
        <p:spPr>
          <a:xfrm xmlns:a="http://schemas.openxmlformats.org/drawingml/2006/main">
            <a:off x="8972550" y="3314700"/>
            <a:ext cx="2533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91F28"/>
                </a:solidFill>
                <a:latin typeface="Apple SD Gothic Neo"/>
                <a:ea typeface="Apple SD Gothic Neo"/>
                <a:cs typeface="Apple SD Gothic Neo"/>
              </a:defRPr>
            </a:pPr>
            <a:r>
              <a:rPr sz="2325" b="1">
                <a:solidFill>
                  <a:srgbClr val="191F28"/>
                </a:solidFill>
                <a:latin typeface="Apple SD Gothic Neo"/>
                <a:ea typeface="Apple SD Gothic Neo"/>
                <a:cs typeface="Apple SD Gothic Neo"/>
              </a:rPr>
              <a:t>서비스 적용</a:t>
            </a:r>
          </a:p>
        </p:txBody>
      </p:sp>
      <p:sp>
        <p:nvSpPr>
          <p:cNvPr id="18" name="">
            <a:extLst xmlns:a="http://schemas.openxmlformats.org/drawingml/2006/main">
              <a:ext uri="{FF2B5EF4-FFF2-40B4-BE49-F238E27FC236}">
                <a16:creationId xmlns:a16="http://schemas.microsoft.com/office/drawing/2014/main" id="{3B147A95-E261-45C1-B247-A0DC5AD1298D}"/>
              </a:ext>
            </a:extLst>
          </p:cNvPr>
          <p:cNvSpPr>
            <a:spLocks xmlns:a="http://schemas.openxmlformats.org/drawingml/2006/main" noGrp="1"/>
          </p:cNvSpPr>
          <p:nvPr/>
        </p:nvSpPr>
        <p:spPr>
          <a:xfrm xmlns:a="http://schemas.openxmlformats.org/drawingml/2006/main">
            <a:off x="8972550" y="4457700"/>
            <a:ext cx="2533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승인한 결과만 매칭·작성에서</a:t>
            </a:r>
          </a:p>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사용</a:t>
            </a:r>
          </a:p>
        </p:txBody>
      </p:sp>
      <p:sp>
        <p:nvSpPr>
          <p:cNvPr id="19" name="">
            <a:extLst xmlns:a="http://schemas.openxmlformats.org/drawingml/2006/main">
              <a:ext uri="{FF2B5EF4-FFF2-40B4-BE49-F238E27FC236}">
                <a16:creationId xmlns:a16="http://schemas.microsoft.com/office/drawing/2014/main" id="{303931F9-E189-440D-B387-52935F7593BA}"/>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20" name="">
            <a:extLst xmlns:a="http://schemas.openxmlformats.org/drawingml/2006/main">
              <a:ext uri="{FF2B5EF4-FFF2-40B4-BE49-F238E27FC236}">
                <a16:creationId xmlns:a16="http://schemas.microsoft.com/office/drawing/2014/main" id="{B3923916-6759-44D1-97B2-C61961C97B73}"/>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06 / 22</a:t>
            </a:r>
          </a:p>
        </p:txBody>
      </p:sp>
    </p:spTree>
    <p:extLst>
      <p:ext uri="{BB962C8B-B14F-4D97-AF65-F5344CB8AC3E}">
        <p14:creationId xmlns:p14="http://schemas.microsoft.com/office/powerpoint/2010/main" val="5713146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1EA3A3-CB3A-4F6B-88D4-83B15BD56C8E}"/>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반복 실행에서 드러난 한계</a:t>
            </a:r>
          </a:p>
        </p:txBody>
      </p:sp>
      <p:sp>
        <p:nvSpPr>
          <p:cNvPr id="2" name="">
            <a:extLst xmlns:a="http://schemas.openxmlformats.org/drawingml/2006/main">
              <a:ext uri="{FF2B5EF4-FFF2-40B4-BE49-F238E27FC236}">
                <a16:creationId xmlns:a16="http://schemas.microsoft.com/office/drawing/2014/main" id="{1B22C807-7978-4188-8556-38A6313A1574}"/>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비용과 속도, 의미 품질은 서로 다른 문제였습니다.</a:t>
            </a:r>
          </a:p>
        </p:txBody>
      </p:sp>
      <p:sp>
        <p:nvSpPr>
          <p:cNvPr id="3" name="">
            <a:extLst xmlns:a="http://schemas.openxmlformats.org/drawingml/2006/main">
              <a:ext uri="{FF2B5EF4-FFF2-40B4-BE49-F238E27FC236}">
                <a16:creationId xmlns:a16="http://schemas.microsoft.com/office/drawing/2014/main" id="{26E3C512-6ADE-4861-8042-61E89626E20D}"/>
              </a:ext>
            </a:extLst>
          </p:cNvPr>
          <p:cNvSpPr>
            <a:spLocks xmlns:a="http://schemas.openxmlformats.org/drawingml/2006/main" noGrp="1"/>
          </p:cNvSpPr>
          <p:nvPr/>
        </p:nvSpPr>
        <p:spPr>
          <a:xfrm xmlns:a="http://schemas.openxmlformats.org/drawingml/2006/main">
            <a:off x="6858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7DDB93-E410-40A4-852E-9745154A31BB}"/>
              </a:ext>
            </a:extLst>
          </p:cNvPr>
          <p:cNvSpPr>
            <a:spLocks xmlns:a="http://schemas.openxmlformats.org/drawingml/2006/main" noGrp="1"/>
          </p:cNvSpPr>
          <p:nvPr/>
        </p:nvSpPr>
        <p:spPr>
          <a:xfrm xmlns:a="http://schemas.openxmlformats.org/drawingml/2006/main">
            <a:off x="9525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실행 비용·중단</a:t>
            </a:r>
          </a:p>
        </p:txBody>
      </p:sp>
      <p:sp>
        <p:nvSpPr>
          <p:cNvPr id="5" name="">
            <a:extLst xmlns:a="http://schemas.openxmlformats.org/drawingml/2006/main">
              <a:ext uri="{FF2B5EF4-FFF2-40B4-BE49-F238E27FC236}">
                <a16:creationId xmlns:a16="http://schemas.microsoft.com/office/drawing/2014/main" id="{7ADC16AA-0C8F-4090-BDCD-A4713273E6D7}"/>
              </a:ext>
            </a:extLst>
          </p:cNvPr>
          <p:cNvSpPr>
            <a:spLocks xmlns:a="http://schemas.openxmlformats.org/drawingml/2006/main" noGrp="1"/>
          </p:cNvSpPr>
          <p:nvPr/>
        </p:nvSpPr>
        <p:spPr>
          <a:xfrm xmlns:a="http://schemas.openxmlformats.org/drawingml/2006/main">
            <a:off x="9525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로컬 구독 경로, 인증 증명, lease·재개·실패만</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재시도를 만들었다.</a:t>
            </a:r>
          </a:p>
        </p:txBody>
      </p:sp>
      <p:sp>
        <p:nvSpPr>
          <p:cNvPr id="6" name="">
            <a:extLst xmlns:a="http://schemas.openxmlformats.org/drawingml/2006/main">
              <a:ext uri="{FF2B5EF4-FFF2-40B4-BE49-F238E27FC236}">
                <a16:creationId xmlns:a16="http://schemas.microsoft.com/office/drawing/2014/main" id="{C0AE7AC1-DF9A-4D5E-BA6A-8CBE81FAE822}"/>
              </a:ext>
            </a:extLst>
          </p:cNvPr>
          <p:cNvSpPr>
            <a:spLocks xmlns:a="http://schemas.openxmlformats.org/drawingml/2006/main" noGrp="1"/>
          </p:cNvSpPr>
          <p:nvPr/>
        </p:nvSpPr>
        <p:spPr>
          <a:xfrm xmlns:a="http://schemas.openxmlformats.org/drawingml/2006/main">
            <a:off x="62103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CDAD885-C684-4BA0-A0EE-82FFE36D6788}"/>
              </a:ext>
            </a:extLst>
          </p:cNvPr>
          <p:cNvSpPr>
            <a:spLocks xmlns:a="http://schemas.openxmlformats.org/drawingml/2006/main" noGrp="1"/>
          </p:cNvSpPr>
          <p:nvPr/>
        </p:nvSpPr>
        <p:spPr>
          <a:xfrm xmlns:a="http://schemas.openxmlformats.org/drawingml/2006/main">
            <a:off x="64770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원문의 의미·구조</a:t>
            </a:r>
          </a:p>
        </p:txBody>
      </p:sp>
      <p:sp>
        <p:nvSpPr>
          <p:cNvPr id="8" name="">
            <a:extLst xmlns:a="http://schemas.openxmlformats.org/drawingml/2006/main">
              <a:ext uri="{FF2B5EF4-FFF2-40B4-BE49-F238E27FC236}">
                <a16:creationId xmlns:a16="http://schemas.microsoft.com/office/drawing/2014/main" id="{C6E2BEFD-7E14-4273-B1F2-BE0C31B7BA1C}"/>
              </a:ext>
            </a:extLst>
          </p:cNvPr>
          <p:cNvSpPr>
            <a:spLocks xmlns:a="http://schemas.openxmlformats.org/drawingml/2006/main" noGrp="1"/>
          </p:cNvSpPr>
          <p:nvPr/>
        </p:nvSpPr>
        <p:spPr>
          <a:xfrm xmlns:a="http://schemas.openxmlformats.org/drawingml/2006/main">
            <a:off x="64770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첨부 누락, 복합 조건, 서약 오분류, 양식 위치는</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계속 교정해야 했다.</a:t>
            </a:r>
          </a:p>
        </p:txBody>
      </p:sp>
      <p:sp>
        <p:nvSpPr>
          <p:cNvPr id="9" name="">
            <a:extLst xmlns:a="http://schemas.openxmlformats.org/drawingml/2006/main">
              <a:ext uri="{FF2B5EF4-FFF2-40B4-BE49-F238E27FC236}">
                <a16:creationId xmlns:a16="http://schemas.microsoft.com/office/drawing/2014/main" id="{3DBEF273-B75F-406B-B11E-A02FA346C44C}"/>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짧은 평: 성공한 실행 수와 사용 가능한 결과 수를 따로 읽어야 했습니다.</a:t>
            </a:r>
          </a:p>
        </p:txBody>
      </p:sp>
      <p:sp>
        <p:nvSpPr>
          <p:cNvPr id="10" name="">
            <a:extLst xmlns:a="http://schemas.openxmlformats.org/drawingml/2006/main">
              <a:ext uri="{FF2B5EF4-FFF2-40B4-BE49-F238E27FC236}">
                <a16:creationId xmlns:a16="http://schemas.microsoft.com/office/drawing/2014/main" id="{3D3895E5-B30C-4CC8-A15C-D6CDF302C36F}"/>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07 / 22</a:t>
            </a:r>
          </a:p>
        </p:txBody>
      </p:sp>
    </p:spTree>
    <p:extLst>
      <p:ext uri="{BB962C8B-B14F-4D97-AF65-F5344CB8AC3E}">
        <p14:creationId xmlns:p14="http://schemas.microsoft.com/office/powerpoint/2010/main" val="14946687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563545-F5D0-4103-90CD-C7D71C9651C1}"/>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작은 베타 공급에 도달했습니다</a:t>
            </a:r>
          </a:p>
        </p:txBody>
      </p:sp>
      <p:sp>
        <p:nvSpPr>
          <p:cNvPr id="2" name="">
            <a:extLst xmlns:a="http://schemas.openxmlformats.org/drawingml/2006/main">
              <a:ext uri="{FF2B5EF4-FFF2-40B4-BE49-F238E27FC236}">
                <a16:creationId xmlns:a16="http://schemas.microsoft.com/office/drawing/2014/main" id="{16287EF6-FDC6-43FC-B084-907BB732F823}"/>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8월 17일 exact release의 당시 결과</a:t>
            </a:r>
          </a:p>
        </p:txBody>
      </p:sp>
      <p:sp>
        <p:nvSpPr>
          <p:cNvPr id="3" name="">
            <a:extLst xmlns:a="http://schemas.openxmlformats.org/drawingml/2006/main">
              <a:ext uri="{FF2B5EF4-FFF2-40B4-BE49-F238E27FC236}">
                <a16:creationId xmlns:a16="http://schemas.microsoft.com/office/drawing/2014/main" id="{50FA102E-668B-48CD-AC6A-B10FC568343F}"/>
              </a:ext>
            </a:extLst>
          </p:cNvPr>
          <p:cNvSpPr>
            <a:spLocks xmlns:a="http://schemas.openxmlformats.org/drawingml/2006/main" noGrp="1"/>
          </p:cNvSpPr>
          <p:nvPr/>
        </p:nvSpPr>
        <p:spPr>
          <a:xfrm xmlns:a="http://schemas.openxmlformats.org/drawingml/2006/main">
            <a:off x="6858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4D19DA-B648-4FEB-B915-8DA4EB3DE977}"/>
              </a:ext>
            </a:extLst>
          </p:cNvPr>
          <p:cNvSpPr>
            <a:spLocks xmlns:a="http://schemas.openxmlformats.org/drawingml/2006/main" noGrp="1"/>
          </p:cNvSpPr>
          <p:nvPr/>
        </p:nvSpPr>
        <p:spPr>
          <a:xfrm xmlns:a="http://schemas.openxmlformats.org/drawingml/2006/main">
            <a:off x="952500" y="26003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3182F6"/>
                </a:solidFill>
                <a:latin typeface="Apple SD Gothic Neo"/>
                <a:ea typeface="Apple SD Gothic Neo"/>
                <a:cs typeface="Apple SD Gothic Neo"/>
              </a:defRPr>
            </a:pPr>
            <a:r>
              <a:rPr sz="4500" b="1">
                <a:solidFill>
                  <a:srgbClr val="3182F6"/>
                </a:solidFill>
                <a:latin typeface="Apple SD Gothic Neo"/>
                <a:ea typeface="Apple SD Gothic Neo"/>
                <a:cs typeface="Apple SD Gothic Neo"/>
              </a:rPr>
              <a:t>9 / 9</a:t>
            </a:r>
          </a:p>
        </p:txBody>
      </p:sp>
      <p:sp>
        <p:nvSpPr>
          <p:cNvPr id="5" name="">
            <a:extLst xmlns:a="http://schemas.openxmlformats.org/drawingml/2006/main">
              <a:ext uri="{FF2B5EF4-FFF2-40B4-BE49-F238E27FC236}">
                <a16:creationId xmlns:a16="http://schemas.microsoft.com/office/drawing/2014/main" id="{F163143A-5059-4D56-B8F2-7996296C9F67}"/>
              </a:ext>
            </a:extLst>
          </p:cNvPr>
          <p:cNvSpPr>
            <a:spLocks xmlns:a="http://schemas.openxmlformats.org/drawingml/2006/main" noGrp="1"/>
          </p:cNvSpPr>
          <p:nvPr/>
        </p:nvSpPr>
        <p:spPr>
          <a:xfrm xmlns:a="http://schemas.openxmlformats.org/drawingml/2006/main">
            <a:off x="952500" y="37433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서비스 적용 기록</a:t>
            </a:r>
          </a:p>
        </p:txBody>
      </p:sp>
      <p:sp>
        <p:nvSpPr>
          <p:cNvPr id="6" name="">
            <a:extLst xmlns:a="http://schemas.openxmlformats.org/drawingml/2006/main">
              <a:ext uri="{FF2B5EF4-FFF2-40B4-BE49-F238E27FC236}">
                <a16:creationId xmlns:a16="http://schemas.microsoft.com/office/drawing/2014/main" id="{FE72C34E-1445-4A02-AE1B-85327507AC8E}"/>
              </a:ext>
            </a:extLst>
          </p:cNvPr>
          <p:cNvSpPr>
            <a:spLocks xmlns:a="http://schemas.openxmlformats.org/drawingml/2006/main" noGrp="1"/>
          </p:cNvSpPr>
          <p:nvPr/>
        </p:nvSpPr>
        <p:spPr>
          <a:xfrm xmlns:a="http://schemas.openxmlformats.org/drawingml/2006/main">
            <a:off x="62103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16888DD-0DFF-419D-8B3D-5FBBC20EDA62}"/>
              </a:ext>
            </a:extLst>
          </p:cNvPr>
          <p:cNvSpPr>
            <a:spLocks xmlns:a="http://schemas.openxmlformats.org/drawingml/2006/main" noGrp="1"/>
          </p:cNvSpPr>
          <p:nvPr/>
        </p:nvSpPr>
        <p:spPr>
          <a:xfrm xmlns:a="http://schemas.openxmlformats.org/drawingml/2006/main">
            <a:off x="6477000" y="26003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1">
                <a:solidFill>
                  <a:srgbClr val="3182F6"/>
                </a:solidFill>
                <a:latin typeface="Apple SD Gothic Neo"/>
                <a:ea typeface="Apple SD Gothic Neo"/>
                <a:cs typeface="Apple SD Gothic Neo"/>
              </a:defRPr>
            </a:pPr>
            <a:r>
              <a:rPr sz="4500" b="1">
                <a:solidFill>
                  <a:srgbClr val="3182F6"/>
                </a:solidFill>
                <a:latin typeface="Apple SD Gothic Neo"/>
                <a:ea typeface="Apple SD Gothic Neo"/>
                <a:cs typeface="Apple SD Gothic Neo"/>
              </a:rPr>
              <a:t>9 / 9</a:t>
            </a:r>
          </a:p>
        </p:txBody>
      </p:sp>
      <p:sp>
        <p:nvSpPr>
          <p:cNvPr id="8" name="">
            <a:extLst xmlns:a="http://schemas.openxmlformats.org/drawingml/2006/main">
              <a:ext uri="{FF2B5EF4-FFF2-40B4-BE49-F238E27FC236}">
                <a16:creationId xmlns:a16="http://schemas.microsoft.com/office/drawing/2014/main" id="{2146AFD4-8676-47A5-B89E-F407D18AB873}"/>
              </a:ext>
            </a:extLst>
          </p:cNvPr>
          <p:cNvSpPr>
            <a:spLocks xmlns:a="http://schemas.openxmlformats.org/drawingml/2006/main" noGrp="1"/>
          </p:cNvSpPr>
          <p:nvPr/>
        </p:nvSpPr>
        <p:spPr>
          <a:xfrm xmlns:a="http://schemas.openxmlformats.org/drawingml/2006/main">
            <a:off x="6477000" y="37433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snapshot·matcher 확인 기록</a:t>
            </a:r>
          </a:p>
        </p:txBody>
      </p:sp>
      <p:sp>
        <p:nvSpPr>
          <p:cNvPr id="9" name="">
            <a:extLst xmlns:a="http://schemas.openxmlformats.org/drawingml/2006/main">
              <a:ext uri="{FF2B5EF4-FFF2-40B4-BE49-F238E27FC236}">
                <a16:creationId xmlns:a16="http://schemas.microsoft.com/office/drawing/2014/main" id="{CD60C828-3231-46AD-A043-420E6B9682F8}"/>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이 숫자는 작은 cohort의 적용 증거입니다. 실사용 시간 절감과 선정 성과는 별도로 검증해야 합니다.</a:t>
            </a:r>
          </a:p>
        </p:txBody>
      </p:sp>
      <p:sp>
        <p:nvSpPr>
          <p:cNvPr id="10" name="">
            <a:extLst xmlns:a="http://schemas.openxmlformats.org/drawingml/2006/main">
              <a:ext uri="{FF2B5EF4-FFF2-40B4-BE49-F238E27FC236}">
                <a16:creationId xmlns:a16="http://schemas.microsoft.com/office/drawing/2014/main" id="{F5F2346F-E990-4DE5-AD31-2B50098EF56C}"/>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08 / 22</a:t>
            </a:r>
          </a:p>
        </p:txBody>
      </p:sp>
    </p:spTree>
    <p:extLst>
      <p:ext uri="{BB962C8B-B14F-4D97-AF65-F5344CB8AC3E}">
        <p14:creationId xmlns:p14="http://schemas.microsoft.com/office/powerpoint/2010/main" val="15162860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7D0512-4B31-4B1B-AE00-908DFAE07829}"/>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사용자 답변이 남는 제품으로</a:t>
            </a:r>
          </a:p>
        </p:txBody>
      </p:sp>
      <p:sp>
        <p:nvSpPr>
          <p:cNvPr id="2" name="">
            <a:extLst xmlns:a="http://schemas.openxmlformats.org/drawingml/2006/main">
              <a:ext uri="{FF2B5EF4-FFF2-40B4-BE49-F238E27FC236}">
                <a16:creationId xmlns:a16="http://schemas.microsoft.com/office/drawing/2014/main" id="{92B2F726-5B03-415E-9626-4CA94CF644B5}"/>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9월 초에는 입력·권한·재계산의 일관성을 보강했습니다.</a:t>
            </a:r>
          </a:p>
        </p:txBody>
      </p:sp>
      <p:sp>
        <p:nvSpPr>
          <p:cNvPr id="3" name="">
            <a:extLst xmlns:a="http://schemas.openxmlformats.org/drawingml/2006/main">
              <a:ext uri="{FF2B5EF4-FFF2-40B4-BE49-F238E27FC236}">
                <a16:creationId xmlns:a16="http://schemas.microsoft.com/office/drawing/2014/main" id="{842F5D95-4BAC-4AC1-9555-E6ACDADEFA5C}"/>
              </a:ext>
            </a:extLst>
          </p:cNvPr>
          <p:cNvSpPr>
            <a:spLocks xmlns:a="http://schemas.openxmlformats.org/drawingml/2006/main" noGrp="1"/>
          </p:cNvSpPr>
          <p:nvPr/>
        </p:nvSpPr>
        <p:spPr>
          <a:xfrm xmlns:a="http://schemas.openxmlformats.org/drawingml/2006/main">
            <a:off x="685800" y="217170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다시 들어와도</a:t>
            </a:r>
          </a:p>
        </p:txBody>
      </p:sp>
      <p:sp>
        <p:nvSpPr>
          <p:cNvPr id="4" name="">
            <a:extLst xmlns:a="http://schemas.openxmlformats.org/drawingml/2006/main">
              <a:ext uri="{FF2B5EF4-FFF2-40B4-BE49-F238E27FC236}">
                <a16:creationId xmlns:a16="http://schemas.microsoft.com/office/drawing/2014/main" id="{42D7D095-024E-4A24-BCFC-E7D6999EB28D}"/>
              </a:ext>
            </a:extLst>
          </p:cNvPr>
          <p:cNvSpPr>
            <a:spLocks xmlns:a="http://schemas.openxmlformats.org/drawingml/2006/main" noGrp="1"/>
          </p:cNvSpPr>
          <p:nvPr/>
        </p:nvSpPr>
        <p:spPr>
          <a:xfrm xmlns:a="http://schemas.openxmlformats.org/drawingml/2006/main">
            <a:off x="3829050" y="217170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회사 사실과 공고별 답변을 저장하고 복원한다.</a:t>
            </a:r>
          </a:p>
        </p:txBody>
      </p:sp>
      <p:sp>
        <p:nvSpPr>
          <p:cNvPr id="5" name="">
            <a:extLst xmlns:a="http://schemas.openxmlformats.org/drawingml/2006/main">
              <a:ext uri="{FF2B5EF4-FFF2-40B4-BE49-F238E27FC236}">
                <a16:creationId xmlns:a16="http://schemas.microsoft.com/office/drawing/2014/main" id="{AAD24A39-9AA7-4828-9A9B-0F96374A883D}"/>
              </a:ext>
            </a:extLst>
          </p:cNvPr>
          <p:cNvSpPr>
            <a:spLocks xmlns:a="http://schemas.openxmlformats.org/drawingml/2006/main" noGrp="1"/>
          </p:cNvSpPr>
          <p:nvPr/>
        </p:nvSpPr>
        <p:spPr>
          <a:xfrm xmlns:a="http://schemas.openxmlformats.org/drawingml/2006/main">
            <a:off x="685800" y="31813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D2ED1B-8F90-4CF4-BA7A-F61B75245DCC}"/>
              </a:ext>
            </a:extLst>
          </p:cNvPr>
          <p:cNvSpPr>
            <a:spLocks xmlns:a="http://schemas.openxmlformats.org/drawingml/2006/main" noGrp="1"/>
          </p:cNvSpPr>
          <p:nvPr/>
        </p:nvSpPr>
        <p:spPr>
          <a:xfrm xmlns:a="http://schemas.openxmlformats.org/drawingml/2006/main">
            <a:off x="685800" y="3324225"/>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조건이 바뀌면</a:t>
            </a:r>
          </a:p>
        </p:txBody>
      </p:sp>
      <p:sp>
        <p:nvSpPr>
          <p:cNvPr id="7" name="">
            <a:extLst xmlns:a="http://schemas.openxmlformats.org/drawingml/2006/main">
              <a:ext uri="{FF2B5EF4-FFF2-40B4-BE49-F238E27FC236}">
                <a16:creationId xmlns:a16="http://schemas.microsoft.com/office/drawing/2014/main" id="{1D1FFC0A-03B4-4D4A-BFBF-BE725506E409}"/>
              </a:ext>
            </a:extLst>
          </p:cNvPr>
          <p:cNvSpPr>
            <a:spLocks xmlns:a="http://schemas.openxmlformats.org/drawingml/2006/main" noGrp="1"/>
          </p:cNvSpPr>
          <p:nvPr/>
        </p:nvSpPr>
        <p:spPr>
          <a:xfrm xmlns:a="http://schemas.openxmlformats.org/drawingml/2006/main">
            <a:off x="3829050" y="3324225"/>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원천·질문·답변 버전을 구분해 오래된 판정을 막는다.</a:t>
            </a:r>
          </a:p>
        </p:txBody>
      </p:sp>
      <p:sp>
        <p:nvSpPr>
          <p:cNvPr id="8" name="">
            <a:extLst xmlns:a="http://schemas.openxmlformats.org/drawingml/2006/main">
              <a:ext uri="{FF2B5EF4-FFF2-40B4-BE49-F238E27FC236}">
                <a16:creationId xmlns:a16="http://schemas.microsoft.com/office/drawing/2014/main" id="{F96648BE-20B8-4ED5-9DDD-C1DEAC1CE22B}"/>
              </a:ext>
            </a:extLst>
          </p:cNvPr>
          <p:cNvSpPr>
            <a:spLocks xmlns:a="http://schemas.openxmlformats.org/drawingml/2006/main" noGrp="1"/>
          </p:cNvSpPr>
          <p:nvPr/>
        </p:nvSpPr>
        <p:spPr>
          <a:xfrm xmlns:a="http://schemas.openxmlformats.org/drawingml/2006/main">
            <a:off x="685800" y="43338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8CA1C3-C3A5-4C9C-9F6E-D90E99B7FE37}"/>
              </a:ext>
            </a:extLst>
          </p:cNvPr>
          <p:cNvSpPr>
            <a:spLocks xmlns:a="http://schemas.openxmlformats.org/drawingml/2006/main" noGrp="1"/>
          </p:cNvSpPr>
          <p:nvPr/>
        </p:nvSpPr>
        <p:spPr>
          <a:xfrm xmlns:a="http://schemas.openxmlformats.org/drawingml/2006/main">
            <a:off x="685800" y="447675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누가 수정하나</a:t>
            </a:r>
          </a:p>
        </p:txBody>
      </p:sp>
      <p:sp>
        <p:nvSpPr>
          <p:cNvPr id="10" name="">
            <a:extLst xmlns:a="http://schemas.openxmlformats.org/drawingml/2006/main">
              <a:ext uri="{FF2B5EF4-FFF2-40B4-BE49-F238E27FC236}">
                <a16:creationId xmlns:a16="http://schemas.microsoft.com/office/drawing/2014/main" id="{22A6EBDA-1B89-430D-AFEC-4D940733D35A}"/>
              </a:ext>
            </a:extLst>
          </p:cNvPr>
          <p:cNvSpPr>
            <a:spLocks xmlns:a="http://schemas.openxmlformats.org/drawingml/2006/main" noGrp="1"/>
          </p:cNvSpPr>
          <p:nvPr/>
        </p:nvSpPr>
        <p:spPr>
          <a:xfrm xmlns:a="http://schemas.openxmlformats.org/drawingml/2006/main">
            <a:off x="3829050" y="447675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소유자·편집자·조회 전용 권한과 회사 경계를 검사한다.</a:t>
            </a:r>
          </a:p>
        </p:txBody>
      </p:sp>
      <p:sp>
        <p:nvSpPr>
          <p:cNvPr id="11" name="">
            <a:extLst xmlns:a="http://schemas.openxmlformats.org/drawingml/2006/main">
              <a:ext uri="{FF2B5EF4-FFF2-40B4-BE49-F238E27FC236}">
                <a16:creationId xmlns:a16="http://schemas.microsoft.com/office/drawing/2014/main" id="{A714D0D3-F3E9-4F56-BFCF-1A2172A45B46}"/>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2" name="">
            <a:extLst xmlns:a="http://schemas.openxmlformats.org/drawingml/2006/main">
              <a:ext uri="{FF2B5EF4-FFF2-40B4-BE49-F238E27FC236}">
                <a16:creationId xmlns:a16="http://schemas.microsoft.com/office/drawing/2014/main" id="{E9A9A6D9-8CB4-489D-A415-619B10F9EEB9}"/>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09 / 22</a:t>
            </a:r>
          </a:p>
        </p:txBody>
      </p:sp>
    </p:spTree>
    <p:extLst>
      <p:ext uri="{BB962C8B-B14F-4D97-AF65-F5344CB8AC3E}">
        <p14:creationId xmlns:p14="http://schemas.microsoft.com/office/powerpoint/2010/main" val="13520820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5AF614-44CD-4730-A5DA-5BD565DA4282}"/>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자격 확인과 작성 가능 여부를 분리했습니다</a:t>
            </a:r>
          </a:p>
        </p:txBody>
      </p:sp>
      <p:sp>
        <p:nvSpPr>
          <p:cNvPr id="2" name="">
            <a:extLst xmlns:a="http://schemas.openxmlformats.org/drawingml/2006/main">
              <a:ext uri="{FF2B5EF4-FFF2-40B4-BE49-F238E27FC236}">
                <a16:creationId xmlns:a16="http://schemas.microsoft.com/office/drawing/2014/main" id="{5FC4D17B-E5B2-4C4B-80F9-79BF6C301174}"/>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공고 분석의 미완성이 모든 사용자 행동을 막지 않도록 바꿨습니다.</a:t>
            </a:r>
          </a:p>
        </p:txBody>
      </p:sp>
      <p:sp>
        <p:nvSpPr>
          <p:cNvPr id="3" name="">
            <a:extLst xmlns:a="http://schemas.openxmlformats.org/drawingml/2006/main">
              <a:ext uri="{FF2B5EF4-FFF2-40B4-BE49-F238E27FC236}">
                <a16:creationId xmlns:a16="http://schemas.microsoft.com/office/drawing/2014/main" id="{769AE4A5-5C0F-4B08-B9D2-E78F9B8C3448}"/>
              </a:ext>
            </a:extLst>
          </p:cNvPr>
          <p:cNvSpPr>
            <a:spLocks xmlns:a="http://schemas.openxmlformats.org/drawingml/2006/main" noGrp="1"/>
          </p:cNvSpPr>
          <p:nvPr/>
        </p:nvSpPr>
        <p:spPr>
          <a:xfrm xmlns:a="http://schemas.openxmlformats.org/drawingml/2006/main">
            <a:off x="6858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D2A113-15EB-465A-8499-4C0A7590D74B}"/>
              </a:ext>
            </a:extLst>
          </p:cNvPr>
          <p:cNvSpPr>
            <a:spLocks xmlns:a="http://schemas.openxmlformats.org/drawingml/2006/main" noGrp="1"/>
          </p:cNvSpPr>
          <p:nvPr/>
        </p:nvSpPr>
        <p:spPr>
          <a:xfrm xmlns:a="http://schemas.openxmlformats.org/drawingml/2006/main">
            <a:off x="9525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조건 검토</a:t>
            </a:r>
          </a:p>
        </p:txBody>
      </p:sp>
      <p:sp>
        <p:nvSpPr>
          <p:cNvPr id="5" name="">
            <a:extLst xmlns:a="http://schemas.openxmlformats.org/drawingml/2006/main">
              <a:ext uri="{FF2B5EF4-FFF2-40B4-BE49-F238E27FC236}">
                <a16:creationId xmlns:a16="http://schemas.microsoft.com/office/drawing/2014/main" id="{5B204A3A-4E8B-4767-859B-F38B2891A8CB}"/>
              </a:ext>
            </a:extLst>
          </p:cNvPr>
          <p:cNvSpPr>
            <a:spLocks xmlns:a="http://schemas.openxmlformats.org/drawingml/2006/main" noGrp="1"/>
          </p:cNvSpPr>
          <p:nvPr/>
        </p:nvSpPr>
        <p:spPr>
          <a:xfrm xmlns:a="http://schemas.openxmlformats.org/drawingml/2006/main">
            <a:off x="9525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확인된 사실과 남은 쟁점을 보여주고 필요한 답을</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요청한다.</a:t>
            </a:r>
          </a:p>
        </p:txBody>
      </p:sp>
      <p:sp>
        <p:nvSpPr>
          <p:cNvPr id="6" name="">
            <a:extLst xmlns:a="http://schemas.openxmlformats.org/drawingml/2006/main">
              <a:ext uri="{FF2B5EF4-FFF2-40B4-BE49-F238E27FC236}">
                <a16:creationId xmlns:a16="http://schemas.microsoft.com/office/drawing/2014/main" id="{2707F357-6963-4409-803C-FEEC5CDB6D4C}"/>
              </a:ext>
            </a:extLst>
          </p:cNvPr>
          <p:cNvSpPr>
            <a:spLocks xmlns:a="http://schemas.openxmlformats.org/drawingml/2006/main" noGrp="1"/>
          </p:cNvSpPr>
          <p:nvPr/>
        </p:nvSpPr>
        <p:spPr>
          <a:xfrm xmlns:a="http://schemas.openxmlformats.org/drawingml/2006/main">
            <a:off x="6210300" y="2238375"/>
            <a:ext cx="52959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56D08D-6781-45CD-88E7-174FC53E8B83}"/>
              </a:ext>
            </a:extLst>
          </p:cNvPr>
          <p:cNvSpPr>
            <a:spLocks xmlns:a="http://schemas.openxmlformats.org/drawingml/2006/main" noGrp="1"/>
          </p:cNvSpPr>
          <p:nvPr/>
        </p:nvSpPr>
        <p:spPr>
          <a:xfrm xmlns:a="http://schemas.openxmlformats.org/drawingml/2006/main">
            <a:off x="6477000" y="260032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서류 작성</a:t>
            </a:r>
          </a:p>
        </p:txBody>
      </p:sp>
      <p:sp>
        <p:nvSpPr>
          <p:cNvPr id="8" name="">
            <a:extLst xmlns:a="http://schemas.openxmlformats.org/drawingml/2006/main">
              <a:ext uri="{FF2B5EF4-FFF2-40B4-BE49-F238E27FC236}">
                <a16:creationId xmlns:a16="http://schemas.microsoft.com/office/drawing/2014/main" id="{852DFE5A-A73B-4F4E-908A-60A2154FE27E}"/>
              </a:ext>
            </a:extLst>
          </p:cNvPr>
          <p:cNvSpPr>
            <a:spLocks xmlns:a="http://schemas.openxmlformats.org/drawingml/2006/main" noGrp="1"/>
          </p:cNvSpPr>
          <p:nvPr/>
        </p:nvSpPr>
        <p:spPr>
          <a:xfrm xmlns:a="http://schemas.openxmlformats.org/drawingml/2006/main">
            <a:off x="6477000" y="369570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편집 가능한 문서를 열고 안전한 위치의 입력과</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문안 작성을 돕는다.</a:t>
            </a:r>
          </a:p>
        </p:txBody>
      </p:sp>
      <p:sp>
        <p:nvSpPr>
          <p:cNvPr id="9" name="">
            <a:extLst xmlns:a="http://schemas.openxmlformats.org/drawingml/2006/main">
              <a:ext uri="{FF2B5EF4-FFF2-40B4-BE49-F238E27FC236}">
                <a16:creationId xmlns:a16="http://schemas.microsoft.com/office/drawing/2014/main" id="{917988C3-15B1-49BD-AB14-1074C7AFA7CF}"/>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후보 노출, 자격 확정, 문서 완성은 서로 다른 상태입니다.</a:t>
            </a:r>
          </a:p>
        </p:txBody>
      </p:sp>
      <p:sp>
        <p:nvSpPr>
          <p:cNvPr id="10" name="">
            <a:extLst xmlns:a="http://schemas.openxmlformats.org/drawingml/2006/main">
              <a:ext uri="{FF2B5EF4-FFF2-40B4-BE49-F238E27FC236}">
                <a16:creationId xmlns:a16="http://schemas.microsoft.com/office/drawing/2014/main" id="{196B44A1-BB86-44C2-A211-41CD5827D996}"/>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10 / 22</a:t>
            </a:r>
          </a:p>
        </p:txBody>
      </p:sp>
    </p:spTree>
    <p:extLst>
      <p:ext uri="{BB962C8B-B14F-4D97-AF65-F5344CB8AC3E}">
        <p14:creationId xmlns:p14="http://schemas.microsoft.com/office/powerpoint/2010/main" val="1621929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74494E-62CA-4E8F-96E1-C6886459518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최근에는 실제 문항 작성에 집중했습니다</a:t>
            </a:r>
          </a:p>
        </p:txBody>
      </p:sp>
      <p:sp>
        <p:nvSpPr>
          <p:cNvPr id="2" name="">
            <a:extLst xmlns:a="http://schemas.openxmlformats.org/drawingml/2006/main">
              <a:ext uri="{FF2B5EF4-FFF2-40B4-BE49-F238E27FC236}">
                <a16:creationId xmlns:a16="http://schemas.microsoft.com/office/drawing/2014/main" id="{BB4D7B3A-F568-4482-9D50-BD27A387ED64}"/>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9월 30일–10월 1일, 별도 작성 브랜치의 구현과 배포 기록</a:t>
            </a:r>
          </a:p>
        </p:txBody>
      </p:sp>
      <p:sp>
        <p:nvSpPr>
          <p:cNvPr id="3" name="">
            <a:extLst xmlns:a="http://schemas.openxmlformats.org/drawingml/2006/main">
              <a:ext uri="{FF2B5EF4-FFF2-40B4-BE49-F238E27FC236}">
                <a16:creationId xmlns:a16="http://schemas.microsoft.com/office/drawing/2014/main" id="{B4BDCF38-CF09-43B9-AF1F-968696294E1B}"/>
              </a:ext>
            </a:extLst>
          </p:cNvPr>
          <p:cNvSpPr>
            <a:spLocks xmlns:a="http://schemas.openxmlformats.org/drawingml/2006/main" noGrp="1"/>
          </p:cNvSpPr>
          <p:nvPr/>
        </p:nvSpPr>
        <p:spPr>
          <a:xfrm xmlns:a="http://schemas.openxmlformats.org/drawingml/2006/main">
            <a:off x="685800" y="217170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회사 자료 재사용</a:t>
            </a:r>
          </a:p>
        </p:txBody>
      </p:sp>
      <p:sp>
        <p:nvSpPr>
          <p:cNvPr id="4" name="">
            <a:extLst xmlns:a="http://schemas.openxmlformats.org/drawingml/2006/main">
              <a:ext uri="{FF2B5EF4-FFF2-40B4-BE49-F238E27FC236}">
                <a16:creationId xmlns:a16="http://schemas.microsoft.com/office/drawing/2014/main" id="{B10C9F39-3B61-4824-92BB-43E1F8C5D72C}"/>
              </a:ext>
            </a:extLst>
          </p:cNvPr>
          <p:cNvSpPr>
            <a:spLocks xmlns:a="http://schemas.openxmlformats.org/drawingml/2006/main" noGrp="1"/>
          </p:cNvSpPr>
          <p:nvPr/>
        </p:nvSpPr>
        <p:spPr>
          <a:xfrm xmlns:a="http://schemas.openxmlformats.org/drawingml/2006/main">
            <a:off x="3829050" y="217170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텍스트·PDF 자료와 이번 신청의 사업 설명을 연결했다.</a:t>
            </a:r>
          </a:p>
        </p:txBody>
      </p:sp>
      <p:sp>
        <p:nvSpPr>
          <p:cNvPr id="5" name="">
            <a:extLst xmlns:a="http://schemas.openxmlformats.org/drawingml/2006/main">
              <a:ext uri="{FF2B5EF4-FFF2-40B4-BE49-F238E27FC236}">
                <a16:creationId xmlns:a16="http://schemas.microsoft.com/office/drawing/2014/main" id="{23F18635-FCC2-4DB7-BD76-CD6C9EB236FC}"/>
              </a:ext>
            </a:extLst>
          </p:cNvPr>
          <p:cNvSpPr>
            <a:spLocks xmlns:a="http://schemas.openxmlformats.org/drawingml/2006/main" noGrp="1"/>
          </p:cNvSpPr>
          <p:nvPr/>
        </p:nvSpPr>
        <p:spPr>
          <a:xfrm xmlns:a="http://schemas.openxmlformats.org/drawingml/2006/main">
            <a:off x="685800" y="31813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4E99D3-0B21-42E1-9489-6F042D10136C}"/>
              </a:ext>
            </a:extLst>
          </p:cNvPr>
          <p:cNvSpPr>
            <a:spLocks xmlns:a="http://schemas.openxmlformats.org/drawingml/2006/main" noGrp="1"/>
          </p:cNvSpPr>
          <p:nvPr/>
        </p:nvSpPr>
        <p:spPr>
          <a:xfrm xmlns:a="http://schemas.openxmlformats.org/drawingml/2006/main">
            <a:off x="685800" y="3324225"/>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문항별 작성</a:t>
            </a:r>
          </a:p>
        </p:txBody>
      </p:sp>
      <p:sp>
        <p:nvSpPr>
          <p:cNvPr id="7" name="">
            <a:extLst xmlns:a="http://schemas.openxmlformats.org/drawingml/2006/main">
              <a:ext uri="{FF2B5EF4-FFF2-40B4-BE49-F238E27FC236}">
                <a16:creationId xmlns:a16="http://schemas.microsoft.com/office/drawing/2014/main" id="{0F5D4B29-80FC-4B72-BAF7-2D84F1460F4D}"/>
              </a:ext>
            </a:extLst>
          </p:cNvPr>
          <p:cNvSpPr>
            <a:spLocks xmlns:a="http://schemas.openxmlformats.org/drawingml/2006/main" noGrp="1"/>
          </p:cNvSpPr>
          <p:nvPr/>
        </p:nvSpPr>
        <p:spPr>
          <a:xfrm xmlns:a="http://schemas.openxmlformats.org/drawingml/2006/main">
            <a:off x="3829050" y="3324225"/>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초안의 근거·보관·복사·파일 반영을 구분했다.</a:t>
            </a:r>
          </a:p>
        </p:txBody>
      </p:sp>
      <p:sp>
        <p:nvSpPr>
          <p:cNvPr id="8" name="">
            <a:extLst xmlns:a="http://schemas.openxmlformats.org/drawingml/2006/main">
              <a:ext uri="{FF2B5EF4-FFF2-40B4-BE49-F238E27FC236}">
                <a16:creationId xmlns:a16="http://schemas.microsoft.com/office/drawing/2014/main" id="{7355773F-17E1-4FC3-952D-2DEC2FEA9600}"/>
              </a:ext>
            </a:extLst>
          </p:cNvPr>
          <p:cNvSpPr>
            <a:spLocks xmlns:a="http://schemas.openxmlformats.org/drawingml/2006/main" noGrp="1"/>
          </p:cNvSpPr>
          <p:nvPr/>
        </p:nvSpPr>
        <p:spPr>
          <a:xfrm xmlns:a="http://schemas.openxmlformats.org/drawingml/2006/main">
            <a:off x="685800" y="43338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FB3FB5-4925-447E-B327-9A2265212729}"/>
              </a:ext>
            </a:extLst>
          </p:cNvPr>
          <p:cNvSpPr>
            <a:spLocks xmlns:a="http://schemas.openxmlformats.org/drawingml/2006/main" noGrp="1"/>
          </p:cNvSpPr>
          <p:nvPr/>
        </p:nvSpPr>
        <p:spPr>
          <a:xfrm xmlns:a="http://schemas.openxmlformats.org/drawingml/2006/main">
            <a:off x="685800" y="447675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문서 안전성</a:t>
            </a:r>
          </a:p>
        </p:txBody>
      </p:sp>
      <p:sp>
        <p:nvSpPr>
          <p:cNvPr id="10" name="">
            <a:extLst xmlns:a="http://schemas.openxmlformats.org/drawingml/2006/main">
              <a:ext uri="{FF2B5EF4-FFF2-40B4-BE49-F238E27FC236}">
                <a16:creationId xmlns:a16="http://schemas.microsoft.com/office/drawing/2014/main" id="{6E0862B6-3000-40FC-B8A9-9C5CC8CC4E78}"/>
              </a:ext>
            </a:extLst>
          </p:cNvPr>
          <p:cNvSpPr>
            <a:spLocks xmlns:a="http://schemas.openxmlformats.org/drawingml/2006/main" noGrp="1"/>
          </p:cNvSpPr>
          <p:nvPr/>
        </p:nvSpPr>
        <p:spPr>
          <a:xfrm xmlns:a="http://schemas.openxmlformats.org/drawingml/2006/main">
            <a:off x="3829050" y="447675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표 넘침 보호, 선택적 쪽 나눔·Undo와 수치 점검을 추가했다.</a:t>
            </a:r>
          </a:p>
        </p:txBody>
      </p:sp>
      <p:sp>
        <p:nvSpPr>
          <p:cNvPr id="11" name="">
            <a:extLst xmlns:a="http://schemas.openxmlformats.org/drawingml/2006/main">
              <a:ext uri="{FF2B5EF4-FFF2-40B4-BE49-F238E27FC236}">
                <a16:creationId xmlns:a16="http://schemas.microsoft.com/office/drawing/2014/main" id="{D24378C6-F5D8-4677-88C5-0FF158D9E92B}"/>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구현·격리 검증과 일부 화면 배포가 있습니다. 새 작성 기능의 실사용 인수는 남아 있습니다.</a:t>
            </a:r>
          </a:p>
        </p:txBody>
      </p:sp>
      <p:sp>
        <p:nvSpPr>
          <p:cNvPr id="12" name="">
            <a:extLst xmlns:a="http://schemas.openxmlformats.org/drawingml/2006/main">
              <a:ext uri="{FF2B5EF4-FFF2-40B4-BE49-F238E27FC236}">
                <a16:creationId xmlns:a16="http://schemas.microsoft.com/office/drawing/2014/main" id="{E93F899F-F548-4DDE-A17A-ADA2922AEB33}"/>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11 / 22</a:t>
            </a:r>
          </a:p>
        </p:txBody>
      </p:sp>
    </p:spTree>
    <p:extLst>
      <p:ext uri="{BB962C8B-B14F-4D97-AF65-F5344CB8AC3E}">
        <p14:creationId xmlns:p14="http://schemas.microsoft.com/office/powerpoint/2010/main" val="427027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0D407D-4EF6-477E-8058-38EA2D228D48}"/>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만들어낸 것</a:t>
            </a:r>
          </a:p>
        </p:txBody>
      </p:sp>
      <p:sp>
        <p:nvSpPr>
          <p:cNvPr id="2" name="">
            <a:extLst xmlns:a="http://schemas.openxmlformats.org/drawingml/2006/main">
              <a:ext uri="{FF2B5EF4-FFF2-40B4-BE49-F238E27FC236}">
                <a16:creationId xmlns:a16="http://schemas.microsoft.com/office/drawing/2014/main" id="{70A37645-6C39-40D1-B3CD-37A8167D2D48}"/>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코드와 당시 검증 기록으로 설명할 수 있는 자산</a:t>
            </a:r>
          </a:p>
        </p:txBody>
      </p:sp>
      <p:sp>
        <p:nvSpPr>
          <p:cNvPr id="3" name="">
            <a:extLst xmlns:a="http://schemas.openxmlformats.org/drawingml/2006/main">
              <a:ext uri="{FF2B5EF4-FFF2-40B4-BE49-F238E27FC236}">
                <a16:creationId xmlns:a16="http://schemas.microsoft.com/office/drawing/2014/main" id="{2043A430-B6B1-4B67-9ACF-18ABC05F52DA}"/>
              </a:ext>
            </a:extLst>
          </p:cNvPr>
          <p:cNvSpPr>
            <a:spLocks xmlns:a="http://schemas.openxmlformats.org/drawingml/2006/main" noGrp="1"/>
          </p:cNvSpPr>
          <p:nvPr/>
        </p:nvSpPr>
        <p:spPr>
          <a:xfrm xmlns:a="http://schemas.openxmlformats.org/drawingml/2006/main">
            <a:off x="685800" y="2171700"/>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판단 기반</a:t>
            </a:r>
          </a:p>
        </p:txBody>
      </p:sp>
      <p:sp>
        <p:nvSpPr>
          <p:cNvPr id="4" name="">
            <a:extLst xmlns:a="http://schemas.openxmlformats.org/drawingml/2006/main">
              <a:ext uri="{FF2B5EF4-FFF2-40B4-BE49-F238E27FC236}">
                <a16:creationId xmlns:a16="http://schemas.microsoft.com/office/drawing/2014/main" id="{6334E7F4-765E-491C-B6CA-B65F5F6DBC1E}"/>
              </a:ext>
            </a:extLst>
          </p:cNvPr>
          <p:cNvSpPr>
            <a:spLocks xmlns:a="http://schemas.openxmlformats.org/drawingml/2006/main" noGrp="1"/>
          </p:cNvSpPr>
          <p:nvPr/>
        </p:nvSpPr>
        <p:spPr>
          <a:xfrm xmlns:a="http://schemas.openxmlformats.org/drawingml/2006/main">
            <a:off x="3829050" y="2171700"/>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공고 수집·조건 규칙·근거·검수·승격과 버전 결속</a:t>
            </a:r>
          </a:p>
        </p:txBody>
      </p:sp>
      <p:sp>
        <p:nvSpPr>
          <p:cNvPr id="5" name="">
            <a:extLst xmlns:a="http://schemas.openxmlformats.org/drawingml/2006/main">
              <a:ext uri="{FF2B5EF4-FFF2-40B4-BE49-F238E27FC236}">
                <a16:creationId xmlns:a16="http://schemas.microsoft.com/office/drawing/2014/main" id="{FF9EAC15-6BE2-466B-8384-9DA506D8B314}"/>
              </a:ext>
            </a:extLst>
          </p:cNvPr>
          <p:cNvSpPr>
            <a:spLocks xmlns:a="http://schemas.openxmlformats.org/drawingml/2006/main" noGrp="1"/>
          </p:cNvSpPr>
          <p:nvPr/>
        </p:nvSpPr>
        <p:spPr>
          <a:xfrm xmlns:a="http://schemas.openxmlformats.org/drawingml/2006/main">
            <a:off x="685800" y="297180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75DFD3-3DBE-4956-8F1D-376C3D8B1F2B}"/>
              </a:ext>
            </a:extLst>
          </p:cNvPr>
          <p:cNvSpPr>
            <a:spLocks xmlns:a="http://schemas.openxmlformats.org/drawingml/2006/main" noGrp="1"/>
          </p:cNvSpPr>
          <p:nvPr/>
        </p:nvSpPr>
        <p:spPr>
          <a:xfrm xmlns:a="http://schemas.openxmlformats.org/drawingml/2006/main">
            <a:off x="685800" y="3114675"/>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확인 흐름</a:t>
            </a:r>
          </a:p>
        </p:txBody>
      </p:sp>
      <p:sp>
        <p:nvSpPr>
          <p:cNvPr id="7" name="">
            <a:extLst xmlns:a="http://schemas.openxmlformats.org/drawingml/2006/main">
              <a:ext uri="{FF2B5EF4-FFF2-40B4-BE49-F238E27FC236}">
                <a16:creationId xmlns:a16="http://schemas.microsoft.com/office/drawing/2014/main" id="{32228562-DE4F-4B4B-8BCB-ADE2DA17315E}"/>
              </a:ext>
            </a:extLst>
          </p:cNvPr>
          <p:cNvSpPr>
            <a:spLocks xmlns:a="http://schemas.openxmlformats.org/drawingml/2006/main" noGrp="1"/>
          </p:cNvSpPr>
          <p:nvPr/>
        </p:nvSpPr>
        <p:spPr>
          <a:xfrm xmlns:a="http://schemas.openxmlformats.org/drawingml/2006/main">
            <a:off x="3829050" y="3114675"/>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회사정보·질문·답변 보존과 권한·충돌·철회 처리</a:t>
            </a:r>
          </a:p>
        </p:txBody>
      </p:sp>
      <p:sp>
        <p:nvSpPr>
          <p:cNvPr id="8" name="">
            <a:extLst xmlns:a="http://schemas.openxmlformats.org/drawingml/2006/main">
              <a:ext uri="{FF2B5EF4-FFF2-40B4-BE49-F238E27FC236}">
                <a16:creationId xmlns:a16="http://schemas.microsoft.com/office/drawing/2014/main" id="{53D8589C-10E3-479F-A034-DBC35AF02FB0}"/>
              </a:ext>
            </a:extLst>
          </p:cNvPr>
          <p:cNvSpPr>
            <a:spLocks xmlns:a="http://schemas.openxmlformats.org/drawingml/2006/main" noGrp="1"/>
          </p:cNvSpPr>
          <p:nvPr/>
        </p:nvSpPr>
        <p:spPr>
          <a:xfrm xmlns:a="http://schemas.openxmlformats.org/drawingml/2006/main">
            <a:off x="685800" y="39147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D585DE-A3C5-4A9B-B5EE-93E466DFC228}"/>
              </a:ext>
            </a:extLst>
          </p:cNvPr>
          <p:cNvSpPr>
            <a:spLocks xmlns:a="http://schemas.openxmlformats.org/drawingml/2006/main" noGrp="1"/>
          </p:cNvSpPr>
          <p:nvPr/>
        </p:nvSpPr>
        <p:spPr>
          <a:xfrm xmlns:a="http://schemas.openxmlformats.org/drawingml/2006/main">
            <a:off x="685800" y="4057650"/>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작성 기반</a:t>
            </a:r>
          </a:p>
        </p:txBody>
      </p:sp>
      <p:sp>
        <p:nvSpPr>
          <p:cNvPr id="10" name="">
            <a:extLst xmlns:a="http://schemas.openxmlformats.org/drawingml/2006/main">
              <a:ext uri="{FF2B5EF4-FFF2-40B4-BE49-F238E27FC236}">
                <a16:creationId xmlns:a16="http://schemas.microsoft.com/office/drawing/2014/main" id="{BFC6D661-762A-4B85-9546-355672D17D3F}"/>
              </a:ext>
            </a:extLst>
          </p:cNvPr>
          <p:cNvSpPr>
            <a:spLocks xmlns:a="http://schemas.openxmlformats.org/drawingml/2006/main" noGrp="1"/>
          </p:cNvSpPr>
          <p:nvPr/>
        </p:nvSpPr>
        <p:spPr>
          <a:xfrm xmlns:a="http://schemas.openxmlformats.org/drawingml/2006/main">
            <a:off x="3829050" y="4057650"/>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원본 편집·문안 제안·사용자 반영·저장본과 재사용</a:t>
            </a:r>
          </a:p>
        </p:txBody>
      </p:sp>
      <p:sp>
        <p:nvSpPr>
          <p:cNvPr id="11" name="">
            <a:extLst xmlns:a="http://schemas.openxmlformats.org/drawingml/2006/main">
              <a:ext uri="{FF2B5EF4-FFF2-40B4-BE49-F238E27FC236}">
                <a16:creationId xmlns:a16="http://schemas.microsoft.com/office/drawing/2014/main" id="{D6F1BCB6-BBB4-4261-9399-EE1AF009A211}"/>
              </a:ext>
            </a:extLst>
          </p:cNvPr>
          <p:cNvSpPr>
            <a:spLocks xmlns:a="http://schemas.openxmlformats.org/drawingml/2006/main" noGrp="1"/>
          </p:cNvSpPr>
          <p:nvPr/>
        </p:nvSpPr>
        <p:spPr>
          <a:xfrm xmlns:a="http://schemas.openxmlformats.org/drawingml/2006/main">
            <a:off x="685800" y="48577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A7A128-5FD9-41E7-A6BB-A198DCC134E8}"/>
              </a:ext>
            </a:extLst>
          </p:cNvPr>
          <p:cNvSpPr>
            <a:spLocks xmlns:a="http://schemas.openxmlformats.org/drawingml/2006/main" noGrp="1"/>
          </p:cNvSpPr>
          <p:nvPr/>
        </p:nvSpPr>
        <p:spPr>
          <a:xfrm xmlns:a="http://schemas.openxmlformats.org/drawingml/2006/main">
            <a:off x="685800" y="5000625"/>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반복 실행 기반</a:t>
            </a:r>
          </a:p>
        </p:txBody>
      </p:sp>
      <p:sp>
        <p:nvSpPr>
          <p:cNvPr id="13" name="">
            <a:extLst xmlns:a="http://schemas.openxmlformats.org/drawingml/2006/main">
              <a:ext uri="{FF2B5EF4-FFF2-40B4-BE49-F238E27FC236}">
                <a16:creationId xmlns:a16="http://schemas.microsoft.com/office/drawing/2014/main" id="{0534CABF-0B9A-4291-9F8B-92B7C930DE39}"/>
              </a:ext>
            </a:extLst>
          </p:cNvPr>
          <p:cNvSpPr>
            <a:spLocks xmlns:a="http://schemas.openxmlformats.org/drawingml/2006/main" noGrp="1"/>
          </p:cNvSpPr>
          <p:nvPr/>
        </p:nvSpPr>
        <p:spPr>
          <a:xfrm xmlns:a="http://schemas.openxmlformats.org/drawingml/2006/main">
            <a:off x="3829050" y="5000625"/>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승인 범위·불변 이력·오류 격리·중단 후 재개</a:t>
            </a:r>
          </a:p>
        </p:txBody>
      </p:sp>
      <p:sp>
        <p:nvSpPr>
          <p:cNvPr id="14" name="">
            <a:extLst xmlns:a="http://schemas.openxmlformats.org/drawingml/2006/main">
              <a:ext uri="{FF2B5EF4-FFF2-40B4-BE49-F238E27FC236}">
                <a16:creationId xmlns:a16="http://schemas.microsoft.com/office/drawing/2014/main" id="{F8DBFAC9-F703-4EBE-B4E9-F750A1DC307A}"/>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F1E5E7C6-1FEE-492B-B53E-CCD6AE90DF40}"/>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12 / 22</a:t>
            </a:r>
          </a:p>
        </p:txBody>
      </p:sp>
    </p:spTree>
    <p:extLst>
      <p:ext uri="{BB962C8B-B14F-4D97-AF65-F5344CB8AC3E}">
        <p14:creationId xmlns:p14="http://schemas.microsoft.com/office/powerpoint/2010/main" val="15222808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F05A44E-AA37-4508-A71A-99DFA437646D}"/>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달성하지 못했거나 증명하지 못한 목표</a:t>
            </a:r>
          </a:p>
        </p:txBody>
      </p:sp>
      <p:sp>
        <p:nvSpPr>
          <p:cNvPr id="2" name="">
            <a:extLst xmlns:a="http://schemas.openxmlformats.org/drawingml/2006/main">
              <a:ext uri="{FF2B5EF4-FFF2-40B4-BE49-F238E27FC236}">
                <a16:creationId xmlns:a16="http://schemas.microsoft.com/office/drawing/2014/main" id="{9AB988B5-DA2A-4DA9-9702-14C9C75FA2B9}"/>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제품의 약속과 검증의 범위를 다시 맞춰야 합니다.</a:t>
            </a:r>
          </a:p>
        </p:txBody>
      </p:sp>
      <p:sp>
        <p:nvSpPr>
          <p:cNvPr id="3" name="">
            <a:extLst xmlns:a="http://schemas.openxmlformats.org/drawingml/2006/main">
              <a:ext uri="{FF2B5EF4-FFF2-40B4-BE49-F238E27FC236}">
                <a16:creationId xmlns:a16="http://schemas.microsoft.com/office/drawing/2014/main" id="{0F67D0C5-960A-41F3-88F7-118A4B2B3DB2}"/>
              </a:ext>
            </a:extLst>
          </p:cNvPr>
          <p:cNvSpPr>
            <a:spLocks xmlns:a="http://schemas.openxmlformats.org/drawingml/2006/main" noGrp="1"/>
          </p:cNvSpPr>
          <p:nvPr/>
        </p:nvSpPr>
        <p:spPr>
          <a:xfrm xmlns:a="http://schemas.openxmlformats.org/drawingml/2006/main">
            <a:off x="685800" y="2171700"/>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번호만으로 모든 자격 확정</a:t>
            </a:r>
          </a:p>
        </p:txBody>
      </p:sp>
      <p:sp>
        <p:nvSpPr>
          <p:cNvPr id="4" name="">
            <a:extLst xmlns:a="http://schemas.openxmlformats.org/drawingml/2006/main">
              <a:ext uri="{FF2B5EF4-FFF2-40B4-BE49-F238E27FC236}">
                <a16:creationId xmlns:a16="http://schemas.microsoft.com/office/drawing/2014/main" id="{FBF1D330-010A-443C-BA77-76ACD615AC1D}"/>
              </a:ext>
            </a:extLst>
          </p:cNvPr>
          <p:cNvSpPr>
            <a:spLocks xmlns:a="http://schemas.openxmlformats.org/drawingml/2006/main" noGrp="1"/>
          </p:cNvSpPr>
          <p:nvPr/>
        </p:nvSpPr>
        <p:spPr>
          <a:xfrm xmlns:a="http://schemas.openxmlformats.org/drawingml/2006/main">
            <a:off x="3829050" y="2171700"/>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공식 정보의 공백과 공고별 조건·원문 충돌이 남았다.</a:t>
            </a:r>
          </a:p>
        </p:txBody>
      </p:sp>
      <p:sp>
        <p:nvSpPr>
          <p:cNvPr id="5" name="">
            <a:extLst xmlns:a="http://schemas.openxmlformats.org/drawingml/2006/main">
              <a:ext uri="{FF2B5EF4-FFF2-40B4-BE49-F238E27FC236}">
                <a16:creationId xmlns:a16="http://schemas.microsoft.com/office/drawing/2014/main" id="{BB4A70E9-781E-4A5A-9C63-80B655205043}"/>
              </a:ext>
            </a:extLst>
          </p:cNvPr>
          <p:cNvSpPr>
            <a:spLocks xmlns:a="http://schemas.openxmlformats.org/drawingml/2006/main" noGrp="1"/>
          </p:cNvSpPr>
          <p:nvPr/>
        </p:nvSpPr>
        <p:spPr>
          <a:xfrm xmlns:a="http://schemas.openxmlformats.org/drawingml/2006/main">
            <a:off x="685800" y="297180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57967D-5D1D-42CE-A6FE-6E9A96DAF6EF}"/>
              </a:ext>
            </a:extLst>
          </p:cNvPr>
          <p:cNvSpPr>
            <a:spLocks xmlns:a="http://schemas.openxmlformats.org/drawingml/2006/main" noGrp="1"/>
          </p:cNvSpPr>
          <p:nvPr/>
        </p:nvSpPr>
        <p:spPr>
          <a:xfrm xmlns:a="http://schemas.openxmlformats.org/drawingml/2006/main">
            <a:off x="685800" y="3114675"/>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전량 분석과 모든 양식</a:t>
            </a:r>
          </a:p>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자동작성</a:t>
            </a:r>
          </a:p>
        </p:txBody>
      </p:sp>
      <p:sp>
        <p:nvSpPr>
          <p:cNvPr id="7" name="">
            <a:extLst xmlns:a="http://schemas.openxmlformats.org/drawingml/2006/main">
              <a:ext uri="{FF2B5EF4-FFF2-40B4-BE49-F238E27FC236}">
                <a16:creationId xmlns:a16="http://schemas.microsoft.com/office/drawing/2014/main" id="{74929C90-393E-4C39-86D6-2C2F76BD78E4}"/>
              </a:ext>
            </a:extLst>
          </p:cNvPr>
          <p:cNvSpPr>
            <a:spLocks xmlns:a="http://schemas.openxmlformats.org/drawingml/2006/main" noGrp="1"/>
          </p:cNvSpPr>
          <p:nvPr/>
        </p:nvSpPr>
        <p:spPr>
          <a:xfrm xmlns:a="http://schemas.openxmlformats.org/drawingml/2006/main">
            <a:off x="3829050" y="3114675"/>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변환·검수·서술형 문항·표 배치가 별도 병목이었다.</a:t>
            </a:r>
          </a:p>
        </p:txBody>
      </p:sp>
      <p:sp>
        <p:nvSpPr>
          <p:cNvPr id="8" name="">
            <a:extLst xmlns:a="http://schemas.openxmlformats.org/drawingml/2006/main">
              <a:ext uri="{FF2B5EF4-FFF2-40B4-BE49-F238E27FC236}">
                <a16:creationId xmlns:a16="http://schemas.microsoft.com/office/drawing/2014/main" id="{420C1770-2A1A-42CF-85EE-DB3232693C71}"/>
              </a:ext>
            </a:extLst>
          </p:cNvPr>
          <p:cNvSpPr>
            <a:spLocks xmlns:a="http://schemas.openxmlformats.org/drawingml/2006/main" noGrp="1"/>
          </p:cNvSpPr>
          <p:nvPr/>
        </p:nvSpPr>
        <p:spPr>
          <a:xfrm xmlns:a="http://schemas.openxmlformats.org/drawingml/2006/main">
            <a:off x="685800" y="39147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3C39548-2D2B-497A-826D-C75477AA5027}"/>
              </a:ext>
            </a:extLst>
          </p:cNvPr>
          <p:cNvSpPr>
            <a:spLocks xmlns:a="http://schemas.openxmlformats.org/drawingml/2006/main" noGrp="1"/>
          </p:cNvSpPr>
          <p:nvPr/>
        </p:nvSpPr>
        <p:spPr>
          <a:xfrm xmlns:a="http://schemas.openxmlformats.org/drawingml/2006/main">
            <a:off x="685800" y="4057650"/>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고객의 시간 절감·반복 사용</a:t>
            </a:r>
          </a:p>
        </p:txBody>
      </p:sp>
      <p:sp>
        <p:nvSpPr>
          <p:cNvPr id="10" name="">
            <a:extLst xmlns:a="http://schemas.openxmlformats.org/drawingml/2006/main">
              <a:ext uri="{FF2B5EF4-FFF2-40B4-BE49-F238E27FC236}">
                <a16:creationId xmlns:a16="http://schemas.microsoft.com/office/drawing/2014/main" id="{E6F88907-21D2-44A7-B443-6F536AF31726}"/>
              </a:ext>
            </a:extLst>
          </p:cNvPr>
          <p:cNvSpPr>
            <a:spLocks xmlns:a="http://schemas.openxmlformats.org/drawingml/2006/main" noGrp="1"/>
          </p:cNvSpPr>
          <p:nvPr/>
        </p:nvSpPr>
        <p:spPr>
          <a:xfrm xmlns:a="http://schemas.openxmlformats.org/drawingml/2006/main">
            <a:off x="3829050" y="4057650"/>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실제 사용자와 양식으로 비교한 완료 증거가 아직 부족하다.</a:t>
            </a:r>
          </a:p>
        </p:txBody>
      </p:sp>
      <p:sp>
        <p:nvSpPr>
          <p:cNvPr id="11" name="">
            <a:extLst xmlns:a="http://schemas.openxmlformats.org/drawingml/2006/main">
              <a:ext uri="{FF2B5EF4-FFF2-40B4-BE49-F238E27FC236}">
                <a16:creationId xmlns:a16="http://schemas.microsoft.com/office/drawing/2014/main" id="{9734AC13-BEC3-40BD-AB31-C6E2E1BD1B6E}"/>
              </a:ext>
            </a:extLst>
          </p:cNvPr>
          <p:cNvSpPr>
            <a:spLocks xmlns:a="http://schemas.openxmlformats.org/drawingml/2006/main" noGrp="1"/>
          </p:cNvSpPr>
          <p:nvPr/>
        </p:nvSpPr>
        <p:spPr>
          <a:xfrm xmlns:a="http://schemas.openxmlformats.org/drawingml/2006/main">
            <a:off x="685800" y="48577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6ADA6F-8310-4323-9F14-BC76910B8899}"/>
              </a:ext>
            </a:extLst>
          </p:cNvPr>
          <p:cNvSpPr>
            <a:spLocks xmlns:a="http://schemas.openxmlformats.org/drawingml/2006/main" noGrp="1"/>
          </p:cNvSpPr>
          <p:nvPr/>
        </p:nvSpPr>
        <p:spPr>
          <a:xfrm xmlns:a="http://schemas.openxmlformats.org/drawingml/2006/main">
            <a:off x="685800" y="5000625"/>
            <a:ext cx="289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선정 성과와 장기 데이터 효과</a:t>
            </a:r>
          </a:p>
        </p:txBody>
      </p:sp>
      <p:sp>
        <p:nvSpPr>
          <p:cNvPr id="13" name="">
            <a:extLst xmlns:a="http://schemas.openxmlformats.org/drawingml/2006/main">
              <a:ext uri="{FF2B5EF4-FFF2-40B4-BE49-F238E27FC236}">
                <a16:creationId xmlns:a16="http://schemas.microsoft.com/office/drawing/2014/main" id="{4C3630FB-857B-4D02-9B98-2667802522A1}"/>
              </a:ext>
            </a:extLst>
          </p:cNvPr>
          <p:cNvSpPr>
            <a:spLocks xmlns:a="http://schemas.openxmlformats.org/drawingml/2006/main" noGrp="1"/>
          </p:cNvSpPr>
          <p:nvPr/>
        </p:nvSpPr>
        <p:spPr>
          <a:xfrm xmlns:a="http://schemas.openxmlformats.org/drawingml/2006/main">
            <a:off x="3829050" y="5000625"/>
            <a:ext cx="7677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신청 결과 라벨과 장기간 사용 관측이 충분하지 않다.</a:t>
            </a:r>
          </a:p>
        </p:txBody>
      </p:sp>
      <p:sp>
        <p:nvSpPr>
          <p:cNvPr id="14" name="">
            <a:extLst xmlns:a="http://schemas.openxmlformats.org/drawingml/2006/main">
              <a:ext uri="{FF2B5EF4-FFF2-40B4-BE49-F238E27FC236}">
                <a16:creationId xmlns:a16="http://schemas.microsoft.com/office/drawing/2014/main" id="{0C9435D7-5687-4354-944A-4882F6622616}"/>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FCFD442F-32C2-4970-A460-4B0E85CAF6AD}"/>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13 / 22</a:t>
            </a:r>
          </a:p>
        </p:txBody>
      </p:sp>
    </p:spTree>
    <p:extLst>
      <p:ext uri="{BB962C8B-B14F-4D97-AF65-F5344CB8AC3E}">
        <p14:creationId xmlns:p14="http://schemas.microsoft.com/office/powerpoint/2010/main" val="18072167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5393F7-BF50-4AAA-A4F0-4DB466A5E1FA}"/>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앞으로의 방향</a:t>
            </a:r>
          </a:p>
        </p:txBody>
      </p:sp>
      <p:sp>
        <p:nvSpPr>
          <p:cNvPr id="2" name="">
            <a:extLst xmlns:a="http://schemas.openxmlformats.org/drawingml/2006/main">
              <a:ext uri="{FF2B5EF4-FFF2-40B4-BE49-F238E27FC236}">
                <a16:creationId xmlns:a16="http://schemas.microsoft.com/office/drawing/2014/main" id="{599F21D6-D217-4252-B6A9-2B3FEC3F34E5}"/>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현재 작성 중심 구현을 기준으로 한 회고 제안</a:t>
            </a:r>
          </a:p>
        </p:txBody>
      </p:sp>
      <p:sp>
        <p:nvSpPr>
          <p:cNvPr id="3" name="">
            <a:extLst xmlns:a="http://schemas.openxmlformats.org/drawingml/2006/main">
              <a:ext uri="{FF2B5EF4-FFF2-40B4-BE49-F238E27FC236}">
                <a16:creationId xmlns:a16="http://schemas.microsoft.com/office/drawing/2014/main" id="{964534CB-6018-4B99-B6D5-FDE3CD621820}"/>
              </a:ext>
            </a:extLst>
          </p:cNvPr>
          <p:cNvSpPr>
            <a:spLocks xmlns:a="http://schemas.openxmlformats.org/drawingml/2006/main" noGrp="1"/>
          </p:cNvSpPr>
          <p:nvPr/>
        </p:nvSpPr>
        <p:spPr>
          <a:xfrm xmlns:a="http://schemas.openxmlformats.org/drawingml/2006/main">
            <a:off x="685800" y="2038350"/>
            <a:ext cx="10477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3182F6"/>
                </a:solidFill>
                <a:latin typeface="Apple SD Gothic Neo"/>
                <a:ea typeface="Apple SD Gothic Neo"/>
                <a:cs typeface="Apple SD Gothic Neo"/>
              </a:defRPr>
            </a:pPr>
            <a:r>
              <a:rPr sz="3750" b="1">
                <a:solidFill>
                  <a:srgbClr val="3182F6"/>
                </a:solidFill>
                <a:latin typeface="Apple SD Gothic Neo"/>
                <a:ea typeface="Apple SD Gothic Neo"/>
                <a:cs typeface="Apple SD Gothic Neo"/>
              </a:rPr>
              <a:t>한 공고에서</a:t>
            </a:r>
          </a:p>
          <a:p xmlns:a="http://schemas.openxmlformats.org/drawingml/2006/main">
            <a:pPr algn="l">
              <a:defRPr sz="3750" b="1">
                <a:solidFill>
                  <a:srgbClr val="3182F6"/>
                </a:solidFill>
                <a:latin typeface="Apple SD Gothic Neo"/>
                <a:ea typeface="Apple SD Gothic Neo"/>
                <a:cs typeface="Apple SD Gothic Neo"/>
              </a:defRPr>
            </a:pPr>
            <a:r>
              <a:rPr sz="3750" b="1">
                <a:solidFill>
                  <a:srgbClr val="3182F6"/>
                </a:solidFill>
                <a:latin typeface="Apple SD Gothic Neo"/>
                <a:ea typeface="Apple SD Gothic Neo"/>
                <a:cs typeface="Apple SD Gothic Neo"/>
              </a:rPr>
              <a:t>검토할 수 있는 서류를 끝까지</a:t>
            </a:r>
          </a:p>
        </p:txBody>
      </p:sp>
      <p:sp>
        <p:nvSpPr>
          <p:cNvPr id="4" name="">
            <a:extLst xmlns:a="http://schemas.openxmlformats.org/drawingml/2006/main">
              <a:ext uri="{FF2B5EF4-FFF2-40B4-BE49-F238E27FC236}">
                <a16:creationId xmlns:a16="http://schemas.microsoft.com/office/drawing/2014/main" id="{318B3A92-6E1C-473E-B5C2-8327B5F80EB2}"/>
              </a:ext>
            </a:extLst>
          </p:cNvPr>
          <p:cNvSpPr>
            <a:spLocks xmlns:a="http://schemas.openxmlformats.org/drawingml/2006/main" noGrp="1"/>
          </p:cNvSpPr>
          <p:nvPr/>
        </p:nvSpPr>
        <p:spPr>
          <a:xfrm xmlns:a="http://schemas.openxmlformats.org/drawingml/2006/main">
            <a:off x="685800" y="3952875"/>
            <a:ext cx="52673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기회 탐색</a:t>
            </a:r>
          </a:p>
        </p:txBody>
      </p:sp>
      <p:sp>
        <p:nvSpPr>
          <p:cNvPr id="5" name="">
            <a:extLst xmlns:a="http://schemas.openxmlformats.org/drawingml/2006/main">
              <a:ext uri="{FF2B5EF4-FFF2-40B4-BE49-F238E27FC236}">
                <a16:creationId xmlns:a16="http://schemas.microsoft.com/office/drawing/2014/main" id="{135889A9-1D3B-4783-BBC2-370B2DD014E2}"/>
              </a:ext>
            </a:extLst>
          </p:cNvPr>
          <p:cNvSpPr>
            <a:spLocks xmlns:a="http://schemas.openxmlformats.org/drawingml/2006/main" noGrp="1"/>
          </p:cNvSpPr>
          <p:nvPr/>
        </p:nvSpPr>
        <p:spPr>
          <a:xfrm xmlns:a="http://schemas.openxmlformats.org/drawingml/2006/main">
            <a:off x="685800" y="4533900"/>
            <a:ext cx="5267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관련 공고를 좁히고 명백한 불일치를 설명한다.</a:t>
            </a:r>
          </a:p>
        </p:txBody>
      </p:sp>
      <p:sp>
        <p:nvSpPr>
          <p:cNvPr id="6" name="">
            <a:extLst xmlns:a="http://schemas.openxmlformats.org/drawingml/2006/main">
              <a:ext uri="{FF2B5EF4-FFF2-40B4-BE49-F238E27FC236}">
                <a16:creationId xmlns:a16="http://schemas.microsoft.com/office/drawing/2014/main" id="{DB52D11D-21AE-4544-ADB2-B4DF6FF695D5}"/>
              </a:ext>
            </a:extLst>
          </p:cNvPr>
          <p:cNvSpPr>
            <a:spLocks xmlns:a="http://schemas.openxmlformats.org/drawingml/2006/main" noGrp="1"/>
          </p:cNvSpPr>
          <p:nvPr/>
        </p:nvSpPr>
        <p:spPr>
          <a:xfrm xmlns:a="http://schemas.openxmlformats.org/drawingml/2006/main">
            <a:off x="6238875" y="3952875"/>
            <a:ext cx="52673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근거 있는 작성</a:t>
            </a:r>
          </a:p>
        </p:txBody>
      </p:sp>
      <p:sp>
        <p:nvSpPr>
          <p:cNvPr id="7" name="">
            <a:extLst xmlns:a="http://schemas.openxmlformats.org/drawingml/2006/main">
              <a:ext uri="{FF2B5EF4-FFF2-40B4-BE49-F238E27FC236}">
                <a16:creationId xmlns:a16="http://schemas.microsoft.com/office/drawing/2014/main" id="{CC9CC8A5-92B1-4B11-A72C-92FA569E9C7F}"/>
              </a:ext>
            </a:extLst>
          </p:cNvPr>
          <p:cNvSpPr>
            <a:spLocks xmlns:a="http://schemas.openxmlformats.org/drawingml/2006/main" noGrp="1"/>
          </p:cNvSpPr>
          <p:nvPr/>
        </p:nvSpPr>
        <p:spPr>
          <a:xfrm xmlns:a="http://schemas.openxmlformats.org/drawingml/2006/main">
            <a:off x="6238875" y="4533900"/>
            <a:ext cx="5267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B7684"/>
                </a:solidFill>
                <a:latin typeface="Apple SD Gothic Neo"/>
                <a:ea typeface="Apple SD Gothic Neo"/>
                <a:cs typeface="Apple SD Gothic Neo"/>
              </a:defRPr>
            </a:pPr>
            <a:r>
              <a:rPr sz="1725" b="0">
                <a:solidFill>
                  <a:srgbClr val="6B7684"/>
                </a:solidFill>
                <a:latin typeface="Apple SD Gothic Neo"/>
                <a:ea typeface="Apple SD Gothic Neo"/>
                <a:cs typeface="Apple SD Gothic Neo"/>
              </a:rPr>
              <a:t>회사 자료를 재사용하고 사용자가 확인한 문안을 반영한다.</a:t>
            </a:r>
          </a:p>
        </p:txBody>
      </p:sp>
      <p:sp>
        <p:nvSpPr>
          <p:cNvPr id="8" name="">
            <a:extLst xmlns:a="http://schemas.openxmlformats.org/drawingml/2006/main">
              <a:ext uri="{FF2B5EF4-FFF2-40B4-BE49-F238E27FC236}">
                <a16:creationId xmlns:a16="http://schemas.microsoft.com/office/drawing/2014/main" id="{B5727694-9076-4307-A556-82702E5C9E3D}"/>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9" name="">
            <a:extLst xmlns:a="http://schemas.openxmlformats.org/drawingml/2006/main">
              <a:ext uri="{FF2B5EF4-FFF2-40B4-BE49-F238E27FC236}">
                <a16:creationId xmlns:a16="http://schemas.microsoft.com/office/drawing/2014/main" id="{871C2E51-F283-48E3-9025-D44F55F9D5C5}"/>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14 / 22</a:t>
            </a:r>
          </a:p>
        </p:txBody>
      </p:sp>
    </p:spTree>
    <p:extLst>
      <p:ext uri="{BB962C8B-B14F-4D97-AF65-F5344CB8AC3E}">
        <p14:creationId xmlns:p14="http://schemas.microsoft.com/office/powerpoint/2010/main" val="4298870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F6D9276-1A04-4F9B-B2D2-23762E732BA4}"/>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첫 완주를 검증할 범위</a:t>
            </a:r>
          </a:p>
        </p:txBody>
      </p:sp>
      <p:sp>
        <p:nvSpPr>
          <p:cNvPr id="2" name="">
            <a:extLst xmlns:a="http://schemas.openxmlformats.org/drawingml/2006/main">
              <a:ext uri="{FF2B5EF4-FFF2-40B4-BE49-F238E27FC236}">
                <a16:creationId xmlns:a16="http://schemas.microsoft.com/office/drawing/2014/main" id="{C7A175AC-5D4B-4020-8C4B-78EB8895D610}"/>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현재 작성 중심 인수 계획을 작게 실행하는 제안</a:t>
            </a:r>
          </a:p>
        </p:txBody>
      </p:sp>
      <p:sp>
        <p:nvSpPr>
          <p:cNvPr id="3" name="">
            <a:extLst xmlns:a="http://schemas.openxmlformats.org/drawingml/2006/main">
              <a:ext uri="{FF2B5EF4-FFF2-40B4-BE49-F238E27FC236}">
                <a16:creationId xmlns:a16="http://schemas.microsoft.com/office/drawing/2014/main" id="{90792193-392A-432B-B076-3D3F792F0592}"/>
              </a:ext>
            </a:extLst>
          </p:cNvPr>
          <p:cNvSpPr>
            <a:spLocks xmlns:a="http://schemas.openxmlformats.org/drawingml/2006/main" noGrp="1"/>
          </p:cNvSpPr>
          <p:nvPr/>
        </p:nvSpPr>
        <p:spPr>
          <a:xfrm xmlns:a="http://schemas.openxmlformats.org/drawingml/2006/main">
            <a:off x="685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D63D33-D5FA-485F-8BE9-E484EE1AE4FF}"/>
              </a:ext>
            </a:extLst>
          </p:cNvPr>
          <p:cNvSpPr>
            <a:spLocks xmlns:a="http://schemas.openxmlformats.org/drawingml/2006/main" noGrp="1"/>
          </p:cNvSpPr>
          <p:nvPr/>
        </p:nvSpPr>
        <p:spPr>
          <a:xfrm xmlns:a="http://schemas.openxmlformats.org/drawingml/2006/main">
            <a:off x="952500" y="2600325"/>
            <a:ext cx="292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사용자 5명</a:t>
            </a:r>
          </a:p>
        </p:txBody>
      </p:sp>
      <p:sp>
        <p:nvSpPr>
          <p:cNvPr id="5" name="">
            <a:extLst xmlns:a="http://schemas.openxmlformats.org/drawingml/2006/main">
              <a:ext uri="{FF2B5EF4-FFF2-40B4-BE49-F238E27FC236}">
                <a16:creationId xmlns:a16="http://schemas.microsoft.com/office/drawing/2014/main" id="{280D7375-0348-45AC-824F-8D32BC80897A}"/>
              </a:ext>
            </a:extLst>
          </p:cNvPr>
          <p:cNvSpPr>
            <a:spLocks xmlns:a="http://schemas.openxmlformats.org/drawingml/2006/main" noGrp="1"/>
          </p:cNvSpPr>
          <p:nvPr/>
        </p:nvSpPr>
        <p:spPr>
          <a:xfrm xmlns:a="http://schemas.openxmlformats.org/drawingml/2006/main">
            <a:off x="952500" y="3695700"/>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실제 작성 시간과 수정 부담을</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관찰</a:t>
            </a:r>
          </a:p>
        </p:txBody>
      </p:sp>
      <p:sp>
        <p:nvSpPr>
          <p:cNvPr id="6" name="">
            <a:extLst xmlns:a="http://schemas.openxmlformats.org/drawingml/2006/main">
              <a:ext uri="{FF2B5EF4-FFF2-40B4-BE49-F238E27FC236}">
                <a16:creationId xmlns:a16="http://schemas.microsoft.com/office/drawing/2014/main" id="{D5262D43-AE9E-433C-98F2-73B8EB3D6B27}"/>
              </a:ext>
            </a:extLst>
          </p:cNvPr>
          <p:cNvSpPr>
            <a:spLocks xmlns:a="http://schemas.openxmlformats.org/drawingml/2006/main" noGrp="1"/>
          </p:cNvSpPr>
          <p:nvPr/>
        </p:nvSpPr>
        <p:spPr>
          <a:xfrm xmlns:a="http://schemas.openxmlformats.org/drawingml/2006/main">
            <a:off x="4368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F3D2A0-1A42-4F76-A206-96D85980D661}"/>
              </a:ext>
            </a:extLst>
          </p:cNvPr>
          <p:cNvSpPr>
            <a:spLocks xmlns:a="http://schemas.openxmlformats.org/drawingml/2006/main" noGrp="1"/>
          </p:cNvSpPr>
          <p:nvPr/>
        </p:nvSpPr>
        <p:spPr>
          <a:xfrm xmlns:a="http://schemas.openxmlformats.org/drawingml/2006/main">
            <a:off x="4635500" y="2600325"/>
            <a:ext cx="292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기관 양식 3종</a:t>
            </a:r>
          </a:p>
        </p:txBody>
      </p:sp>
      <p:sp>
        <p:nvSpPr>
          <p:cNvPr id="8" name="">
            <a:extLst xmlns:a="http://schemas.openxmlformats.org/drawingml/2006/main">
              <a:ext uri="{FF2B5EF4-FFF2-40B4-BE49-F238E27FC236}">
                <a16:creationId xmlns:a16="http://schemas.microsoft.com/office/drawing/2014/main" id="{B91908E5-55BD-414C-A7E0-43837FCC67C9}"/>
              </a:ext>
            </a:extLst>
          </p:cNvPr>
          <p:cNvSpPr>
            <a:spLocks xmlns:a="http://schemas.openxmlformats.org/drawingml/2006/main" noGrp="1"/>
          </p:cNvSpPr>
          <p:nvPr/>
        </p:nvSpPr>
        <p:spPr>
          <a:xfrm xmlns:a="http://schemas.openxmlformats.org/drawingml/2006/main">
            <a:off x="4635500" y="3695700"/>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문항 초안·파일 반영·저장·재개</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확인</a:t>
            </a:r>
          </a:p>
        </p:txBody>
      </p:sp>
      <p:sp>
        <p:nvSpPr>
          <p:cNvPr id="9" name="">
            <a:extLst xmlns:a="http://schemas.openxmlformats.org/drawingml/2006/main">
              <a:ext uri="{FF2B5EF4-FFF2-40B4-BE49-F238E27FC236}">
                <a16:creationId xmlns:a16="http://schemas.microsoft.com/office/drawing/2014/main" id="{711AAC4F-A7B2-4BAD-996F-4100448B4B74}"/>
              </a:ext>
            </a:extLst>
          </p:cNvPr>
          <p:cNvSpPr>
            <a:spLocks xmlns:a="http://schemas.openxmlformats.org/drawingml/2006/main" noGrp="1"/>
          </p:cNvSpPr>
          <p:nvPr/>
        </p:nvSpPr>
        <p:spPr>
          <a:xfrm xmlns:a="http://schemas.openxmlformats.org/drawingml/2006/main">
            <a:off x="8051800" y="2238375"/>
            <a:ext cx="3454400" cy="3000375"/>
          </a:xfrm>
          <a:prstGeom xmlns:a="http://schemas.openxmlformats.org/drawingml/2006/main" prst="roundRect">
            <a:avLst>
              <a:gd name="adj" fmla="val 7619"/>
            </a:avLst>
          </a:prstGeom>
          <a:solidFill xmlns:a="http://schemas.openxmlformats.org/drawingml/2006/main">
            <a:srgbClr val="F9FA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CEA4D0E-04B1-49B8-94FF-86383C58AA3F}"/>
              </a:ext>
            </a:extLst>
          </p:cNvPr>
          <p:cNvSpPr>
            <a:spLocks xmlns:a="http://schemas.openxmlformats.org/drawingml/2006/main" noGrp="1"/>
          </p:cNvSpPr>
          <p:nvPr/>
        </p:nvSpPr>
        <p:spPr>
          <a:xfrm xmlns:a="http://schemas.openxmlformats.org/drawingml/2006/main">
            <a:off x="8318500" y="2600325"/>
            <a:ext cx="292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91F28"/>
                </a:solidFill>
                <a:latin typeface="Apple SD Gothic Neo"/>
                <a:ea typeface="Apple SD Gothic Neo"/>
                <a:cs typeface="Apple SD Gothic Neo"/>
              </a:defRPr>
            </a:pPr>
            <a:r>
              <a:rPr sz="2250" b="1">
                <a:solidFill>
                  <a:srgbClr val="191F28"/>
                </a:solidFill>
                <a:latin typeface="Apple SD Gothic Neo"/>
                <a:ea typeface="Apple SD Gothic Neo"/>
                <a:cs typeface="Apple SD Gothic Neo"/>
              </a:rPr>
              <a:t>끝까지 열리는 파일</a:t>
            </a:r>
          </a:p>
        </p:txBody>
      </p:sp>
      <p:sp>
        <p:nvSpPr>
          <p:cNvPr id="11" name="">
            <a:extLst xmlns:a="http://schemas.openxmlformats.org/drawingml/2006/main">
              <a:ext uri="{FF2B5EF4-FFF2-40B4-BE49-F238E27FC236}">
                <a16:creationId xmlns:a16="http://schemas.microsoft.com/office/drawing/2014/main" id="{2B2CEC40-9970-4C28-BB3F-92BEDE00A262}"/>
              </a:ext>
            </a:extLst>
          </p:cNvPr>
          <p:cNvSpPr>
            <a:spLocks xmlns:a="http://schemas.openxmlformats.org/drawingml/2006/main" noGrp="1"/>
          </p:cNvSpPr>
          <p:nvPr/>
        </p:nvSpPr>
        <p:spPr>
          <a:xfrm xmlns:a="http://schemas.openxmlformats.org/drawingml/2006/main">
            <a:off x="8318500" y="3695700"/>
            <a:ext cx="292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다운로드 뒤 외부 한글에서</a:t>
            </a:r>
          </a:p>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내용과 배치 확인</a:t>
            </a:r>
          </a:p>
        </p:txBody>
      </p:sp>
      <p:sp>
        <p:nvSpPr>
          <p:cNvPr id="12" name="">
            <a:extLst xmlns:a="http://schemas.openxmlformats.org/drawingml/2006/main">
              <a:ext uri="{FF2B5EF4-FFF2-40B4-BE49-F238E27FC236}">
                <a16:creationId xmlns:a16="http://schemas.microsoft.com/office/drawing/2014/main" id="{805D71F5-F9D7-42C8-9701-C7EAFBF98ECE}"/>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기준: 파일까지 걸린 시간, 수정량, 근거 없는 사실, 저장·재열기 성공, 운영자 개입, 재사용</a:t>
            </a:r>
          </a:p>
        </p:txBody>
      </p:sp>
      <p:sp>
        <p:nvSpPr>
          <p:cNvPr id="13" name="">
            <a:extLst xmlns:a="http://schemas.openxmlformats.org/drawingml/2006/main">
              <a:ext uri="{FF2B5EF4-FFF2-40B4-BE49-F238E27FC236}">
                <a16:creationId xmlns:a16="http://schemas.microsoft.com/office/drawing/2014/main" id="{1E2F999B-2636-4143-BDFC-4970CC1B3C06}"/>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15 / 22</a:t>
            </a:r>
          </a:p>
        </p:txBody>
      </p:sp>
    </p:spTree>
    <p:extLst>
      <p:ext uri="{BB962C8B-B14F-4D97-AF65-F5344CB8AC3E}">
        <p14:creationId xmlns:p14="http://schemas.microsoft.com/office/powerpoint/2010/main" val="8491782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F15BAB-CB9E-4C62-9D43-4EDDF7072207}"/>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팀이 함께 판단할 것</a:t>
            </a:r>
          </a:p>
        </p:txBody>
      </p:sp>
      <p:sp>
        <p:nvSpPr>
          <p:cNvPr id="2" name="">
            <a:extLst xmlns:a="http://schemas.openxmlformats.org/drawingml/2006/main">
              <a:ext uri="{FF2B5EF4-FFF2-40B4-BE49-F238E27FC236}">
                <a16:creationId xmlns:a16="http://schemas.microsoft.com/office/drawing/2014/main" id="{A90C40B8-EB60-448C-B71D-60DC75C6AD41}"/>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다음 범위는 고객이 끝낸 작업을 보고 정하는 제안입니다.</a:t>
            </a:r>
          </a:p>
        </p:txBody>
      </p:sp>
      <p:sp>
        <p:nvSpPr>
          <p:cNvPr id="3" name="">
            <a:extLst xmlns:a="http://schemas.openxmlformats.org/drawingml/2006/main">
              <a:ext uri="{FF2B5EF4-FFF2-40B4-BE49-F238E27FC236}">
                <a16:creationId xmlns:a16="http://schemas.microsoft.com/office/drawing/2014/main" id="{C33899C3-D442-4859-9E2B-64885D39E7D0}"/>
              </a:ext>
            </a:extLst>
          </p:cNvPr>
          <p:cNvSpPr>
            <a:spLocks xmlns:a="http://schemas.openxmlformats.org/drawingml/2006/main" noGrp="1"/>
          </p:cNvSpPr>
          <p:nvPr/>
        </p:nvSpPr>
        <p:spPr>
          <a:xfrm xmlns:a="http://schemas.openxmlformats.org/drawingml/2006/main">
            <a:off x="685800" y="217170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어떤 고객부터</a:t>
            </a:r>
          </a:p>
        </p:txBody>
      </p:sp>
      <p:sp>
        <p:nvSpPr>
          <p:cNvPr id="4" name="">
            <a:extLst xmlns:a="http://schemas.openxmlformats.org/drawingml/2006/main">
              <a:ext uri="{FF2B5EF4-FFF2-40B4-BE49-F238E27FC236}">
                <a16:creationId xmlns:a16="http://schemas.microsoft.com/office/drawing/2014/main" id="{7BF4BF1D-1E03-45E9-B2C4-E480BF455553}"/>
              </a:ext>
            </a:extLst>
          </p:cNvPr>
          <p:cNvSpPr>
            <a:spLocks xmlns:a="http://schemas.openxmlformats.org/drawingml/2006/main" noGrp="1"/>
          </p:cNvSpPr>
          <p:nvPr/>
        </p:nvSpPr>
        <p:spPr>
          <a:xfrm xmlns:a="http://schemas.openxmlformats.org/drawingml/2006/main">
            <a:off x="3829050" y="217170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반복해서 비슷한 신청서를 쓰는 사업자 집단을 정한다.</a:t>
            </a:r>
          </a:p>
        </p:txBody>
      </p:sp>
      <p:sp>
        <p:nvSpPr>
          <p:cNvPr id="5" name="">
            <a:extLst xmlns:a="http://schemas.openxmlformats.org/drawingml/2006/main">
              <a:ext uri="{FF2B5EF4-FFF2-40B4-BE49-F238E27FC236}">
                <a16:creationId xmlns:a16="http://schemas.microsoft.com/office/drawing/2014/main" id="{F46674A9-4A34-48E2-BAC7-482BA82AC6DE}"/>
              </a:ext>
            </a:extLst>
          </p:cNvPr>
          <p:cNvSpPr>
            <a:spLocks xmlns:a="http://schemas.openxmlformats.org/drawingml/2006/main" noGrp="1"/>
          </p:cNvSpPr>
          <p:nvPr/>
        </p:nvSpPr>
        <p:spPr>
          <a:xfrm xmlns:a="http://schemas.openxmlformats.org/drawingml/2006/main">
            <a:off x="685800" y="31813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1FB7A17-82C9-4784-9DC1-1B4C3B0897BC}"/>
              </a:ext>
            </a:extLst>
          </p:cNvPr>
          <p:cNvSpPr>
            <a:spLocks xmlns:a="http://schemas.openxmlformats.org/drawingml/2006/main" noGrp="1"/>
          </p:cNvSpPr>
          <p:nvPr/>
        </p:nvSpPr>
        <p:spPr>
          <a:xfrm xmlns:a="http://schemas.openxmlformats.org/drawingml/2006/main">
            <a:off x="685800" y="3324225"/>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무엇으로 성공을 볼까</a:t>
            </a:r>
          </a:p>
        </p:txBody>
      </p:sp>
      <p:sp>
        <p:nvSpPr>
          <p:cNvPr id="7" name="">
            <a:extLst xmlns:a="http://schemas.openxmlformats.org/drawingml/2006/main">
              <a:ext uri="{FF2B5EF4-FFF2-40B4-BE49-F238E27FC236}">
                <a16:creationId xmlns:a16="http://schemas.microsoft.com/office/drawing/2014/main" id="{55B89EBC-6C93-44D9-9959-E442AC253F28}"/>
              </a:ext>
            </a:extLst>
          </p:cNvPr>
          <p:cNvSpPr>
            <a:spLocks xmlns:a="http://schemas.openxmlformats.org/drawingml/2006/main" noGrp="1"/>
          </p:cNvSpPr>
          <p:nvPr/>
        </p:nvSpPr>
        <p:spPr>
          <a:xfrm xmlns:a="http://schemas.openxmlformats.org/drawingml/2006/main">
            <a:off x="3829050" y="3324225"/>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첫 서류 완주와 다음 공고에서의 재사용을 관찰한다.</a:t>
            </a:r>
          </a:p>
        </p:txBody>
      </p:sp>
      <p:sp>
        <p:nvSpPr>
          <p:cNvPr id="8" name="">
            <a:extLst xmlns:a="http://schemas.openxmlformats.org/drawingml/2006/main">
              <a:ext uri="{FF2B5EF4-FFF2-40B4-BE49-F238E27FC236}">
                <a16:creationId xmlns:a16="http://schemas.microsoft.com/office/drawing/2014/main" id="{5DD4E8E3-2133-4CD5-81F4-7CE0EC81795F}"/>
              </a:ext>
            </a:extLst>
          </p:cNvPr>
          <p:cNvSpPr>
            <a:spLocks xmlns:a="http://schemas.openxmlformats.org/drawingml/2006/main" noGrp="1"/>
          </p:cNvSpPr>
          <p:nvPr/>
        </p:nvSpPr>
        <p:spPr>
          <a:xfrm xmlns:a="http://schemas.openxmlformats.org/drawingml/2006/main">
            <a:off x="685800" y="43338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51154E-E63B-4425-9A30-A853425F0546}"/>
              </a:ext>
            </a:extLst>
          </p:cNvPr>
          <p:cNvSpPr>
            <a:spLocks xmlns:a="http://schemas.openxmlformats.org/drawingml/2006/main" noGrp="1"/>
          </p:cNvSpPr>
          <p:nvPr/>
        </p:nvSpPr>
        <p:spPr>
          <a:xfrm xmlns:a="http://schemas.openxmlformats.org/drawingml/2006/main">
            <a:off x="685800" y="447675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어디까지 넓힐까</a:t>
            </a:r>
          </a:p>
        </p:txBody>
      </p:sp>
      <p:sp>
        <p:nvSpPr>
          <p:cNvPr id="10" name="">
            <a:extLst xmlns:a="http://schemas.openxmlformats.org/drawingml/2006/main">
              <a:ext uri="{FF2B5EF4-FFF2-40B4-BE49-F238E27FC236}">
                <a16:creationId xmlns:a16="http://schemas.microsoft.com/office/drawing/2014/main" id="{371C13EB-645E-4E96-9BF7-84A7319D8693}"/>
              </a:ext>
            </a:extLst>
          </p:cNvPr>
          <p:cNvSpPr>
            <a:spLocks xmlns:a="http://schemas.openxmlformats.org/drawingml/2006/main" noGrp="1"/>
          </p:cNvSpPr>
          <p:nvPr/>
        </p:nvSpPr>
        <p:spPr>
          <a:xfrm xmlns:a="http://schemas.openxmlformats.org/drawingml/2006/main">
            <a:off x="3829050" y="447675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실제 오류·수정 부담을 줄인 양식부터 확대한다.</a:t>
            </a:r>
          </a:p>
        </p:txBody>
      </p:sp>
      <p:sp>
        <p:nvSpPr>
          <p:cNvPr id="11" name="">
            <a:extLst xmlns:a="http://schemas.openxmlformats.org/drawingml/2006/main">
              <a:ext uri="{FF2B5EF4-FFF2-40B4-BE49-F238E27FC236}">
                <a16:creationId xmlns:a16="http://schemas.microsoft.com/office/drawing/2014/main" id="{41409E36-7245-48F5-B092-816B585E8564}"/>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2" name="">
            <a:extLst xmlns:a="http://schemas.openxmlformats.org/drawingml/2006/main">
              <a:ext uri="{FF2B5EF4-FFF2-40B4-BE49-F238E27FC236}">
                <a16:creationId xmlns:a16="http://schemas.microsoft.com/office/drawing/2014/main" id="{3116AA3B-9EB3-4A76-9862-7DB7F878758B}"/>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16 / 22</a:t>
            </a:r>
          </a:p>
        </p:txBody>
      </p:sp>
    </p:spTree>
    <p:extLst>
      <p:ext uri="{BB962C8B-B14F-4D97-AF65-F5344CB8AC3E}">
        <p14:creationId xmlns:p14="http://schemas.microsoft.com/office/powerpoint/2010/main" val="20914567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35D9CB-0D69-4BBB-BDD0-B82E342A61EC}"/>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주별 리뷰 1 / 5</a:t>
            </a:r>
          </a:p>
        </p:txBody>
      </p:sp>
      <p:sp>
        <p:nvSpPr>
          <p:cNvPr id="2" name="">
            <a:extLst xmlns:a="http://schemas.openxmlformats.org/drawingml/2006/main">
              <a:ext uri="{FF2B5EF4-FFF2-40B4-BE49-F238E27FC236}">
                <a16:creationId xmlns:a16="http://schemas.microsoft.com/office/drawing/2014/main" id="{04120166-E644-45CF-AFD8-F860EE25845E}"/>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날짜별 전체 기록과 커밋 원문은 history.html에서 확인할 수 있습니다.</a:t>
            </a:r>
          </a:p>
        </p:txBody>
      </p:sp>
      <p:sp>
        <p:nvSpPr>
          <p:cNvPr id="3" name="">
            <a:extLst xmlns:a="http://schemas.openxmlformats.org/drawingml/2006/main">
              <a:ext uri="{FF2B5EF4-FFF2-40B4-BE49-F238E27FC236}">
                <a16:creationId xmlns:a16="http://schemas.microsoft.com/office/drawing/2014/main" id="{2920E29A-995E-4392-8528-283C70092412}"/>
              </a:ext>
            </a:extLst>
          </p:cNvPr>
          <p:cNvSpPr>
            <a:spLocks xmlns:a="http://schemas.openxmlformats.org/drawingml/2006/main" noGrp="1"/>
          </p:cNvSpPr>
          <p:nvPr/>
        </p:nvSpPr>
        <p:spPr>
          <a:xfrm xmlns:a="http://schemas.openxmlformats.org/drawingml/2006/main">
            <a:off x="685800" y="202882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06/22 주</a:t>
            </a:r>
          </a:p>
        </p:txBody>
      </p:sp>
      <p:sp>
        <p:nvSpPr>
          <p:cNvPr id="4" name="">
            <a:extLst xmlns:a="http://schemas.openxmlformats.org/drawingml/2006/main">
              <a:ext uri="{FF2B5EF4-FFF2-40B4-BE49-F238E27FC236}">
                <a16:creationId xmlns:a16="http://schemas.microsoft.com/office/drawing/2014/main" id="{5CCBCE13-B2B6-412D-93DF-9EF23E7125EE}"/>
              </a:ext>
            </a:extLst>
          </p:cNvPr>
          <p:cNvSpPr>
            <a:spLocks xmlns:a="http://schemas.openxmlformats.org/drawingml/2006/main" noGrp="1"/>
          </p:cNvSpPr>
          <p:nvPr/>
        </p:nvSpPr>
        <p:spPr>
          <a:xfrm xmlns:a="http://schemas.openxmlformats.org/drawingml/2006/main">
            <a:off x="2324100" y="202882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아이디어를 실행 가능한 골격으로</a:t>
            </a:r>
          </a:p>
        </p:txBody>
      </p:sp>
      <p:sp>
        <p:nvSpPr>
          <p:cNvPr id="5" name="">
            <a:extLst xmlns:a="http://schemas.openxmlformats.org/drawingml/2006/main">
              <a:ext uri="{FF2B5EF4-FFF2-40B4-BE49-F238E27FC236}">
                <a16:creationId xmlns:a16="http://schemas.microsoft.com/office/drawing/2014/main" id="{30D3C39C-D0B8-4546-BC51-5CE684D4B3AA}"/>
              </a:ext>
            </a:extLst>
          </p:cNvPr>
          <p:cNvSpPr>
            <a:spLocks xmlns:a="http://schemas.openxmlformats.org/drawingml/2006/main" noGrp="1"/>
          </p:cNvSpPr>
          <p:nvPr/>
        </p:nvSpPr>
        <p:spPr>
          <a:xfrm xmlns:a="http://schemas.openxmlformats.org/drawingml/2006/main">
            <a:off x="2324100" y="251460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규칙과 출처로 단순한 약속을 뒷받침했다. 빠르게 넓힌 화면을 한 사용자가 끝까지 쓰는 검증은 별도 과제로</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남았다.</a:t>
            </a:r>
          </a:p>
        </p:txBody>
      </p:sp>
      <p:sp>
        <p:nvSpPr>
          <p:cNvPr id="6" name="">
            <a:extLst xmlns:a="http://schemas.openxmlformats.org/drawingml/2006/main">
              <a:ext uri="{FF2B5EF4-FFF2-40B4-BE49-F238E27FC236}">
                <a16:creationId xmlns:a16="http://schemas.microsoft.com/office/drawing/2014/main" id="{A360311D-2ACB-481F-98BF-1AF8C6E1749E}"/>
              </a:ext>
            </a:extLst>
          </p:cNvPr>
          <p:cNvSpPr>
            <a:spLocks xmlns:a="http://schemas.openxmlformats.org/drawingml/2006/main" noGrp="1"/>
          </p:cNvSpPr>
          <p:nvPr/>
        </p:nvSpPr>
        <p:spPr>
          <a:xfrm xmlns:a="http://schemas.openxmlformats.org/drawingml/2006/main">
            <a:off x="685800" y="32956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98BB91-7D72-4D44-91DA-BC7B04E0A612}"/>
              </a:ext>
            </a:extLst>
          </p:cNvPr>
          <p:cNvSpPr>
            <a:spLocks xmlns:a="http://schemas.openxmlformats.org/drawingml/2006/main" noGrp="1"/>
          </p:cNvSpPr>
          <p:nvPr/>
        </p:nvSpPr>
        <p:spPr>
          <a:xfrm xmlns:a="http://schemas.openxmlformats.org/drawingml/2006/main">
            <a:off x="685800" y="339090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06/29 주</a:t>
            </a:r>
          </a:p>
        </p:txBody>
      </p:sp>
      <p:sp>
        <p:nvSpPr>
          <p:cNvPr id="8" name="">
            <a:extLst xmlns:a="http://schemas.openxmlformats.org/drawingml/2006/main">
              <a:ext uri="{FF2B5EF4-FFF2-40B4-BE49-F238E27FC236}">
                <a16:creationId xmlns:a16="http://schemas.microsoft.com/office/drawing/2014/main" id="{004B4A8B-BBB0-4A6E-8EC8-F74044F4FA5F}"/>
              </a:ext>
            </a:extLst>
          </p:cNvPr>
          <p:cNvSpPr>
            <a:spLocks xmlns:a="http://schemas.openxmlformats.org/drawingml/2006/main" noGrp="1"/>
          </p:cNvSpPr>
          <p:nvPr/>
        </p:nvSpPr>
        <p:spPr>
          <a:xfrm xmlns:a="http://schemas.openxmlformats.org/drawingml/2006/main">
            <a:off x="2324100" y="3390900"/>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발견에서 신청 준비로</a:t>
            </a:r>
          </a:p>
        </p:txBody>
      </p:sp>
      <p:sp>
        <p:nvSpPr>
          <p:cNvPr id="9" name="">
            <a:extLst xmlns:a="http://schemas.openxmlformats.org/drawingml/2006/main">
              <a:ext uri="{FF2B5EF4-FFF2-40B4-BE49-F238E27FC236}">
                <a16:creationId xmlns:a16="http://schemas.microsoft.com/office/drawing/2014/main" id="{B3DCB001-2CF2-4628-9C3C-881CE94BBA52}"/>
              </a:ext>
            </a:extLst>
          </p:cNvPr>
          <p:cNvSpPr>
            <a:spLocks xmlns:a="http://schemas.openxmlformats.org/drawingml/2006/main" noGrp="1"/>
          </p:cNvSpPr>
          <p:nvPr/>
        </p:nvSpPr>
        <p:spPr>
          <a:xfrm xmlns:a="http://schemas.openxmlformats.org/drawingml/2006/main">
            <a:off x="2324100" y="3876675"/>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검색 다음의 실제 서류 작업에 가까워졌다. 문서 형식의 다양성이 정확하게 읽고 쓰는 범위를 핵심 관문으로</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만들었다.</a:t>
            </a:r>
          </a:p>
        </p:txBody>
      </p:sp>
      <p:sp>
        <p:nvSpPr>
          <p:cNvPr id="10" name="">
            <a:extLst xmlns:a="http://schemas.openxmlformats.org/drawingml/2006/main">
              <a:ext uri="{FF2B5EF4-FFF2-40B4-BE49-F238E27FC236}">
                <a16:creationId xmlns:a16="http://schemas.microsoft.com/office/drawing/2014/main" id="{4BDE2390-1782-46BD-9552-E1754DCF5BDD}"/>
              </a:ext>
            </a:extLst>
          </p:cNvPr>
          <p:cNvSpPr>
            <a:spLocks xmlns:a="http://schemas.openxmlformats.org/drawingml/2006/main" noGrp="1"/>
          </p:cNvSpPr>
          <p:nvPr/>
        </p:nvSpPr>
        <p:spPr>
          <a:xfrm xmlns:a="http://schemas.openxmlformats.org/drawingml/2006/main">
            <a:off x="685800" y="465772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B4C1BA-D72E-4941-9FFF-6BA923A368A2}"/>
              </a:ext>
            </a:extLst>
          </p:cNvPr>
          <p:cNvSpPr>
            <a:spLocks xmlns:a="http://schemas.openxmlformats.org/drawingml/2006/main" noGrp="1"/>
          </p:cNvSpPr>
          <p:nvPr/>
        </p:nvSpPr>
        <p:spPr>
          <a:xfrm xmlns:a="http://schemas.openxmlformats.org/drawingml/2006/main">
            <a:off x="685800" y="4752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07/06 주</a:t>
            </a:r>
          </a:p>
        </p:txBody>
      </p:sp>
      <p:sp>
        <p:nvSpPr>
          <p:cNvPr id="12" name="">
            <a:extLst xmlns:a="http://schemas.openxmlformats.org/drawingml/2006/main">
              <a:ext uri="{FF2B5EF4-FFF2-40B4-BE49-F238E27FC236}">
                <a16:creationId xmlns:a16="http://schemas.microsoft.com/office/drawing/2014/main" id="{E1997107-A992-4CFA-9707-44C4CD7FA8D5}"/>
              </a:ext>
            </a:extLst>
          </p:cNvPr>
          <p:cNvSpPr>
            <a:spLocks xmlns:a="http://schemas.openxmlformats.org/drawingml/2006/main" noGrp="1"/>
          </p:cNvSpPr>
          <p:nvPr/>
        </p:nvSpPr>
        <p:spPr>
          <a:xfrm xmlns:a="http://schemas.openxmlformats.org/drawingml/2006/main">
            <a:off x="2324100" y="475297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작성 결과물과 SaaS 기반을 넓히다</a:t>
            </a:r>
          </a:p>
        </p:txBody>
      </p:sp>
      <p:sp>
        <p:nvSpPr>
          <p:cNvPr id="13" name="">
            <a:extLst xmlns:a="http://schemas.openxmlformats.org/drawingml/2006/main">
              <a:ext uri="{FF2B5EF4-FFF2-40B4-BE49-F238E27FC236}">
                <a16:creationId xmlns:a16="http://schemas.microsoft.com/office/drawing/2014/main" id="{3A92EE59-8BAE-4F5B-AA0B-04C561BEAE5B}"/>
              </a:ext>
            </a:extLst>
          </p:cNvPr>
          <p:cNvSpPr>
            <a:spLocks xmlns:a="http://schemas.openxmlformats.org/drawingml/2006/main" noGrp="1"/>
          </p:cNvSpPr>
          <p:nvPr/>
        </p:nvSpPr>
        <p:spPr>
          <a:xfrm xmlns:a="http://schemas.openxmlformats.org/drawingml/2006/main">
            <a:off x="2324100" y="523875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작성 결과물과 SaaS 기반을 넓혔다. 기능의 폭만큼 추천 신뢰와 실제 쓸 공고의 공급을 따로 확인해야 했다.</a:t>
            </a:r>
          </a:p>
        </p:txBody>
      </p:sp>
      <p:sp>
        <p:nvSpPr>
          <p:cNvPr id="14" name="">
            <a:extLst xmlns:a="http://schemas.openxmlformats.org/drawingml/2006/main">
              <a:ext uri="{FF2B5EF4-FFF2-40B4-BE49-F238E27FC236}">
                <a16:creationId xmlns:a16="http://schemas.microsoft.com/office/drawing/2014/main" id="{A0C62FAA-1963-4756-AA2C-224EE832C8D6}"/>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3D180D3C-2EF0-4A52-A4E0-102371E7D4D3}"/>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17 / 22</a:t>
            </a:r>
          </a:p>
        </p:txBody>
      </p:sp>
    </p:spTree>
    <p:extLst>
      <p:ext uri="{BB962C8B-B14F-4D97-AF65-F5344CB8AC3E}">
        <p14:creationId xmlns:p14="http://schemas.microsoft.com/office/powerpoint/2010/main" val="4097422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DC3605-A52E-48D1-8C60-9B1609E2FCFA}"/>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주별 리뷰 2 / 5</a:t>
            </a:r>
          </a:p>
        </p:txBody>
      </p:sp>
      <p:sp>
        <p:nvSpPr>
          <p:cNvPr id="2" name="">
            <a:extLst xmlns:a="http://schemas.openxmlformats.org/drawingml/2006/main">
              <a:ext uri="{FF2B5EF4-FFF2-40B4-BE49-F238E27FC236}">
                <a16:creationId xmlns:a16="http://schemas.microsoft.com/office/drawing/2014/main" id="{67149454-9173-400E-9104-08EB6AA06720}"/>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날짜별 전체 기록과 커밋 원문은 history.html에서 확인할 수 있습니다.</a:t>
            </a:r>
          </a:p>
        </p:txBody>
      </p:sp>
      <p:sp>
        <p:nvSpPr>
          <p:cNvPr id="3" name="">
            <a:extLst xmlns:a="http://schemas.openxmlformats.org/drawingml/2006/main">
              <a:ext uri="{FF2B5EF4-FFF2-40B4-BE49-F238E27FC236}">
                <a16:creationId xmlns:a16="http://schemas.microsoft.com/office/drawing/2014/main" id="{4FE5C8DF-350E-485C-B29C-447C46861813}"/>
              </a:ext>
            </a:extLst>
          </p:cNvPr>
          <p:cNvSpPr>
            <a:spLocks xmlns:a="http://schemas.openxmlformats.org/drawingml/2006/main" noGrp="1"/>
          </p:cNvSpPr>
          <p:nvPr/>
        </p:nvSpPr>
        <p:spPr>
          <a:xfrm xmlns:a="http://schemas.openxmlformats.org/drawingml/2006/main">
            <a:off x="685800" y="202882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07/13 주</a:t>
            </a:r>
          </a:p>
        </p:txBody>
      </p:sp>
      <p:sp>
        <p:nvSpPr>
          <p:cNvPr id="4" name="">
            <a:extLst xmlns:a="http://schemas.openxmlformats.org/drawingml/2006/main">
              <a:ext uri="{FF2B5EF4-FFF2-40B4-BE49-F238E27FC236}">
                <a16:creationId xmlns:a16="http://schemas.microsoft.com/office/drawing/2014/main" id="{F03FCBBB-03EB-4F7A-9640-1AAF8DB88777}"/>
              </a:ext>
            </a:extLst>
          </p:cNvPr>
          <p:cNvSpPr>
            <a:spLocks xmlns:a="http://schemas.openxmlformats.org/drawingml/2006/main" noGrp="1"/>
          </p:cNvSpPr>
          <p:nvPr/>
        </p:nvSpPr>
        <p:spPr>
          <a:xfrm xmlns:a="http://schemas.openxmlformats.org/drawingml/2006/main">
            <a:off x="2324100" y="202882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추천 신뢰를 먼저 다시 묻다</a:t>
            </a:r>
          </a:p>
        </p:txBody>
      </p:sp>
      <p:sp>
        <p:nvSpPr>
          <p:cNvPr id="5" name="">
            <a:extLst xmlns:a="http://schemas.openxmlformats.org/drawingml/2006/main">
              <a:ext uri="{FF2B5EF4-FFF2-40B4-BE49-F238E27FC236}">
                <a16:creationId xmlns:a16="http://schemas.microsoft.com/office/drawing/2014/main" id="{0553B8F1-0086-41A1-9498-8B19266435A1}"/>
              </a:ext>
            </a:extLst>
          </p:cNvPr>
          <p:cNvSpPr>
            <a:spLocks xmlns:a="http://schemas.openxmlformats.org/drawingml/2006/main" noGrp="1"/>
          </p:cNvSpPr>
          <p:nvPr/>
        </p:nvSpPr>
        <p:spPr>
          <a:xfrm xmlns:a="http://schemas.openxmlformats.org/drawingml/2006/main">
            <a:off x="2324100" y="251460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실측이 범위 확장에 제동을 걸었다. 엔진의 존재와 사용자 가치의 간격이 원문 분석·독립 검수 투자로 이어졌다.</a:t>
            </a:r>
          </a:p>
        </p:txBody>
      </p:sp>
      <p:sp>
        <p:nvSpPr>
          <p:cNvPr id="6" name="">
            <a:extLst xmlns:a="http://schemas.openxmlformats.org/drawingml/2006/main">
              <a:ext uri="{FF2B5EF4-FFF2-40B4-BE49-F238E27FC236}">
                <a16:creationId xmlns:a16="http://schemas.microsoft.com/office/drawing/2014/main" id="{2384DE97-E8CB-4A8F-A2F9-EF84C720FD1C}"/>
              </a:ext>
            </a:extLst>
          </p:cNvPr>
          <p:cNvSpPr>
            <a:spLocks xmlns:a="http://schemas.openxmlformats.org/drawingml/2006/main" noGrp="1"/>
          </p:cNvSpPr>
          <p:nvPr/>
        </p:nvSpPr>
        <p:spPr>
          <a:xfrm xmlns:a="http://schemas.openxmlformats.org/drawingml/2006/main">
            <a:off x="685800" y="32956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5074F2-7EB5-4E2C-8AD6-736C92BC11ED}"/>
              </a:ext>
            </a:extLst>
          </p:cNvPr>
          <p:cNvSpPr>
            <a:spLocks xmlns:a="http://schemas.openxmlformats.org/drawingml/2006/main" noGrp="1"/>
          </p:cNvSpPr>
          <p:nvPr/>
        </p:nvSpPr>
        <p:spPr>
          <a:xfrm xmlns:a="http://schemas.openxmlformats.org/drawingml/2006/main">
            <a:off x="685800" y="339090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07/20 주</a:t>
            </a:r>
          </a:p>
        </p:txBody>
      </p:sp>
      <p:sp>
        <p:nvSpPr>
          <p:cNvPr id="8" name="">
            <a:extLst xmlns:a="http://schemas.openxmlformats.org/drawingml/2006/main">
              <a:ext uri="{FF2B5EF4-FFF2-40B4-BE49-F238E27FC236}">
                <a16:creationId xmlns:a16="http://schemas.microsoft.com/office/drawing/2014/main" id="{972686D4-A2BF-4393-BFAB-371D8AF2FAB0}"/>
              </a:ext>
            </a:extLst>
          </p:cNvPr>
          <p:cNvSpPr>
            <a:spLocks xmlns:a="http://schemas.openxmlformats.org/drawingml/2006/main" noGrp="1"/>
          </p:cNvSpPr>
          <p:nvPr/>
        </p:nvSpPr>
        <p:spPr>
          <a:xfrm xmlns:a="http://schemas.openxmlformats.org/drawingml/2006/main">
            <a:off x="2324100" y="3390900"/>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공고 분석을 검수 가능한 자산으로</a:t>
            </a:r>
          </a:p>
        </p:txBody>
      </p:sp>
      <p:sp>
        <p:nvSpPr>
          <p:cNvPr id="9" name="">
            <a:extLst xmlns:a="http://schemas.openxmlformats.org/drawingml/2006/main">
              <a:ext uri="{FF2B5EF4-FFF2-40B4-BE49-F238E27FC236}">
                <a16:creationId xmlns:a16="http://schemas.microsoft.com/office/drawing/2014/main" id="{49194769-70CA-4517-A8C8-18648FB3BF2E}"/>
              </a:ext>
            </a:extLst>
          </p:cNvPr>
          <p:cNvSpPr>
            <a:spLocks xmlns:a="http://schemas.openxmlformats.org/drawingml/2006/main" noGrp="1"/>
          </p:cNvSpPr>
          <p:nvPr/>
        </p:nvSpPr>
        <p:spPr>
          <a:xfrm xmlns:a="http://schemas.openxmlformats.org/drawingml/2006/main">
            <a:off x="2324100" y="3876675"/>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AI 출력이 제품 데이터가 되기까지의 책임을 설계했다. 소표본 통과를 전량 품질로 확대하지 않는 기준이</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필요했다.</a:t>
            </a:r>
          </a:p>
        </p:txBody>
      </p:sp>
      <p:sp>
        <p:nvSpPr>
          <p:cNvPr id="10" name="">
            <a:extLst xmlns:a="http://schemas.openxmlformats.org/drawingml/2006/main">
              <a:ext uri="{FF2B5EF4-FFF2-40B4-BE49-F238E27FC236}">
                <a16:creationId xmlns:a16="http://schemas.microsoft.com/office/drawing/2014/main" id="{924A4855-9BB7-4913-A449-ADE08C69B16D}"/>
              </a:ext>
            </a:extLst>
          </p:cNvPr>
          <p:cNvSpPr>
            <a:spLocks xmlns:a="http://schemas.openxmlformats.org/drawingml/2006/main" noGrp="1"/>
          </p:cNvSpPr>
          <p:nvPr/>
        </p:nvSpPr>
        <p:spPr>
          <a:xfrm xmlns:a="http://schemas.openxmlformats.org/drawingml/2006/main">
            <a:off x="685800" y="465772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B4673B1-C8B5-4A48-A6CB-792E2A0A99D1}"/>
              </a:ext>
            </a:extLst>
          </p:cNvPr>
          <p:cNvSpPr>
            <a:spLocks xmlns:a="http://schemas.openxmlformats.org/drawingml/2006/main" noGrp="1"/>
          </p:cNvSpPr>
          <p:nvPr/>
        </p:nvSpPr>
        <p:spPr>
          <a:xfrm xmlns:a="http://schemas.openxmlformats.org/drawingml/2006/main">
            <a:off x="685800" y="4752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07/27 주</a:t>
            </a:r>
          </a:p>
        </p:txBody>
      </p:sp>
      <p:sp>
        <p:nvSpPr>
          <p:cNvPr id="12" name="">
            <a:extLst xmlns:a="http://schemas.openxmlformats.org/drawingml/2006/main">
              <a:ext uri="{FF2B5EF4-FFF2-40B4-BE49-F238E27FC236}">
                <a16:creationId xmlns:a16="http://schemas.microsoft.com/office/drawing/2014/main" id="{BB546945-05DB-4945-ABD6-CF8630BF5101}"/>
              </a:ext>
            </a:extLst>
          </p:cNvPr>
          <p:cNvSpPr>
            <a:spLocks xmlns:a="http://schemas.openxmlformats.org/drawingml/2006/main" noGrp="1"/>
          </p:cNvSpPr>
          <p:nvPr/>
        </p:nvSpPr>
        <p:spPr>
          <a:xfrm xmlns:a="http://schemas.openxmlformats.org/drawingml/2006/main">
            <a:off x="2324100" y="475297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품질 경계를 좁히고 비용 구조를 바꾸다</a:t>
            </a:r>
          </a:p>
        </p:txBody>
      </p:sp>
      <p:sp>
        <p:nvSpPr>
          <p:cNvPr id="13" name="">
            <a:extLst xmlns:a="http://schemas.openxmlformats.org/drawingml/2006/main">
              <a:ext uri="{FF2B5EF4-FFF2-40B4-BE49-F238E27FC236}">
                <a16:creationId xmlns:a16="http://schemas.microsoft.com/office/drawing/2014/main" id="{0F56C340-760D-4A31-81B5-D071D3F17D0D}"/>
              </a:ext>
            </a:extLst>
          </p:cNvPr>
          <p:cNvSpPr>
            <a:spLocks xmlns:a="http://schemas.openxmlformats.org/drawingml/2006/main" noGrp="1"/>
          </p:cNvSpPr>
          <p:nvPr/>
        </p:nvSpPr>
        <p:spPr>
          <a:xfrm xmlns:a="http://schemas.openxmlformats.org/drawingml/2006/main">
            <a:off x="2324100" y="523875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확인한 조건으로 안전하게 쓰는 방향을 정교화했다. 비용을 줄일 경로와 의미 품질의 해결 여부는 별개였다.</a:t>
            </a:r>
          </a:p>
        </p:txBody>
      </p:sp>
      <p:sp>
        <p:nvSpPr>
          <p:cNvPr id="14" name="">
            <a:extLst xmlns:a="http://schemas.openxmlformats.org/drawingml/2006/main">
              <a:ext uri="{FF2B5EF4-FFF2-40B4-BE49-F238E27FC236}">
                <a16:creationId xmlns:a16="http://schemas.microsoft.com/office/drawing/2014/main" id="{E7087954-7785-4702-9150-E4EDF97AACB5}"/>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8E4EA493-1BE2-45C8-B701-814B8CD407BA}"/>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18 / 22</a:t>
            </a:r>
          </a:p>
        </p:txBody>
      </p:sp>
    </p:spTree>
    <p:extLst>
      <p:ext uri="{BB962C8B-B14F-4D97-AF65-F5344CB8AC3E}">
        <p14:creationId xmlns:p14="http://schemas.microsoft.com/office/powerpoint/2010/main" val="563222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89CF30-9C7A-4194-ABCB-CC842A4D4CEF}"/>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주별 리뷰 3 / 5</a:t>
            </a:r>
          </a:p>
        </p:txBody>
      </p:sp>
      <p:sp>
        <p:nvSpPr>
          <p:cNvPr id="2" name="">
            <a:extLst xmlns:a="http://schemas.openxmlformats.org/drawingml/2006/main">
              <a:ext uri="{FF2B5EF4-FFF2-40B4-BE49-F238E27FC236}">
                <a16:creationId xmlns:a16="http://schemas.microsoft.com/office/drawing/2014/main" id="{52BB2C5B-A7E1-431B-AA5A-E093C166CB8E}"/>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날짜별 전체 기록과 커밋 원문은 history.html에서 확인할 수 있습니다.</a:t>
            </a:r>
          </a:p>
        </p:txBody>
      </p:sp>
      <p:sp>
        <p:nvSpPr>
          <p:cNvPr id="3" name="">
            <a:extLst xmlns:a="http://schemas.openxmlformats.org/drawingml/2006/main">
              <a:ext uri="{FF2B5EF4-FFF2-40B4-BE49-F238E27FC236}">
                <a16:creationId xmlns:a16="http://schemas.microsoft.com/office/drawing/2014/main" id="{D699C63B-EC0D-4030-9631-33F9A226FCEA}"/>
              </a:ext>
            </a:extLst>
          </p:cNvPr>
          <p:cNvSpPr>
            <a:spLocks xmlns:a="http://schemas.openxmlformats.org/drawingml/2006/main" noGrp="1"/>
          </p:cNvSpPr>
          <p:nvPr/>
        </p:nvSpPr>
        <p:spPr>
          <a:xfrm xmlns:a="http://schemas.openxmlformats.org/drawingml/2006/main">
            <a:off x="685800" y="202882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08/03 주</a:t>
            </a:r>
          </a:p>
        </p:txBody>
      </p:sp>
      <p:sp>
        <p:nvSpPr>
          <p:cNvPr id="4" name="">
            <a:extLst xmlns:a="http://schemas.openxmlformats.org/drawingml/2006/main">
              <a:ext uri="{FF2B5EF4-FFF2-40B4-BE49-F238E27FC236}">
                <a16:creationId xmlns:a16="http://schemas.microsoft.com/office/drawing/2014/main" id="{9BE16D16-3FF5-4A98-AFA3-F4D2C64FC36F}"/>
              </a:ext>
            </a:extLst>
          </p:cNvPr>
          <p:cNvSpPr>
            <a:spLocks xmlns:a="http://schemas.openxmlformats.org/drawingml/2006/main" noGrp="1"/>
          </p:cNvSpPr>
          <p:nvPr/>
        </p:nvSpPr>
        <p:spPr>
          <a:xfrm xmlns:a="http://schemas.openxmlformats.org/drawingml/2006/main">
            <a:off x="2324100" y="202882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로컬 구독과 운영을 분리하다</a:t>
            </a:r>
          </a:p>
        </p:txBody>
      </p:sp>
      <p:sp>
        <p:nvSpPr>
          <p:cNvPr id="5" name="">
            <a:extLst xmlns:a="http://schemas.openxmlformats.org/drawingml/2006/main">
              <a:ext uri="{FF2B5EF4-FFF2-40B4-BE49-F238E27FC236}">
                <a16:creationId xmlns:a16="http://schemas.microsoft.com/office/drawing/2014/main" id="{A6F85985-1365-463B-9F3B-E17F39C2F1E1}"/>
              </a:ext>
            </a:extLst>
          </p:cNvPr>
          <p:cNvSpPr>
            <a:spLocks xmlns:a="http://schemas.openxmlformats.org/drawingml/2006/main" noGrp="1"/>
          </p:cNvSpPr>
          <p:nvPr/>
        </p:nvSpPr>
        <p:spPr>
          <a:xfrm xmlns:a="http://schemas.openxmlformats.org/drawingml/2006/main">
            <a:off x="2324100" y="251460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로컬 실험 비용과 운영 안전을 분리했다. 매칭과 신청서 분석을 묶은 구조가 공급을 막는 부담도 드러났다.</a:t>
            </a:r>
          </a:p>
        </p:txBody>
      </p:sp>
      <p:sp>
        <p:nvSpPr>
          <p:cNvPr id="6" name="">
            <a:extLst xmlns:a="http://schemas.openxmlformats.org/drawingml/2006/main">
              <a:ext uri="{FF2B5EF4-FFF2-40B4-BE49-F238E27FC236}">
                <a16:creationId xmlns:a16="http://schemas.microsoft.com/office/drawing/2014/main" id="{58A6A904-42CB-487E-80A2-D63BD2ED797B}"/>
              </a:ext>
            </a:extLst>
          </p:cNvPr>
          <p:cNvSpPr>
            <a:spLocks xmlns:a="http://schemas.openxmlformats.org/drawingml/2006/main" noGrp="1"/>
          </p:cNvSpPr>
          <p:nvPr/>
        </p:nvSpPr>
        <p:spPr>
          <a:xfrm xmlns:a="http://schemas.openxmlformats.org/drawingml/2006/main">
            <a:off x="685800" y="32956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3B43C5-7B5D-440B-9A48-C7424DE5E001}"/>
              </a:ext>
            </a:extLst>
          </p:cNvPr>
          <p:cNvSpPr>
            <a:spLocks xmlns:a="http://schemas.openxmlformats.org/drawingml/2006/main" noGrp="1"/>
          </p:cNvSpPr>
          <p:nvPr/>
        </p:nvSpPr>
        <p:spPr>
          <a:xfrm xmlns:a="http://schemas.openxmlformats.org/drawingml/2006/main">
            <a:off x="685800" y="339090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08/10 주</a:t>
            </a:r>
          </a:p>
        </p:txBody>
      </p:sp>
      <p:sp>
        <p:nvSpPr>
          <p:cNvPr id="8" name="">
            <a:extLst xmlns:a="http://schemas.openxmlformats.org/drawingml/2006/main">
              <a:ext uri="{FF2B5EF4-FFF2-40B4-BE49-F238E27FC236}">
                <a16:creationId xmlns:a16="http://schemas.microsoft.com/office/drawing/2014/main" id="{B3525E2E-FDAF-4732-9784-A98A683BAE37}"/>
              </a:ext>
            </a:extLst>
          </p:cNvPr>
          <p:cNvSpPr>
            <a:spLocks xmlns:a="http://schemas.openxmlformats.org/drawingml/2006/main" noGrp="1"/>
          </p:cNvSpPr>
          <p:nvPr/>
        </p:nvSpPr>
        <p:spPr>
          <a:xfrm xmlns:a="http://schemas.openxmlformats.org/drawingml/2006/main">
            <a:off x="2324100" y="3390900"/>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속도 개선보다 실패의 의미를 바로잡다</a:t>
            </a:r>
          </a:p>
        </p:txBody>
      </p:sp>
      <p:sp>
        <p:nvSpPr>
          <p:cNvPr id="9" name="">
            <a:extLst xmlns:a="http://schemas.openxmlformats.org/drawingml/2006/main">
              <a:ext uri="{FF2B5EF4-FFF2-40B4-BE49-F238E27FC236}">
                <a16:creationId xmlns:a16="http://schemas.microsoft.com/office/drawing/2014/main" id="{6162CE18-6308-49C9-A4E2-A3E8F50E34EF}"/>
              </a:ext>
            </a:extLst>
          </p:cNvPr>
          <p:cNvSpPr>
            <a:spLocks xmlns:a="http://schemas.openxmlformats.org/drawingml/2006/main" noGrp="1"/>
          </p:cNvSpPr>
          <p:nvPr/>
        </p:nvSpPr>
        <p:spPr>
          <a:xfrm xmlns:a="http://schemas.openxmlformats.org/drawingml/2006/main">
            <a:off x="2324100" y="3876675"/>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확대 실험의 실패를 인정하고 구조를 고쳤다. 속도·실행 종결·품질·서비스 공급을 한 성공률로 말할 수 없었다.</a:t>
            </a:r>
          </a:p>
        </p:txBody>
      </p:sp>
      <p:sp>
        <p:nvSpPr>
          <p:cNvPr id="10" name="">
            <a:extLst xmlns:a="http://schemas.openxmlformats.org/drawingml/2006/main">
              <a:ext uri="{FF2B5EF4-FFF2-40B4-BE49-F238E27FC236}">
                <a16:creationId xmlns:a16="http://schemas.microsoft.com/office/drawing/2014/main" id="{DCF14A5D-0AF3-48F6-85EC-2EB5C4AFD44A}"/>
              </a:ext>
            </a:extLst>
          </p:cNvPr>
          <p:cNvSpPr>
            <a:spLocks xmlns:a="http://schemas.openxmlformats.org/drawingml/2006/main" noGrp="1"/>
          </p:cNvSpPr>
          <p:nvPr/>
        </p:nvSpPr>
        <p:spPr>
          <a:xfrm xmlns:a="http://schemas.openxmlformats.org/drawingml/2006/main">
            <a:off x="685800" y="465772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F818EA-DC80-461B-A4DF-36A79B3C23C4}"/>
              </a:ext>
            </a:extLst>
          </p:cNvPr>
          <p:cNvSpPr>
            <a:spLocks xmlns:a="http://schemas.openxmlformats.org/drawingml/2006/main" noGrp="1"/>
          </p:cNvSpPr>
          <p:nvPr/>
        </p:nvSpPr>
        <p:spPr>
          <a:xfrm xmlns:a="http://schemas.openxmlformats.org/drawingml/2006/main">
            <a:off x="685800" y="4752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08/17 주</a:t>
            </a:r>
          </a:p>
        </p:txBody>
      </p:sp>
      <p:sp>
        <p:nvSpPr>
          <p:cNvPr id="12" name="">
            <a:extLst xmlns:a="http://schemas.openxmlformats.org/drawingml/2006/main">
              <a:ext uri="{FF2B5EF4-FFF2-40B4-BE49-F238E27FC236}">
                <a16:creationId xmlns:a16="http://schemas.microsoft.com/office/drawing/2014/main" id="{DBD57637-C754-4D33-9D5C-54E539453C1F}"/>
              </a:ext>
            </a:extLst>
          </p:cNvPr>
          <p:cNvSpPr>
            <a:spLocks xmlns:a="http://schemas.openxmlformats.org/drawingml/2006/main" noGrp="1"/>
          </p:cNvSpPr>
          <p:nvPr/>
        </p:nvSpPr>
        <p:spPr>
          <a:xfrm xmlns:a="http://schemas.openxmlformats.org/drawingml/2006/main">
            <a:off x="2324100" y="475297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작은 베타 공급과 직접 편집에 도달하다</a:t>
            </a:r>
          </a:p>
        </p:txBody>
      </p:sp>
      <p:sp>
        <p:nvSpPr>
          <p:cNvPr id="13" name="">
            <a:extLst xmlns:a="http://schemas.openxmlformats.org/drawingml/2006/main">
              <a:ext uri="{FF2B5EF4-FFF2-40B4-BE49-F238E27FC236}">
                <a16:creationId xmlns:a16="http://schemas.microsoft.com/office/drawing/2014/main" id="{2AFA40DC-2785-4EAD-B2E9-15E0E617AE4D}"/>
              </a:ext>
            </a:extLst>
          </p:cNvPr>
          <p:cNvSpPr>
            <a:spLocks xmlns:a="http://schemas.openxmlformats.org/drawingml/2006/main" noGrp="1"/>
          </p:cNvSpPr>
          <p:nvPr/>
        </p:nvSpPr>
        <p:spPr>
          <a:xfrm xmlns:a="http://schemas.openxmlformats.org/drawingml/2006/main">
            <a:off x="2324100" y="523875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작은 실제 공급과 직접 편집에 도달했다. 9건 적용과 자동 검증이 넓은 고객 인수나 제출 성과를 뜻하지는</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않았다.</a:t>
            </a:r>
          </a:p>
        </p:txBody>
      </p:sp>
      <p:sp>
        <p:nvSpPr>
          <p:cNvPr id="14" name="">
            <a:extLst xmlns:a="http://schemas.openxmlformats.org/drawingml/2006/main">
              <a:ext uri="{FF2B5EF4-FFF2-40B4-BE49-F238E27FC236}">
                <a16:creationId xmlns:a16="http://schemas.microsoft.com/office/drawing/2014/main" id="{89F46F98-997E-4A29-9A5C-0C6F9D8BD328}"/>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4EAFEC64-995D-44DD-ABF2-6ABCEF5DA6A6}"/>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19 / 22</a:t>
            </a:r>
          </a:p>
        </p:txBody>
      </p:sp>
    </p:spTree>
    <p:extLst>
      <p:ext uri="{BB962C8B-B14F-4D97-AF65-F5344CB8AC3E}">
        <p14:creationId xmlns:p14="http://schemas.microsoft.com/office/powerpoint/2010/main" val="15576651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E930D9-9C43-4043-80AD-F6C9FC1DCE36}"/>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주별 리뷰 4 / 5</a:t>
            </a:r>
          </a:p>
        </p:txBody>
      </p:sp>
      <p:sp>
        <p:nvSpPr>
          <p:cNvPr id="2" name="">
            <a:extLst xmlns:a="http://schemas.openxmlformats.org/drawingml/2006/main">
              <a:ext uri="{FF2B5EF4-FFF2-40B4-BE49-F238E27FC236}">
                <a16:creationId xmlns:a16="http://schemas.microsoft.com/office/drawing/2014/main" id="{DCD35FF4-99F6-428F-BD50-B76ABEA2CDC2}"/>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날짜별 전체 기록과 커밋 원문은 history.html에서 확인할 수 있습니다.</a:t>
            </a:r>
          </a:p>
        </p:txBody>
      </p:sp>
      <p:sp>
        <p:nvSpPr>
          <p:cNvPr id="3" name="">
            <a:extLst xmlns:a="http://schemas.openxmlformats.org/drawingml/2006/main">
              <a:ext uri="{FF2B5EF4-FFF2-40B4-BE49-F238E27FC236}">
                <a16:creationId xmlns:a16="http://schemas.microsoft.com/office/drawing/2014/main" id="{C040DB8D-9A60-4D16-AAEE-A9B4D3B97902}"/>
              </a:ext>
            </a:extLst>
          </p:cNvPr>
          <p:cNvSpPr>
            <a:spLocks xmlns:a="http://schemas.openxmlformats.org/drawingml/2006/main" noGrp="1"/>
          </p:cNvSpPr>
          <p:nvPr/>
        </p:nvSpPr>
        <p:spPr>
          <a:xfrm xmlns:a="http://schemas.openxmlformats.org/drawingml/2006/main">
            <a:off x="685800" y="202882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08/24 주</a:t>
            </a:r>
          </a:p>
        </p:txBody>
      </p:sp>
      <p:sp>
        <p:nvSpPr>
          <p:cNvPr id="4" name="">
            <a:extLst xmlns:a="http://schemas.openxmlformats.org/drawingml/2006/main">
              <a:ext uri="{FF2B5EF4-FFF2-40B4-BE49-F238E27FC236}">
                <a16:creationId xmlns:a16="http://schemas.microsoft.com/office/drawing/2014/main" id="{72878745-EB99-4508-895A-6E906EEE8D44}"/>
              </a:ext>
            </a:extLst>
          </p:cNvPr>
          <p:cNvSpPr>
            <a:spLocks xmlns:a="http://schemas.openxmlformats.org/drawingml/2006/main" noGrp="1"/>
          </p:cNvSpPr>
          <p:nvPr/>
        </p:nvSpPr>
        <p:spPr>
          <a:xfrm xmlns:a="http://schemas.openxmlformats.org/drawingml/2006/main">
            <a:off x="2324100" y="202882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분석과 편집의 결합을 풀다</a:t>
            </a:r>
          </a:p>
        </p:txBody>
      </p:sp>
      <p:sp>
        <p:nvSpPr>
          <p:cNvPr id="5" name="">
            <a:extLst xmlns:a="http://schemas.openxmlformats.org/drawingml/2006/main">
              <a:ext uri="{FF2B5EF4-FFF2-40B4-BE49-F238E27FC236}">
                <a16:creationId xmlns:a16="http://schemas.microsoft.com/office/drawing/2014/main" id="{214F28A0-21AA-4DB1-AFCF-F657D12CFAD1}"/>
              </a:ext>
            </a:extLst>
          </p:cNvPr>
          <p:cNvSpPr>
            <a:spLocks xmlns:a="http://schemas.openxmlformats.org/drawingml/2006/main" noGrp="1"/>
          </p:cNvSpPr>
          <p:nvPr/>
        </p:nvSpPr>
        <p:spPr>
          <a:xfrm xmlns:a="http://schemas.openxmlformats.org/drawingml/2006/main">
            <a:off x="2324100" y="251460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전처리 미완성이 편집 자체를 막지 않도록 전환했다. 늘어난 품질 가드가 실제 공급 시간을 줄였는지는 별도</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과제였다.</a:t>
            </a:r>
          </a:p>
        </p:txBody>
      </p:sp>
      <p:sp>
        <p:nvSpPr>
          <p:cNvPr id="6" name="">
            <a:extLst xmlns:a="http://schemas.openxmlformats.org/drawingml/2006/main">
              <a:ext uri="{FF2B5EF4-FFF2-40B4-BE49-F238E27FC236}">
                <a16:creationId xmlns:a16="http://schemas.microsoft.com/office/drawing/2014/main" id="{57ADA784-5727-4851-8BC2-998C0300C588}"/>
              </a:ext>
            </a:extLst>
          </p:cNvPr>
          <p:cNvSpPr>
            <a:spLocks xmlns:a="http://schemas.openxmlformats.org/drawingml/2006/main" noGrp="1"/>
          </p:cNvSpPr>
          <p:nvPr/>
        </p:nvSpPr>
        <p:spPr>
          <a:xfrm xmlns:a="http://schemas.openxmlformats.org/drawingml/2006/main">
            <a:off x="685800" y="32956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6D5168-5E0A-4F50-995A-D2B8F60CCE08}"/>
              </a:ext>
            </a:extLst>
          </p:cNvPr>
          <p:cNvSpPr>
            <a:spLocks xmlns:a="http://schemas.openxmlformats.org/drawingml/2006/main" noGrp="1"/>
          </p:cNvSpPr>
          <p:nvPr/>
        </p:nvSpPr>
        <p:spPr>
          <a:xfrm xmlns:a="http://schemas.openxmlformats.org/drawingml/2006/main">
            <a:off x="685800" y="339090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08/31 주</a:t>
            </a:r>
          </a:p>
        </p:txBody>
      </p:sp>
      <p:sp>
        <p:nvSpPr>
          <p:cNvPr id="8" name="">
            <a:extLst xmlns:a="http://schemas.openxmlformats.org/drawingml/2006/main">
              <a:ext uri="{FF2B5EF4-FFF2-40B4-BE49-F238E27FC236}">
                <a16:creationId xmlns:a16="http://schemas.microsoft.com/office/drawing/2014/main" id="{D4B7F792-C4DF-40EB-A725-40F444AF89E5}"/>
              </a:ext>
            </a:extLst>
          </p:cNvPr>
          <p:cNvSpPr>
            <a:spLocks xmlns:a="http://schemas.openxmlformats.org/drawingml/2006/main" noGrp="1"/>
          </p:cNvSpPr>
          <p:nvPr/>
        </p:nvSpPr>
        <p:spPr>
          <a:xfrm xmlns:a="http://schemas.openxmlformats.org/drawingml/2006/main">
            <a:off x="2324100" y="3390900"/>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batch 크기보다 사용자 여정을 평가하다</a:t>
            </a:r>
          </a:p>
        </p:txBody>
      </p:sp>
      <p:sp>
        <p:nvSpPr>
          <p:cNvPr id="9" name="">
            <a:extLst xmlns:a="http://schemas.openxmlformats.org/drawingml/2006/main">
              <a:ext uri="{FF2B5EF4-FFF2-40B4-BE49-F238E27FC236}">
                <a16:creationId xmlns:a16="http://schemas.microsoft.com/office/drawing/2014/main" id="{CE4C1280-1691-4DE7-B96C-0A56A55532CE}"/>
              </a:ext>
            </a:extLst>
          </p:cNvPr>
          <p:cNvSpPr>
            <a:spLocks xmlns:a="http://schemas.openxmlformats.org/drawingml/2006/main" noGrp="1"/>
          </p:cNvSpPr>
          <p:nvPr/>
        </p:nvSpPr>
        <p:spPr>
          <a:xfrm xmlns:a="http://schemas.openxmlformats.org/drawingml/2006/main">
            <a:off x="2324100" y="3876675"/>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분석 규모 확대와 함께 사용자 왕복의 간격을 리뷰했다. 공고 수보다 조건 확인과 문서 결과물이 중요한 기준이</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되었다.</a:t>
            </a:r>
          </a:p>
        </p:txBody>
      </p:sp>
      <p:sp>
        <p:nvSpPr>
          <p:cNvPr id="10" name="">
            <a:extLst xmlns:a="http://schemas.openxmlformats.org/drawingml/2006/main">
              <a:ext uri="{FF2B5EF4-FFF2-40B4-BE49-F238E27FC236}">
                <a16:creationId xmlns:a16="http://schemas.microsoft.com/office/drawing/2014/main" id="{25CC0577-4ADA-4CC3-9BAE-D34096D6B4E2}"/>
              </a:ext>
            </a:extLst>
          </p:cNvPr>
          <p:cNvSpPr>
            <a:spLocks xmlns:a="http://schemas.openxmlformats.org/drawingml/2006/main" noGrp="1"/>
          </p:cNvSpPr>
          <p:nvPr/>
        </p:nvSpPr>
        <p:spPr>
          <a:xfrm xmlns:a="http://schemas.openxmlformats.org/drawingml/2006/main">
            <a:off x="685800" y="465772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742B01-C416-42DC-87B1-90103C59C181}"/>
              </a:ext>
            </a:extLst>
          </p:cNvPr>
          <p:cNvSpPr>
            <a:spLocks xmlns:a="http://schemas.openxmlformats.org/drawingml/2006/main" noGrp="1"/>
          </p:cNvSpPr>
          <p:nvPr/>
        </p:nvSpPr>
        <p:spPr>
          <a:xfrm xmlns:a="http://schemas.openxmlformats.org/drawingml/2006/main">
            <a:off x="685800" y="4752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09/07 주</a:t>
            </a:r>
          </a:p>
        </p:txBody>
      </p:sp>
      <p:sp>
        <p:nvSpPr>
          <p:cNvPr id="12" name="">
            <a:extLst xmlns:a="http://schemas.openxmlformats.org/drawingml/2006/main">
              <a:ext uri="{FF2B5EF4-FFF2-40B4-BE49-F238E27FC236}">
                <a16:creationId xmlns:a16="http://schemas.microsoft.com/office/drawing/2014/main" id="{4ED3635A-D73D-4A63-BD4A-937FFE018BD7}"/>
              </a:ext>
            </a:extLst>
          </p:cNvPr>
          <p:cNvSpPr>
            <a:spLocks xmlns:a="http://schemas.openxmlformats.org/drawingml/2006/main" noGrp="1"/>
          </p:cNvSpPr>
          <p:nvPr/>
        </p:nvSpPr>
        <p:spPr>
          <a:xfrm xmlns:a="http://schemas.openxmlformats.org/drawingml/2006/main">
            <a:off x="2324100" y="475297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매칭 의미와 사용자의 답변을 연결하다</a:t>
            </a:r>
          </a:p>
        </p:txBody>
      </p:sp>
      <p:sp>
        <p:nvSpPr>
          <p:cNvPr id="13" name="">
            <a:extLst xmlns:a="http://schemas.openxmlformats.org/drawingml/2006/main">
              <a:ext uri="{FF2B5EF4-FFF2-40B4-BE49-F238E27FC236}">
                <a16:creationId xmlns:a16="http://schemas.microsoft.com/office/drawing/2014/main" id="{2F1B4AEF-B172-46D2-8EDB-013D9A09572B}"/>
              </a:ext>
            </a:extLst>
          </p:cNvPr>
          <p:cNvSpPr>
            <a:spLocks xmlns:a="http://schemas.openxmlformats.org/drawingml/2006/main" noGrp="1"/>
          </p:cNvSpPr>
          <p:nvPr/>
        </p:nvSpPr>
        <p:spPr>
          <a:xfrm xmlns:a="http://schemas.openxmlformats.org/drawingml/2006/main">
            <a:off x="2324100" y="523875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답변 보존·권한·개정의 실제 왕복을 강화했다. 합성 계정 인수와 운영 사용자 완료를 구분해야 했다.</a:t>
            </a:r>
          </a:p>
        </p:txBody>
      </p:sp>
      <p:sp>
        <p:nvSpPr>
          <p:cNvPr id="14" name="">
            <a:extLst xmlns:a="http://schemas.openxmlformats.org/drawingml/2006/main">
              <a:ext uri="{FF2B5EF4-FFF2-40B4-BE49-F238E27FC236}">
                <a16:creationId xmlns:a16="http://schemas.microsoft.com/office/drawing/2014/main" id="{A4CA77BF-537F-47EA-BBA5-48A2E99BF6E4}"/>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B1BF945E-12E0-425E-BBDA-CA6CC1F5CA41}"/>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20 / 22</a:t>
            </a:r>
          </a:p>
        </p:txBody>
      </p:sp>
    </p:spTree>
    <p:extLst>
      <p:ext uri="{BB962C8B-B14F-4D97-AF65-F5344CB8AC3E}">
        <p14:creationId xmlns:p14="http://schemas.microsoft.com/office/powerpoint/2010/main" val="10996795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00A03DE-74A7-4001-9133-ED462B1A8089}"/>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주별 리뷰 5 / 5</a:t>
            </a:r>
          </a:p>
        </p:txBody>
      </p:sp>
      <p:sp>
        <p:nvSpPr>
          <p:cNvPr id="2" name="">
            <a:extLst xmlns:a="http://schemas.openxmlformats.org/drawingml/2006/main">
              <a:ext uri="{FF2B5EF4-FFF2-40B4-BE49-F238E27FC236}">
                <a16:creationId xmlns:a16="http://schemas.microsoft.com/office/drawing/2014/main" id="{192DF088-DF47-4903-B822-8569747510F5}"/>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날짜별 전체 기록과 커밋 원문은 history.html에서 확인할 수 있습니다.</a:t>
            </a:r>
          </a:p>
        </p:txBody>
      </p:sp>
      <p:sp>
        <p:nvSpPr>
          <p:cNvPr id="3" name="">
            <a:extLst xmlns:a="http://schemas.openxmlformats.org/drawingml/2006/main">
              <a:ext uri="{FF2B5EF4-FFF2-40B4-BE49-F238E27FC236}">
                <a16:creationId xmlns:a16="http://schemas.microsoft.com/office/drawing/2014/main" id="{30E2028F-17C3-4F42-8CB8-C68CABE4C4EA}"/>
              </a:ext>
            </a:extLst>
          </p:cNvPr>
          <p:cNvSpPr>
            <a:spLocks xmlns:a="http://schemas.openxmlformats.org/drawingml/2006/main" noGrp="1"/>
          </p:cNvSpPr>
          <p:nvPr/>
        </p:nvSpPr>
        <p:spPr>
          <a:xfrm xmlns:a="http://schemas.openxmlformats.org/drawingml/2006/main">
            <a:off x="685800" y="202882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09/14 주</a:t>
            </a:r>
          </a:p>
        </p:txBody>
      </p:sp>
      <p:sp>
        <p:nvSpPr>
          <p:cNvPr id="4" name="">
            <a:extLst xmlns:a="http://schemas.openxmlformats.org/drawingml/2006/main">
              <a:ext uri="{FF2B5EF4-FFF2-40B4-BE49-F238E27FC236}">
                <a16:creationId xmlns:a16="http://schemas.microsoft.com/office/drawing/2014/main" id="{934DB61F-3228-453F-8C3A-4293614F9235}"/>
              </a:ext>
            </a:extLst>
          </p:cNvPr>
          <p:cNvSpPr>
            <a:spLocks xmlns:a="http://schemas.openxmlformats.org/drawingml/2006/main" noGrp="1"/>
          </p:cNvSpPr>
          <p:nvPr/>
        </p:nvSpPr>
        <p:spPr>
          <a:xfrm xmlns:a="http://schemas.openxmlformats.org/drawingml/2006/main">
            <a:off x="2324100" y="202882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완전 분석을 기다리지 않고 후보를 공급하다</a:t>
            </a:r>
          </a:p>
        </p:txBody>
      </p:sp>
      <p:sp>
        <p:nvSpPr>
          <p:cNvPr id="5" name="">
            <a:extLst xmlns:a="http://schemas.openxmlformats.org/drawingml/2006/main">
              <a:ext uri="{FF2B5EF4-FFF2-40B4-BE49-F238E27FC236}">
                <a16:creationId xmlns:a16="http://schemas.microsoft.com/office/drawing/2014/main" id="{FE7E458D-A42F-49FD-A5FF-740DABDE8B50}"/>
              </a:ext>
            </a:extLst>
          </p:cNvPr>
          <p:cNvSpPr>
            <a:spLocks xmlns:a="http://schemas.openxmlformats.org/drawingml/2006/main" noGrp="1"/>
          </p:cNvSpPr>
          <p:nvPr/>
        </p:nvSpPr>
        <p:spPr>
          <a:xfrm xmlns:a="http://schemas.openxmlformats.org/drawingml/2006/main">
            <a:off x="2324100" y="251460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후보 노출과 자격 확정을 분리했다. 남은 확인을 누가 어떻게 끝내는지까지 제품이 설명해야 했다.</a:t>
            </a:r>
          </a:p>
        </p:txBody>
      </p:sp>
      <p:sp>
        <p:nvSpPr>
          <p:cNvPr id="6" name="">
            <a:extLst xmlns:a="http://schemas.openxmlformats.org/drawingml/2006/main">
              <a:ext uri="{FF2B5EF4-FFF2-40B4-BE49-F238E27FC236}">
                <a16:creationId xmlns:a16="http://schemas.microsoft.com/office/drawing/2014/main" id="{1FC587CD-90F5-4DD6-9679-3F77F666B522}"/>
              </a:ext>
            </a:extLst>
          </p:cNvPr>
          <p:cNvSpPr>
            <a:spLocks xmlns:a="http://schemas.openxmlformats.org/drawingml/2006/main" noGrp="1"/>
          </p:cNvSpPr>
          <p:nvPr/>
        </p:nvSpPr>
        <p:spPr>
          <a:xfrm xmlns:a="http://schemas.openxmlformats.org/drawingml/2006/main">
            <a:off x="685800" y="32956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C44C13-B536-4706-BA8A-198FA8C091E9}"/>
              </a:ext>
            </a:extLst>
          </p:cNvPr>
          <p:cNvSpPr>
            <a:spLocks xmlns:a="http://schemas.openxmlformats.org/drawingml/2006/main" noGrp="1"/>
          </p:cNvSpPr>
          <p:nvPr/>
        </p:nvSpPr>
        <p:spPr>
          <a:xfrm xmlns:a="http://schemas.openxmlformats.org/drawingml/2006/main">
            <a:off x="685800" y="339090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09/21 주</a:t>
            </a:r>
          </a:p>
        </p:txBody>
      </p:sp>
      <p:sp>
        <p:nvSpPr>
          <p:cNvPr id="8" name="">
            <a:extLst xmlns:a="http://schemas.openxmlformats.org/drawingml/2006/main">
              <a:ext uri="{FF2B5EF4-FFF2-40B4-BE49-F238E27FC236}">
                <a16:creationId xmlns:a16="http://schemas.microsoft.com/office/drawing/2014/main" id="{3C21EB3B-C477-4D43-82E5-108DE1A08089}"/>
              </a:ext>
            </a:extLst>
          </p:cNvPr>
          <p:cNvSpPr>
            <a:spLocks xmlns:a="http://schemas.openxmlformats.org/drawingml/2006/main" noGrp="1"/>
          </p:cNvSpPr>
          <p:nvPr/>
        </p:nvSpPr>
        <p:spPr>
          <a:xfrm xmlns:a="http://schemas.openxmlformats.org/drawingml/2006/main">
            <a:off x="2324100" y="3390900"/>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질문 하나와 실제 공급을 연결하다</a:t>
            </a:r>
          </a:p>
        </p:txBody>
      </p:sp>
      <p:sp>
        <p:nvSpPr>
          <p:cNvPr id="9" name="">
            <a:extLst xmlns:a="http://schemas.openxmlformats.org/drawingml/2006/main">
              <a:ext uri="{FF2B5EF4-FFF2-40B4-BE49-F238E27FC236}">
                <a16:creationId xmlns:a16="http://schemas.microsoft.com/office/drawing/2014/main" id="{0A407444-6D0C-4463-BF9E-4EF0F0D60F73}"/>
              </a:ext>
            </a:extLst>
          </p:cNvPr>
          <p:cNvSpPr>
            <a:spLocks xmlns:a="http://schemas.openxmlformats.org/drawingml/2006/main" noGrp="1"/>
          </p:cNvSpPr>
          <p:nvPr/>
        </p:nvSpPr>
        <p:spPr>
          <a:xfrm xmlns:a="http://schemas.openxmlformats.org/drawingml/2006/main">
            <a:off x="2324100" y="3876675"/>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질문 하나의 경험과 회사 사실 재사용을 구체화했다. 원문 결손과 검수 실패는 여전히 실제 공급 병목이었다.</a:t>
            </a:r>
          </a:p>
        </p:txBody>
      </p:sp>
      <p:sp>
        <p:nvSpPr>
          <p:cNvPr id="10" name="">
            <a:extLst xmlns:a="http://schemas.openxmlformats.org/drawingml/2006/main">
              <a:ext uri="{FF2B5EF4-FFF2-40B4-BE49-F238E27FC236}">
                <a16:creationId xmlns:a16="http://schemas.microsoft.com/office/drawing/2014/main" id="{B9DB5EB8-1E7F-453F-B734-CDC6703D269A}"/>
              </a:ext>
            </a:extLst>
          </p:cNvPr>
          <p:cNvSpPr>
            <a:spLocks xmlns:a="http://schemas.openxmlformats.org/drawingml/2006/main" noGrp="1"/>
          </p:cNvSpPr>
          <p:nvPr/>
        </p:nvSpPr>
        <p:spPr>
          <a:xfrm xmlns:a="http://schemas.openxmlformats.org/drawingml/2006/main">
            <a:off x="685800" y="465772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673149-DC88-49AE-9E7E-8DFEB1E34BF9}"/>
              </a:ext>
            </a:extLst>
          </p:cNvPr>
          <p:cNvSpPr>
            <a:spLocks xmlns:a="http://schemas.openxmlformats.org/drawingml/2006/main" noGrp="1"/>
          </p:cNvSpPr>
          <p:nvPr/>
        </p:nvSpPr>
        <p:spPr>
          <a:xfrm xmlns:a="http://schemas.openxmlformats.org/drawingml/2006/main">
            <a:off x="685800" y="4752975"/>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3182F6"/>
                </a:solidFill>
                <a:latin typeface="Apple SD Gothic Neo"/>
                <a:ea typeface="Apple SD Gothic Neo"/>
                <a:cs typeface="Apple SD Gothic Neo"/>
              </a:defRPr>
            </a:pPr>
            <a:r>
              <a:rPr sz="1500" b="1">
                <a:solidFill>
                  <a:srgbClr val="3182F6"/>
                </a:solidFill>
                <a:latin typeface="Apple SD Gothic Neo"/>
                <a:ea typeface="Apple SD Gothic Neo"/>
                <a:cs typeface="Apple SD Gothic Neo"/>
              </a:rPr>
              <a:t>09/28 주</a:t>
            </a:r>
          </a:p>
        </p:txBody>
      </p:sp>
      <p:sp>
        <p:nvSpPr>
          <p:cNvPr id="12" name="">
            <a:extLst xmlns:a="http://schemas.openxmlformats.org/drawingml/2006/main">
              <a:ext uri="{FF2B5EF4-FFF2-40B4-BE49-F238E27FC236}">
                <a16:creationId xmlns:a16="http://schemas.microsoft.com/office/drawing/2014/main" id="{3A75D9FF-E678-4916-B6F1-26F10B99EED2}"/>
              </a:ext>
            </a:extLst>
          </p:cNvPr>
          <p:cNvSpPr>
            <a:spLocks xmlns:a="http://schemas.openxmlformats.org/drawingml/2006/main" noGrp="1"/>
          </p:cNvSpPr>
          <p:nvPr/>
        </p:nvSpPr>
        <p:spPr>
          <a:xfrm xmlns:a="http://schemas.openxmlformats.org/drawingml/2006/main">
            <a:off x="2324100" y="4752975"/>
            <a:ext cx="9182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91F28"/>
                </a:solidFill>
                <a:latin typeface="Apple SD Gothic Neo"/>
                <a:ea typeface="Apple SD Gothic Neo"/>
                <a:cs typeface="Apple SD Gothic Neo"/>
              </a:defRPr>
            </a:pPr>
            <a:r>
              <a:rPr sz="2025" b="1">
                <a:solidFill>
                  <a:srgbClr val="191F28"/>
                </a:solidFill>
                <a:latin typeface="Apple SD Gothic Neo"/>
                <a:ea typeface="Apple SD Gothic Neo"/>
                <a:cs typeface="Apple SD Gothic Neo"/>
              </a:rPr>
              <a:t>작성 중심의 실제 구현과 화면 반영</a:t>
            </a:r>
          </a:p>
        </p:txBody>
      </p:sp>
      <p:sp>
        <p:nvSpPr>
          <p:cNvPr id="13" name="">
            <a:extLst xmlns:a="http://schemas.openxmlformats.org/drawingml/2006/main">
              <a:ext uri="{FF2B5EF4-FFF2-40B4-BE49-F238E27FC236}">
                <a16:creationId xmlns:a16="http://schemas.microsoft.com/office/drawing/2014/main" id="{461A2930-31DC-4396-8D53-9757A005DD97}"/>
              </a:ext>
            </a:extLst>
          </p:cNvPr>
          <p:cNvSpPr>
            <a:spLocks xmlns:a="http://schemas.openxmlformats.org/drawingml/2006/main" noGrp="1"/>
          </p:cNvSpPr>
          <p:nvPr/>
        </p:nvSpPr>
        <p:spPr>
          <a:xfrm xmlns:a="http://schemas.openxmlformats.org/drawingml/2006/main">
            <a:off x="2324100" y="5238750"/>
            <a:ext cx="9182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작성 중심 방향이 코드와 일부 배포에 닿았다. 화면 구조 대조의 중요성을 확인했고 실자료·로그인·파일 인수는</a:t>
            </a:r>
          </a:p>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남았다.</a:t>
            </a:r>
          </a:p>
        </p:txBody>
      </p:sp>
      <p:sp>
        <p:nvSpPr>
          <p:cNvPr id="14" name="">
            <a:extLst xmlns:a="http://schemas.openxmlformats.org/drawingml/2006/main">
              <a:ext uri="{FF2B5EF4-FFF2-40B4-BE49-F238E27FC236}">
                <a16:creationId xmlns:a16="http://schemas.microsoft.com/office/drawing/2014/main" id="{88849291-C63C-455C-AA50-967AAF551C0D}"/>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창업노트 6개월 회고 · 기록 기준 2026-10-01</a:t>
            </a:r>
          </a:p>
        </p:txBody>
      </p:sp>
      <p:sp>
        <p:nvSpPr>
          <p:cNvPr id="15" name="">
            <a:extLst xmlns:a="http://schemas.openxmlformats.org/drawingml/2006/main">
              <a:ext uri="{FF2B5EF4-FFF2-40B4-BE49-F238E27FC236}">
                <a16:creationId xmlns:a16="http://schemas.microsoft.com/office/drawing/2014/main" id="{AD610E0B-7951-4A79-B728-4D70720ED189}"/>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21 / 22</a:t>
            </a:r>
          </a:p>
        </p:txBody>
      </p:sp>
    </p:spTree>
    <p:extLst>
      <p:ext uri="{BB962C8B-B14F-4D97-AF65-F5344CB8AC3E}">
        <p14:creationId xmlns:p14="http://schemas.microsoft.com/office/powerpoint/2010/main" val="21138167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826C3E-B9BF-41FA-A75E-FC846DF469D4}"/>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191F28"/>
                </a:solidFill>
                <a:latin typeface="Apple SD Gothic Neo"/>
                <a:ea typeface="Apple SD Gothic Neo"/>
                <a:cs typeface="Apple SD Gothic Neo"/>
              </a:defRPr>
            </a:pPr>
            <a:r>
              <a:rPr sz="3225" b="1">
                <a:solidFill>
                  <a:srgbClr val="191F28"/>
                </a:solidFill>
                <a:latin typeface="Apple SD Gothic Neo"/>
                <a:ea typeface="Apple SD Gothic Neo"/>
                <a:cs typeface="Apple SD Gothic Neo"/>
              </a:rPr>
              <a:t>이 문서를 읽는 기준</a:t>
            </a:r>
          </a:p>
        </p:txBody>
      </p:sp>
      <p:sp>
        <p:nvSpPr>
          <p:cNvPr id="2" name="">
            <a:extLst xmlns:a="http://schemas.openxmlformats.org/drawingml/2006/main">
              <a:ext uri="{FF2B5EF4-FFF2-40B4-BE49-F238E27FC236}">
                <a16:creationId xmlns:a16="http://schemas.microsoft.com/office/drawing/2014/main" id="{404D0EFC-D02A-4D8A-9C7C-D7FBE12948C4}"/>
              </a:ext>
            </a:extLst>
          </p:cNvPr>
          <p:cNvSpPr>
            <a:spLocks xmlns:a="http://schemas.openxmlformats.org/drawingml/2006/main" noGrp="1"/>
          </p:cNvSpPr>
          <p:nvPr/>
        </p:nvSpPr>
        <p:spPr>
          <a:xfrm xmlns:a="http://schemas.openxmlformats.org/drawingml/2006/main">
            <a:off x="685800" y="12668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B7684"/>
                </a:solidFill>
                <a:latin typeface="Apple SD Gothic Neo"/>
                <a:ea typeface="Apple SD Gothic Neo"/>
                <a:cs typeface="Apple SD Gothic Neo"/>
              </a:defRPr>
            </a:pPr>
            <a:r>
              <a:rPr sz="1650" b="0">
                <a:solidFill>
                  <a:srgbClr val="6B7684"/>
                </a:solidFill>
                <a:latin typeface="Apple SD Gothic Neo"/>
                <a:ea typeface="Apple SD Gothic Neo"/>
                <a:cs typeface="Apple SD Gothic Neo"/>
              </a:rPr>
              <a:t>사실과 회고의 해석을 구분했습니다.</a:t>
            </a:r>
          </a:p>
        </p:txBody>
      </p:sp>
      <p:sp>
        <p:nvSpPr>
          <p:cNvPr id="3" name="">
            <a:extLst xmlns:a="http://schemas.openxmlformats.org/drawingml/2006/main">
              <a:ext uri="{FF2B5EF4-FFF2-40B4-BE49-F238E27FC236}">
                <a16:creationId xmlns:a16="http://schemas.microsoft.com/office/drawing/2014/main" id="{62F57060-4DB9-4F9D-A21A-B5C4817FCAF5}"/>
              </a:ext>
            </a:extLst>
          </p:cNvPr>
          <p:cNvSpPr>
            <a:spLocks xmlns:a="http://schemas.openxmlformats.org/drawingml/2006/main" noGrp="1"/>
          </p:cNvSpPr>
          <p:nvPr/>
        </p:nvSpPr>
        <p:spPr>
          <a:xfrm xmlns:a="http://schemas.openxmlformats.org/drawingml/2006/main">
            <a:off x="685800" y="217170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확인된 기록</a:t>
            </a:r>
          </a:p>
        </p:txBody>
      </p:sp>
      <p:sp>
        <p:nvSpPr>
          <p:cNvPr id="4" name="">
            <a:extLst xmlns:a="http://schemas.openxmlformats.org/drawingml/2006/main">
              <a:ext uri="{FF2B5EF4-FFF2-40B4-BE49-F238E27FC236}">
                <a16:creationId xmlns:a16="http://schemas.microsoft.com/office/drawing/2014/main" id="{0A26737B-50E9-4C36-A4EA-37079E96CDA2}"/>
              </a:ext>
            </a:extLst>
          </p:cNvPr>
          <p:cNvSpPr>
            <a:spLocks xmlns:a="http://schemas.openxmlformats.org/drawingml/2006/main" noGrp="1"/>
          </p:cNvSpPr>
          <p:nvPr/>
        </p:nvSpPr>
        <p:spPr>
          <a:xfrm xmlns:a="http://schemas.openxmlformats.org/drawingml/2006/main">
            <a:off x="3829050" y="217170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봉인한 Git SHA·문서 자체 날짜·당시 검증과 배포 기록</a:t>
            </a:r>
          </a:p>
        </p:txBody>
      </p:sp>
      <p:sp>
        <p:nvSpPr>
          <p:cNvPr id="5" name="">
            <a:extLst xmlns:a="http://schemas.openxmlformats.org/drawingml/2006/main">
              <a:ext uri="{FF2B5EF4-FFF2-40B4-BE49-F238E27FC236}">
                <a16:creationId xmlns:a16="http://schemas.microsoft.com/office/drawing/2014/main" id="{23CA4C78-D7A1-4AB5-964F-317AB31E2E93}"/>
              </a:ext>
            </a:extLst>
          </p:cNvPr>
          <p:cNvSpPr>
            <a:spLocks xmlns:a="http://schemas.openxmlformats.org/drawingml/2006/main" noGrp="1"/>
          </p:cNvSpPr>
          <p:nvPr/>
        </p:nvSpPr>
        <p:spPr>
          <a:xfrm xmlns:a="http://schemas.openxmlformats.org/drawingml/2006/main">
            <a:off x="685800" y="3181350"/>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A8E2C8-275D-4DB2-B043-50DE601A69A4}"/>
              </a:ext>
            </a:extLst>
          </p:cNvPr>
          <p:cNvSpPr>
            <a:spLocks xmlns:a="http://schemas.openxmlformats.org/drawingml/2006/main" noGrp="1"/>
          </p:cNvSpPr>
          <p:nvPr/>
        </p:nvSpPr>
        <p:spPr>
          <a:xfrm xmlns:a="http://schemas.openxmlformats.org/drawingml/2006/main">
            <a:off x="685800" y="3324225"/>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이번 회고의 해석</a:t>
            </a:r>
          </a:p>
        </p:txBody>
      </p:sp>
      <p:sp>
        <p:nvSpPr>
          <p:cNvPr id="7" name="">
            <a:extLst xmlns:a="http://schemas.openxmlformats.org/drawingml/2006/main">
              <a:ext uri="{FF2B5EF4-FFF2-40B4-BE49-F238E27FC236}">
                <a16:creationId xmlns:a16="http://schemas.microsoft.com/office/drawing/2014/main" id="{ECEC90CC-351C-4CD2-AC2E-9044DC41F7B5}"/>
              </a:ext>
            </a:extLst>
          </p:cNvPr>
          <p:cNvSpPr>
            <a:spLocks xmlns:a="http://schemas.openxmlformats.org/drawingml/2006/main" noGrp="1"/>
          </p:cNvSpPr>
          <p:nvPr/>
        </p:nvSpPr>
        <p:spPr>
          <a:xfrm xmlns:a="http://schemas.openxmlformats.org/drawingml/2006/main">
            <a:off x="3829050" y="3324225"/>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일자별 의미·주별 짧은 평과 방향에 대한 권장안</a:t>
            </a:r>
          </a:p>
        </p:txBody>
      </p:sp>
      <p:sp>
        <p:nvSpPr>
          <p:cNvPr id="8" name="">
            <a:extLst xmlns:a="http://schemas.openxmlformats.org/drawingml/2006/main">
              <a:ext uri="{FF2B5EF4-FFF2-40B4-BE49-F238E27FC236}">
                <a16:creationId xmlns:a16="http://schemas.microsoft.com/office/drawing/2014/main" id="{D446349E-485D-4227-A626-3CFB1D45594A}"/>
              </a:ext>
            </a:extLst>
          </p:cNvPr>
          <p:cNvSpPr>
            <a:spLocks xmlns:a="http://schemas.openxmlformats.org/drawingml/2006/main" noGrp="1"/>
          </p:cNvSpPr>
          <p:nvPr/>
        </p:nvSpPr>
        <p:spPr>
          <a:xfrm xmlns:a="http://schemas.openxmlformats.org/drawingml/2006/main">
            <a:off x="685800" y="4333875"/>
            <a:ext cx="10820400" cy="9525"/>
          </a:xfrm>
          <a:prstGeom xmlns:a="http://schemas.openxmlformats.org/drawingml/2006/main" prst="rect">
            <a:avLst/>
          </a:prstGeom>
          <a:solidFill xmlns:a="http://schemas.openxmlformats.org/drawingml/2006/main">
            <a:srgbClr val="E5E8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380D61-B476-4136-BA73-1346CDA5787C}"/>
              </a:ext>
            </a:extLst>
          </p:cNvPr>
          <p:cNvSpPr>
            <a:spLocks xmlns:a="http://schemas.openxmlformats.org/drawingml/2006/main" noGrp="1"/>
          </p:cNvSpPr>
          <p:nvPr/>
        </p:nvSpPr>
        <p:spPr>
          <a:xfrm xmlns:a="http://schemas.openxmlformats.org/drawingml/2006/main">
            <a:off x="685800" y="4476750"/>
            <a:ext cx="2895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91F28"/>
                </a:solidFill>
                <a:latin typeface="Apple SD Gothic Neo"/>
                <a:ea typeface="Apple SD Gothic Neo"/>
                <a:cs typeface="Apple SD Gothic Neo"/>
              </a:defRPr>
            </a:pPr>
            <a:r>
              <a:rPr sz="1875" b="1">
                <a:solidFill>
                  <a:srgbClr val="191F28"/>
                </a:solidFill>
                <a:latin typeface="Apple SD Gothic Neo"/>
                <a:ea typeface="Apple SD Gothic Neo"/>
                <a:cs typeface="Apple SD Gothic Neo"/>
              </a:rPr>
              <a:t>확인되지 않은 범위</a:t>
            </a:r>
          </a:p>
        </p:txBody>
      </p:sp>
      <p:sp>
        <p:nvSpPr>
          <p:cNvPr id="10" name="">
            <a:extLst xmlns:a="http://schemas.openxmlformats.org/drawingml/2006/main">
              <a:ext uri="{FF2B5EF4-FFF2-40B4-BE49-F238E27FC236}">
                <a16:creationId xmlns:a16="http://schemas.microsoft.com/office/drawing/2014/main" id="{7BAA529F-5B70-440C-B191-F84702593159}"/>
              </a:ext>
            </a:extLst>
          </p:cNvPr>
          <p:cNvSpPr>
            <a:spLocks xmlns:a="http://schemas.openxmlformats.org/drawingml/2006/main" noGrp="1"/>
          </p:cNvSpPr>
          <p:nvPr/>
        </p:nvSpPr>
        <p:spPr>
          <a:xfrm xmlns:a="http://schemas.openxmlformats.org/drawingml/2006/main">
            <a:off x="3829050" y="4476750"/>
            <a:ext cx="7677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B7684"/>
                </a:solidFill>
                <a:latin typeface="Apple SD Gothic Neo"/>
                <a:ea typeface="Apple SD Gothic Neo"/>
                <a:cs typeface="Apple SD Gothic Neo"/>
              </a:defRPr>
            </a:pPr>
            <a:r>
              <a:rPr sz="1875" b="0">
                <a:solidFill>
                  <a:srgbClr val="6B7684"/>
                </a:solidFill>
                <a:latin typeface="Apple SD Gothic Neo"/>
                <a:ea typeface="Apple SD Gothic Neo"/>
                <a:cs typeface="Apple SD Gothic Neo"/>
              </a:rPr>
              <a:t>4/1–6/18 활동, 현재 운영 전수 상태, 고객 성과</a:t>
            </a:r>
          </a:p>
        </p:txBody>
      </p:sp>
      <p:sp>
        <p:nvSpPr>
          <p:cNvPr id="11" name="">
            <a:extLst xmlns:a="http://schemas.openxmlformats.org/drawingml/2006/main">
              <a:ext uri="{FF2B5EF4-FFF2-40B4-BE49-F238E27FC236}">
                <a16:creationId xmlns:a16="http://schemas.microsoft.com/office/drawing/2014/main" id="{0E1C9F73-2333-426A-8F96-0E95C1D2243D}"/>
              </a:ext>
            </a:extLst>
          </p:cNvPr>
          <p:cNvSpPr>
            <a:spLocks xmlns:a="http://schemas.openxmlformats.org/drawingml/2006/main" noGrp="1"/>
          </p:cNvSpPr>
          <p:nvPr/>
        </p:nvSpPr>
        <p:spPr>
          <a:xfrm xmlns:a="http://schemas.openxmlformats.org/drawingml/2006/main">
            <a:off x="685800" y="6219825"/>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이 회고는 배포·모델 실행·서비스 DB 변경을 수행하지 않았습니다.</a:t>
            </a:r>
          </a:p>
        </p:txBody>
      </p:sp>
      <p:sp>
        <p:nvSpPr>
          <p:cNvPr id="12" name="">
            <a:extLst xmlns:a="http://schemas.openxmlformats.org/drawingml/2006/main">
              <a:ext uri="{FF2B5EF4-FFF2-40B4-BE49-F238E27FC236}">
                <a16:creationId xmlns:a16="http://schemas.microsoft.com/office/drawing/2014/main" id="{1A65DCC6-AAAA-41BF-8916-6168799DFABB}"/>
              </a:ext>
            </a:extLst>
          </p:cNvPr>
          <p:cNvSpPr>
            <a:spLocks xmlns:a="http://schemas.openxmlformats.org/drawingml/2006/main" noGrp="1"/>
          </p:cNvSpPr>
          <p:nvPr/>
        </p:nvSpPr>
        <p:spPr>
          <a:xfrm xmlns:a="http://schemas.openxmlformats.org/drawingml/2006/main">
            <a:off x="10668000" y="6219825"/>
            <a:ext cx="838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050" b="0">
                <a:solidFill>
                  <a:srgbClr val="6B7684"/>
                </a:solidFill>
                <a:latin typeface="Apple SD Gothic Neo"/>
                <a:ea typeface="Apple SD Gothic Neo"/>
                <a:cs typeface="Apple SD Gothic Neo"/>
              </a:defRPr>
            </a:pPr>
            <a:r>
              <a:rPr sz="1050" b="0">
                <a:solidFill>
                  <a:srgbClr val="6B7684"/>
                </a:solidFill>
                <a:latin typeface="Apple SD Gothic Neo"/>
                <a:ea typeface="Apple SD Gothic Neo"/>
                <a:cs typeface="Apple SD Gothic Neo"/>
              </a:rPr>
              <a:t>22 / 22</a:t>
            </a:r>
          </a:p>
        </p:txBody>
      </p:sp>
    </p:spTree>
    <p:extLst>
      <p:ext uri="{BB962C8B-B14F-4D97-AF65-F5344CB8AC3E}">
        <p14:creationId xmlns:p14="http://schemas.microsoft.com/office/powerpoint/2010/main" val="19301129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2026-10-01T00:52:15.1800000Z</dcterms:created>
  <dcterms:modified xsi:type="dcterms:W3CDTF">2026-10-01T00:52:15.1800000Z</dcterms:modified>
</coreProperties>
</file>