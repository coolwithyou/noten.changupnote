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905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48840"/>
            <a:ext cx="9905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</a:pPr>
            <a:r>
              <a:rPr sz="3800" b="1" i="0">
                <a:solidFill>
                  <a:srgbClr val="1D1D1D"/>
                </a:solidFill>
                <a:latin typeface="Pretendard"/>
                <a:ea typeface="Pretendard"/>
              </a:rPr>
              <a:t>AI는 읽고, 규칙이 판정합니다.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54680"/>
            <a:ext cx="9905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100" b="0" i="0">
                <a:solidFill>
                  <a:srgbClr val="555B63"/>
                </a:solidFill>
                <a:latin typeface="Pretendard"/>
                <a:ea typeface="Pretendard"/>
              </a:rPr>
              <a:t>Read by AI. Decided by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22191"/>
            <a:ext cx="99056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</a:pPr>
            <a:r>
              <a:rPr sz="1300" b="0" i="0">
                <a:solidFill>
                  <a:srgbClr val="7A8088"/>
                </a:solidFill>
                <a:latin typeface="Pretendard"/>
                <a:ea typeface="Pretendard"/>
              </a:rPr>
              <a:t>흩어진 정부지원 공고를 표준 계약으로 환원하고, 블랙박스가 아닌 설명 가능한 결정론 엔진이 당락을 결정합니다.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847" y="45262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09847" y="452628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Pretendard"/>
                <a:ea typeface="Pretendard"/>
              </a:rPr>
              <a:t>TECHNOLOGY · 기술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355080"/>
            <a:ext cx="9905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 spc="300">
                <a:solidFill>
                  <a:srgbClr val="9A9A9A"/>
                </a:solidFill>
                <a:latin typeface="Pretendard"/>
                <a:ea typeface="Pretendard"/>
              </a:rPr>
              <a:t>NOTEN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문제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928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9928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129E5E"/>
                </a:solidFill>
                <a:latin typeface="Pretendard"/>
                <a:ea typeface="Pretendard"/>
              </a:rPr>
              <a:t>검증됨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왜 아직 아무도 못 풀었나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정부지원사업은 사람이 한 건씩 읽어야만 “우리 회사가 되는지” 알 수 있습니다. 이 난이도가 곧 진입장벽입니다.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01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9339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222199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채널 파편화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67004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7A8088"/>
                </a:solidFill>
                <a:latin typeface="Pretendard"/>
                <a:ea typeface="Pretendard"/>
              </a:rPr>
              <a:t>K-Startup·기업마당 등 수십 개 채널에 흩어져 있어, 어디에 무엇이 열렸는지조차 파악하기 어렵습니다.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99339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23113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222199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비정형 자격요건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267004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7A8088"/>
                </a:solidFill>
                <a:latin typeface="Pretendard"/>
                <a:ea typeface="Pretendard"/>
              </a:rPr>
              <a:t>자격요건이 본문·HWP 표·첨부 산문에 흩어져 있어, 판정하려면 사람이 일일이 읽어야 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45643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941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368503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조건의 미묘함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13308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E03E4E"/>
                </a:solidFill>
                <a:latin typeface="Pretendard"/>
                <a:ea typeface="Pretendard"/>
              </a:rPr>
              <a:t>“업력 7년 이내”, “수도권 제외”, “신산업은 10년 완화”… 잘못하면 멀쩡한 공고에서 탈락합니다.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38344" y="3456432"/>
            <a:ext cx="4370832" cy="1298448"/>
          </a:xfrm>
          <a:prstGeom prst="roundRect">
            <a:avLst>
              <a:gd name="adj" fmla="val 915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36941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2F6BE5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3685032"/>
            <a:ext cx="32735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 i="0">
                <a:solidFill>
                  <a:srgbClr val="1D1D1D"/>
                </a:solidFill>
                <a:latin typeface="Pretendard"/>
                <a:ea typeface="Pretendard"/>
              </a:rPr>
              <a:t>접수처 225종 (실측)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2664" y="4133088"/>
            <a:ext cx="38221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</a:pPr>
            <a:r>
              <a:rPr sz="1130" b="0" i="0">
                <a:solidFill>
                  <a:srgbClr val="7A8088"/>
                </a:solidFill>
                <a:latin typeface="Pretendard"/>
                <a:ea typeface="Pretendard"/>
              </a:rPr>
              <a:t>K-Startup n=1,000 실측 — forms.gle 138종 등 225종으로 갈라져 통합 자동제출 자체가 불가능합니다.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937759"/>
            <a:ext cx="8899855" cy="493776"/>
          </a:xfrm>
          <a:prstGeom prst="roundRect">
            <a:avLst>
              <a:gd name="adj" fmla="val 18518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37759"/>
            <a:ext cx="835121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555B63"/>
                </a:solidFill>
                <a:latin typeface="Pretendard"/>
                <a:ea typeface="Pretendard"/>
              </a:rPr>
              <a:t>핵심 난제 = 비정형 공고 → </a:t>
            </a:r>
            <a:r>
              <a:rPr sz="1200" b="1" i="0">
                <a:solidFill>
                  <a:srgbClr val="1D1D1D"/>
                </a:solidFill>
                <a:latin typeface="Pretendard"/>
                <a:ea typeface="Pretendard"/>
              </a:rPr>
              <a:t>신뢰할 수 있는 구조화 + 설명 가능한 판정</a:t>
            </a:r>
            <a:r>
              <a:rPr sz="1200" b="0" i="0">
                <a:solidFill>
                  <a:srgbClr val="555B63"/>
                </a:solidFill>
                <a:latin typeface="Pretendard"/>
                <a:ea typeface="Pretendard"/>
              </a:rPr>
              <a:t>.  쉬웠다면 이미 풀렸을 문제입니다.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541264"/>
            <a:ext cx="8899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2B2F36"/>
                </a:solidFill>
                <a:latin typeface="Pretendard"/>
                <a:ea typeface="Pretendard"/>
              </a:rPr>
              <a:t>현재 열린 공고 ≈ 1,900건</a:t>
            </a: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   ·   기업마당 활성 1,588   ·   K-Startup open 304   ·   누적 29,187+ (대부분 마감)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핵심 아이디어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68296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68296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2F6BE5"/>
                </a:solidFill>
                <a:latin typeface="Pretendard"/>
                <a:ea typeface="Pretendard"/>
              </a:rPr>
              <a:t>구현됨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신용평가처럼 일합니다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은행은 블랙박스에 대출 승인을 맡기지 않습니다. AI가 서류를 읽고, 투명한 규칙이 결정하고 사유까지 설명합니다.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02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93392"/>
            <a:ext cx="4370832" cy="2304288"/>
          </a:xfrm>
          <a:prstGeom prst="roundRect">
            <a:avLst>
              <a:gd name="adj" fmla="val 5555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249424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49424"/>
            <a:ext cx="1691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555B63"/>
                </a:solidFill>
                <a:latin typeface="Pretendard"/>
                <a:ea typeface="Pretendard"/>
              </a:rPr>
              <a:t>신용평가 (은행)</a:t>
            </a:r>
          </a:p>
        </p:txBody>
      </p:sp>
      <p:sp>
        <p:nvSpPr>
          <p:cNvPr id="15" name="Oval 14"/>
          <p:cNvSpPr/>
          <p:nvPr/>
        </p:nvSpPr>
        <p:spPr>
          <a:xfrm>
            <a:off x="795528" y="2843784"/>
            <a:ext cx="118872" cy="118872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2779776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서류를 읽습니다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소득·재직·거래내역 수집</a:t>
            </a:r>
          </a:p>
        </p:txBody>
      </p:sp>
      <p:sp>
        <p:nvSpPr>
          <p:cNvPr id="17" name="Oval 16"/>
          <p:cNvSpPr/>
          <p:nvPr/>
        </p:nvSpPr>
        <p:spPr>
          <a:xfrm>
            <a:off x="795528" y="3337560"/>
            <a:ext cx="118872" cy="118872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1" y="3273552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규칙이 점수를 매깁니다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공개된 신용평가 모형</a:t>
            </a:r>
          </a:p>
        </p:txBody>
      </p:sp>
      <p:sp>
        <p:nvSpPr>
          <p:cNvPr id="19" name="Oval 18"/>
          <p:cNvSpPr/>
          <p:nvPr/>
        </p:nvSpPr>
        <p:spPr>
          <a:xfrm>
            <a:off x="795528" y="3831336"/>
            <a:ext cx="118872" cy="118872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3767328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결과에 사유가 붙습니다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“연체 이력으로 등급 하락”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8344" y="1993392"/>
            <a:ext cx="4370832" cy="2304288"/>
          </a:xfrm>
          <a:prstGeom prst="roundRect">
            <a:avLst>
              <a:gd name="adj" fmla="val 5555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12664" y="2249424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12664" y="2249424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Pretendard"/>
                <a:ea typeface="Pretendard"/>
              </a:rPr>
              <a:t>창업노트</a:t>
            </a:r>
          </a:p>
        </p:txBody>
      </p:sp>
      <p:sp>
        <p:nvSpPr>
          <p:cNvPr id="24" name="Oval 23"/>
          <p:cNvSpPr/>
          <p:nvPr/>
        </p:nvSpPr>
        <p:spPr>
          <a:xfrm>
            <a:off x="5330952" y="2843784"/>
            <a:ext cx="118872" cy="118872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68696" y="2779776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AI가 공고를 읽습니다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비정형 → 14축 표준 계약 (추출)</a:t>
            </a:r>
          </a:p>
        </p:txBody>
      </p:sp>
      <p:sp>
        <p:nvSpPr>
          <p:cNvPr id="26" name="Oval 25"/>
          <p:cNvSpPr/>
          <p:nvPr/>
        </p:nvSpPr>
        <p:spPr>
          <a:xfrm>
            <a:off x="5330952" y="3337560"/>
            <a:ext cx="118872" cy="118872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68696" y="3273552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규칙이 적격을 판정합니다</a:t>
            </a:r>
          </a:p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결정론 규칙엔진 (당락)</a:t>
            </a:r>
          </a:p>
        </p:txBody>
      </p:sp>
      <p:sp>
        <p:nvSpPr>
          <p:cNvPr id="28" name="Oval 27"/>
          <p:cNvSpPr/>
          <p:nvPr/>
        </p:nvSpPr>
        <p:spPr>
          <a:xfrm>
            <a:off x="5330952" y="3831336"/>
            <a:ext cx="118872" cy="118872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68696" y="3767328"/>
            <a:ext cx="3547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판정에 근거가 붙습니다</a:t>
            </a:r>
          </a:p>
          <a:p>
            <a:pPr algn="l"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“업력 7년 이내 — 귀사 4년 2개월 ✓”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462272"/>
            <a:ext cx="8899855" cy="530352"/>
          </a:xfrm>
          <a:prstGeom prst="roundRect">
            <a:avLst>
              <a:gd name="adj" fmla="val 20689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62272"/>
            <a:ext cx="83512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블랙박스 AI가 당락을 정하지 않습니다</a:t>
            </a:r>
            <a:r>
              <a:rPr sz="1250" b="0" i="0">
                <a:solidFill>
                  <a:srgbClr val="DCE3EF"/>
                </a:solidFill>
                <a:latin typeface="Pretendard"/>
                <a:ea typeface="Pretendard"/>
              </a:rPr>
              <a:t>  —  판정은 늘 재현·감사할 수 있고, LLM이 틀려도 영향은 “입력 품질”에 갇힙니다.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표준 계약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66544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6544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2F6BE5"/>
                </a:solidFill>
                <a:latin typeface="Pretendard"/>
                <a:ea typeface="Pretendard"/>
              </a:rPr>
              <a:t>구현됨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모든 공고를 하나의 표준 계약으로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공고를 14개 자격요건 차원과 7개 혜택 패밀리로 정규화합니다. 그래서 회사 데이터와 공고 데이터가 같은 언어로 비교됩니다.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03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93392"/>
            <a:ext cx="8899855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8351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자격요건 · 14개 차원</a:t>
            </a:r>
            <a:r>
              <a:rPr sz="1050" b="0" i="0">
                <a:solidFill>
                  <a:srgbClr val="9AA0A8"/>
                </a:solidFill>
                <a:latin typeface="Pretendard"/>
                <a:ea typeface="Pretendard"/>
              </a:rPr>
              <a:t>    region · biz_age · industry · size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지역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88558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8558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업력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99877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99877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업종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11196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1196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규모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22514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2514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매출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33833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3833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고용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5152" y="2596896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5152" y="2596896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대표자 연령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대표자 속성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88558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88558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인증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99877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99877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기수혜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1196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1196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지식재산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22514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2514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신청대상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33833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33833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영업상태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45152" y="3182112"/>
            <a:ext cx="1083302" cy="457200"/>
          </a:xfrm>
          <a:prstGeom prst="roundRect">
            <a:avLst>
              <a:gd name="adj" fmla="val 2000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5152" y="3182112"/>
            <a:ext cx="108330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1D1D1D"/>
                </a:solidFill>
                <a:latin typeface="Pretendard"/>
                <a:ea typeface="Pretendard"/>
              </a:rPr>
              <a:t>기타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3968496"/>
            <a:ext cx="5029200" cy="1591056"/>
          </a:xfrm>
          <a:prstGeom prst="roundRect">
            <a:avLst>
              <a:gd name="adj" fmla="val 8045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151376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혜택 · 7개 패밀리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4535424"/>
            <a:ext cx="7458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535424"/>
            <a:ext cx="745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자금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32800" y="4535424"/>
            <a:ext cx="1130675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32800" y="4535424"/>
            <a:ext cx="1130675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융자·보증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73203" y="4535424"/>
            <a:ext cx="7458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73203" y="4535424"/>
            <a:ext cx="745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역량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28764" y="4535424"/>
            <a:ext cx="7458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28764" y="4535424"/>
            <a:ext cx="745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공간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" y="5047488"/>
            <a:ext cx="7458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047488"/>
            <a:ext cx="745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시장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632800" y="5047488"/>
            <a:ext cx="9907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32800" y="5047488"/>
            <a:ext cx="9907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인증·IP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733260" y="5047488"/>
            <a:ext cx="745832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33260" y="5047488"/>
            <a:ext cx="745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25BCE"/>
                </a:solidFill>
                <a:latin typeface="Pretendard"/>
                <a:ea typeface="Pretendard"/>
              </a:rPr>
              <a:t>연결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96712" y="3968496"/>
            <a:ext cx="3706063" cy="1591056"/>
          </a:xfrm>
          <a:prstGeom prst="roundRect">
            <a:avLst>
              <a:gd name="adj" fmla="val 8045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52744" y="4169663"/>
            <a:ext cx="319399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9AA0A8"/>
                </a:solidFill>
                <a:latin typeface="Pretendard"/>
                <a:ea typeface="Pretendard"/>
              </a:rPr>
              <a:t>조건 종류   </a:t>
            </a:r>
            <a:r>
              <a:rPr sz="1200" b="1" i="0">
                <a:solidFill>
                  <a:srgbClr val="2B2F36"/>
                </a:solidFill>
                <a:latin typeface="Pretendard"/>
                <a:ea typeface="Pretendard"/>
              </a:rPr>
              <a:t>필수 · 우대 · 배제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050" b="1" i="0">
                <a:solidFill>
                  <a:srgbClr val="9AA0A8"/>
                </a:solidFill>
                <a:latin typeface="Pretendard"/>
                <a:ea typeface="Pretendard"/>
              </a:rPr>
              <a:t>연산자   </a:t>
            </a:r>
            <a:r>
              <a:rPr sz="1000" b="0" i="0">
                <a:solidFill>
                  <a:srgbClr val="555B63"/>
                </a:solidFill>
                <a:latin typeface="Pretendard"/>
                <a:ea typeface="Pretendard"/>
              </a:rPr>
              <a:t>in · not_in · lte · gte · between · exists · text_only</a:t>
            </a:r>
          </a:p>
          <a:p>
            <a:pPr algn="l">
              <a:spcBef>
                <a:spcPts val="0"/>
              </a:spcBef>
            </a:pPr>
            <a:r>
              <a:rPr sz="1050" b="1" i="0">
                <a:solidFill>
                  <a:srgbClr val="9AA0A8"/>
                </a:solidFill>
                <a:latin typeface="Pretendard"/>
                <a:ea typeface="Pretendard"/>
              </a:rPr>
              <a:t>판정   </a:t>
            </a:r>
            <a:r>
              <a:rPr sz="1200" b="1" i="0">
                <a:solidFill>
                  <a:srgbClr val="129E5E"/>
                </a:solidFill>
                <a:latin typeface="Pretendard"/>
                <a:ea typeface="Pretendard"/>
              </a:rPr>
              <a:t>적격</a:t>
            </a:r>
            <a:r>
              <a:rPr sz="1100" b="0" i="0">
                <a:solidFill>
                  <a:srgbClr val="9AA0A8"/>
                </a:solidFill>
                <a:latin typeface="Pretendard"/>
                <a:ea typeface="Pretendard"/>
              </a:rPr>
              <a:t> · </a:t>
            </a:r>
            <a:r>
              <a:rPr sz="1200" b="1" i="0">
                <a:solidFill>
                  <a:srgbClr val="E88B00"/>
                </a:solidFill>
                <a:latin typeface="Pretendard"/>
                <a:ea typeface="Pretendard"/>
              </a:rPr>
              <a:t>조건부</a:t>
            </a:r>
            <a:r>
              <a:rPr sz="1100" b="0" i="0">
                <a:solidFill>
                  <a:srgbClr val="9AA0A8"/>
                </a:solidFill>
                <a:latin typeface="Pretendard"/>
                <a:ea typeface="Pretendard"/>
              </a:rPr>
              <a:t> · </a:t>
            </a:r>
            <a:r>
              <a:rPr sz="1200" b="1" i="0">
                <a:solidFill>
                  <a:srgbClr val="E03E4E"/>
                </a:solidFill>
                <a:latin typeface="Pretendard"/>
                <a:ea typeface="Pretendard"/>
              </a:rPr>
              <a:t>부적격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인사이트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129E5E"/>
                </a:solidFill>
                <a:latin typeface="Pretendard"/>
                <a:ea typeface="Pretendard"/>
              </a:rPr>
              <a:t>검증됨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지원사업은 ‘돈’이 아니라 ‘기회의 묶음’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실데이터 전수 분석 결과, 순수 자금은 10.1%뿐입니다. 컨설팅·판로·전시·인증이 자금만큼 자주 등장합니다.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04 / 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21408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2B2F36"/>
                </a:solidFill>
                <a:latin typeface="Pretendard"/>
                <a:ea typeface="Pretendard"/>
              </a:rPr>
              <a:t>컨설팅·진단·자문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176272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2176272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212140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25BCE"/>
                </a:solidFill>
                <a:latin typeface="Pretendard"/>
                <a:ea typeface="Pretendard"/>
              </a:rPr>
              <a:t>25.3%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88336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2B2F36"/>
                </a:solidFill>
                <a:latin typeface="Pretendard"/>
                <a:ea typeface="Pretendard"/>
              </a:rPr>
              <a:t>전시·해외진출·수출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6120" y="2743200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6120" y="2743200"/>
            <a:ext cx="4355146" cy="274320"/>
          </a:xfrm>
          <a:prstGeom prst="roundRect">
            <a:avLst>
              <a:gd name="adj" fmla="val 2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0994" y="2688336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25BCE"/>
                </a:solidFill>
                <a:latin typeface="Pretendard"/>
                <a:ea typeface="Pretendard"/>
              </a:rPr>
              <a:t>24.1%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55263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2B2F36"/>
                </a:solidFill>
                <a:latin typeface="Pretendard"/>
                <a:ea typeface="Pretendard"/>
              </a:rPr>
              <a:t>마케팅·판로·홍보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3310127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46120" y="3310127"/>
            <a:ext cx="4282861" cy="274320"/>
          </a:xfrm>
          <a:prstGeom prst="roundRect">
            <a:avLst>
              <a:gd name="adj" fmla="val 2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8709" y="3255263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25BCE"/>
                </a:solidFill>
                <a:latin typeface="Pretendard"/>
                <a:ea typeface="Pretendard"/>
              </a:rPr>
              <a:t>23.7%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22191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2B2F36"/>
                </a:solidFill>
                <a:latin typeface="Pretendard"/>
                <a:ea typeface="Pretendard"/>
              </a:rPr>
              <a:t>인증·특허·IP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877055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46120" y="3877055"/>
            <a:ext cx="3596158" cy="274320"/>
          </a:xfrm>
          <a:prstGeom prst="roundRect">
            <a:avLst>
              <a:gd name="adj" fmla="val 2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2006" y="3822191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25BCE"/>
                </a:solidFill>
                <a:latin typeface="Pretendard"/>
                <a:ea typeface="Pretendard"/>
              </a:rPr>
              <a:t>19.9%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2B2F36"/>
                </a:solidFill>
                <a:latin typeface="Pretendard"/>
                <a:ea typeface="Pretendard"/>
              </a:rPr>
              <a:t>융자·보증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443983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246120" y="4443983"/>
            <a:ext cx="2511889" cy="274320"/>
          </a:xfrm>
          <a:prstGeom prst="roundRect">
            <a:avLst>
              <a:gd name="adj" fmla="val 2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67737" y="4389120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225BCE"/>
                </a:solidFill>
                <a:latin typeface="Pretendard"/>
                <a:ea typeface="Pretendard"/>
              </a:rPr>
              <a:t>13.9%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56048"/>
            <a:ext cx="26060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1" i="0">
                <a:solidFill>
                  <a:srgbClr val="1D1D1D"/>
                </a:solidFill>
                <a:latin typeface="Pretendard"/>
                <a:ea typeface="Pretendard"/>
              </a:rPr>
              <a:t>자금 (순수 지원금)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46120" y="5010912"/>
            <a:ext cx="4572000" cy="274320"/>
          </a:xfrm>
          <a:prstGeom prst="roundRect">
            <a:avLst>
              <a:gd name="adj" fmla="val 2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246120" y="5010912"/>
            <a:ext cx="1825185" cy="274320"/>
          </a:xfrm>
          <a:prstGeom prst="roundRect">
            <a:avLst>
              <a:gd name="adj" fmla="val 20000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81033" y="4956048"/>
            <a:ext cx="822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10.1%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568695"/>
            <a:ext cx="8899855" cy="530352"/>
          </a:xfrm>
          <a:prstGeom prst="roundRect">
            <a:avLst>
              <a:gd name="adj" fmla="val 20689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568695"/>
            <a:ext cx="835121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DCE3EF"/>
                </a:solidFill>
                <a:latin typeface="Pretendard"/>
                <a:ea typeface="Pretendard"/>
              </a:rPr>
              <a:t>그래서 창업노트는 공고를 </a:t>
            </a:r>
            <a:r>
              <a:rPr sz="1250" b="1" i="0">
                <a:solidFill>
                  <a:srgbClr val="FFFFFF"/>
                </a:solidFill>
                <a:latin typeface="Pretendard"/>
                <a:ea typeface="Pretendard"/>
              </a:rPr>
              <a:t>‘얼마 주는가’가 아니라 ‘무엇을 해금하는가’</a:t>
            </a:r>
            <a:r>
              <a:rPr sz="1250" b="0" i="0">
                <a:solidFill>
                  <a:srgbClr val="DCE3EF"/>
                </a:solidFill>
                <a:latin typeface="Pretendard"/>
                <a:ea typeface="Pretendard"/>
              </a:rPr>
              <a:t>로 구조화합니다.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작동 방식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66544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6544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2F6BE5"/>
                </a:solidFill>
                <a:latin typeface="Pretendard"/>
                <a:ea typeface="Pretendard"/>
              </a:rPr>
              <a:t>구현됨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작동 방식 — 한 장으로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비정형 공고를 회사와 같은 좌표계(14축)로 환원한 뒤, 결정론 규칙이 적격·근거·다음 행동을 자동으로 산출합니다.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05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4323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226771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50">
                <a:solidFill>
                  <a:srgbClr val="2F6BE5"/>
                </a:solidFill>
                <a:latin typeface="Pretendard"/>
                <a:ea typeface="Pretendard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487168"/>
            <a:ext cx="2020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D1D1D"/>
                </a:solidFill>
                <a:latin typeface="Pretendard"/>
                <a:ea typeface="Pretendard"/>
              </a:rPr>
              <a:t>비정형 공고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281635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A8088"/>
                </a:solidFill>
                <a:latin typeface="Pretendard"/>
                <a:ea typeface="Pretendard"/>
              </a:rPr>
              <a:t>본문 · HWP 표 · 첨부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182879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2F6BE5"/>
                </a:solidFill>
                <a:latin typeface="Pretendard"/>
                <a:ea typeface="Pretendard"/>
              </a:rPr>
              <a:t>AI 추출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103120"/>
            <a:ext cx="6766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2103120"/>
            <a:ext cx="2615184" cy="1005840"/>
          </a:xfrm>
          <a:prstGeom prst="roundRect">
            <a:avLst>
              <a:gd name="adj" fmla="val 10909"/>
            </a:avLst>
          </a:prstGeom>
          <a:solidFill>
            <a:srgbClr val="F3F6FD"/>
          </a:solidFill>
          <a:ln w="1397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31336" y="2267712"/>
            <a:ext cx="2203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50">
                <a:solidFill>
                  <a:srgbClr val="2F6BE5"/>
                </a:solidFill>
                <a:latin typeface="Pretendard"/>
                <a:ea typeface="Pretendard"/>
              </a:rPr>
              <a:t>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2487168"/>
            <a:ext cx="220370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D1D1D"/>
                </a:solidFill>
                <a:latin typeface="Pretendard"/>
                <a:ea typeface="Pretendard"/>
              </a:rPr>
              <a:t>14축 표준 계약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2816352"/>
            <a:ext cx="22037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A8088"/>
                </a:solidFill>
                <a:latin typeface="Pretendard"/>
                <a:ea typeface="Pretendard"/>
              </a:rPr>
              <a:t>controlled list · 근거(span) 동봉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27064" y="1828799"/>
            <a:ext cx="67665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50" b="1" i="0">
                <a:solidFill>
                  <a:srgbClr val="2F6BE5"/>
                </a:solidFill>
                <a:latin typeface="Pretendard"/>
                <a:ea typeface="Pretendard"/>
              </a:rPr>
              <a:t>규칙 판정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2103120"/>
            <a:ext cx="676656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2103120"/>
            <a:ext cx="2432304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397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3176" y="226771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950" b="1" i="0" spc="50">
                <a:solidFill>
                  <a:srgbClr val="2F6BE5"/>
                </a:solidFill>
                <a:latin typeface="Pretendard"/>
                <a:ea typeface="Pretendard"/>
              </a:rPr>
              <a:t>VERDICT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3176" y="2487168"/>
            <a:ext cx="2020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50" b="1" i="0">
                <a:solidFill>
                  <a:srgbClr val="1D1D1D"/>
                </a:solidFill>
                <a:latin typeface="Pretendard"/>
                <a:ea typeface="Pretendard"/>
              </a:rPr>
              <a:t>적격·조건부·부적격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3176" y="2816352"/>
            <a:ext cx="2020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 i="0">
                <a:solidFill>
                  <a:srgbClr val="7A8088"/>
                </a:solidFill>
                <a:latin typeface="Pretendard"/>
                <a:ea typeface="Pretendard"/>
              </a:rPr>
              <a:t>+ 근거(rule_trace) + 다음 행동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346704"/>
            <a:ext cx="4892040" cy="1993392"/>
          </a:xfrm>
          <a:prstGeom prst="roundRect">
            <a:avLst>
              <a:gd name="adj" fmla="val 6422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" y="3566160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C7C9CC"/>
                </a:solidFill>
                <a:latin typeface="Pretendard"/>
                <a:ea typeface="Pretendard"/>
              </a:rPr>
              <a:t>판정 = 단 3줄의 결정론 규칙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" y="3913632"/>
            <a:ext cx="4343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DCE3EF"/>
                </a:solidFill>
                <a:latin typeface="Pretendard"/>
                <a:ea typeface="Pretendard"/>
              </a:rPr>
              <a:t>1.  필수·배제 중 하나라도 </a:t>
            </a:r>
            <a:r>
              <a:rPr sz="1350" b="1" i="0">
                <a:solidFill>
                  <a:srgbClr val="FF8A93"/>
                </a:solidFill>
                <a:latin typeface="Pretendard"/>
                <a:ea typeface="Pretendard"/>
              </a:rPr>
              <a:t>fail</a:t>
            </a: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  →  부적격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DCE3EF"/>
                </a:solidFill>
                <a:latin typeface="Pretendard"/>
                <a:ea typeface="Pretendard"/>
              </a:rPr>
              <a:t>2.  fail은 없는데 </a:t>
            </a:r>
            <a:r>
              <a:rPr sz="1350" b="1" i="0">
                <a:solidFill>
                  <a:srgbClr val="FFC15E"/>
                </a:solidFill>
                <a:latin typeface="Pretendard"/>
                <a:ea typeface="Pretendard"/>
              </a:rPr>
              <a:t>unknown</a:t>
            </a: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  →  조건부</a:t>
            </a:r>
          </a:p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DCE3EF"/>
                </a:solidFill>
                <a:latin typeface="Pretendard"/>
                <a:ea typeface="Pretendard"/>
              </a:rPr>
              <a:t>3.  전부 </a:t>
            </a:r>
            <a:r>
              <a:rPr sz="1350" b="1" i="0">
                <a:solidFill>
                  <a:srgbClr val="6DDCA0"/>
                </a:solidFill>
                <a:latin typeface="Pretendard"/>
                <a:ea typeface="Pretendard"/>
              </a:rPr>
              <a:t>pass</a:t>
            </a:r>
            <a:r>
              <a:rPr sz="1350" b="1" i="0">
                <a:solidFill>
                  <a:srgbClr val="FFFFFF"/>
                </a:solidFill>
                <a:latin typeface="Pretendard"/>
                <a:ea typeface="Pretendard"/>
              </a:rPr>
              <a:t>  →  적격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59551" y="3346704"/>
            <a:ext cx="3843223" cy="1993392"/>
          </a:xfrm>
          <a:prstGeom prst="roundRect">
            <a:avLst>
              <a:gd name="adj" fmla="val 6422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59" y="3602736"/>
            <a:ext cx="329458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1" i="0">
                <a:solidFill>
                  <a:srgbClr val="1D1D1D"/>
                </a:solidFill>
                <a:latin typeface="Pretendard"/>
                <a:ea typeface="Pretendard"/>
              </a:rPr>
              <a:t>“AI는 읽고, 규칙이 판정합니다.”</a:t>
            </a:r>
          </a:p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900"/>
              </a:spcAft>
            </a:pPr>
            <a:r>
              <a:rPr sz="1180" b="0" i="0">
                <a:solidFill>
                  <a:srgbClr val="555B63"/>
                </a:solidFill>
                <a:latin typeface="Pretendard"/>
                <a:ea typeface="Pretendard"/>
              </a:rPr>
              <a:t>블랙박스가 당락을 정하지 않으니, 판정은 늘 재현하고 감사할 수 있습니다.</a:t>
            </a:r>
          </a:p>
          <a:p>
            <a:pPr algn="l">
              <a:lnSpc>
                <a:spcPct val="138000"/>
              </a:lnSpc>
              <a:spcBef>
                <a:spcPts val="0"/>
              </a:spcBef>
            </a:pPr>
            <a:r>
              <a:rPr sz="1100" b="0" i="0">
                <a:solidFill>
                  <a:srgbClr val="7A8088"/>
                </a:solidFill>
                <a:latin typeface="Pretendard"/>
                <a:ea typeface="Pretendard"/>
              </a:rPr>
              <a:t>무거운 수집(Python/GCP)과 빠른 사용자 경로(읽기 전용)를 표준 계약 하나로 분리해 비용·지연을 통제합니다.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차별점 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61972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61972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2F6BE5"/>
                </a:solidFill>
                <a:latin typeface="Pretendard"/>
                <a:ea typeface="Pretendard"/>
              </a:rPr>
              <a:t>구현됨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정직하게 설계된 신뢰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“87점” 같은 가짜 단일점수를 거부합니다. 모르는 것을 함부로 “안 됨”으로 단정하지 않습니다.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06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65960"/>
            <a:ext cx="4370832" cy="2743200"/>
          </a:xfrm>
          <a:prstGeom prst="roundRect">
            <a:avLst>
              <a:gd name="adj" fmla="val 4666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221991"/>
            <a:ext cx="1874519" cy="365760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221991"/>
            <a:ext cx="18745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E88B00"/>
                </a:solidFill>
                <a:latin typeface="Pretendard"/>
                <a:ea typeface="Pretendard"/>
              </a:rPr>
              <a:t>거짓 탈락 금지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382219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정보가 없으면 </a:t>
            </a:r>
            <a:r>
              <a:rPr sz="1250" b="1" i="0">
                <a:solidFill>
                  <a:srgbClr val="E88B00"/>
                </a:solidFill>
                <a:latin typeface="Pretendard"/>
                <a:ea typeface="Pretendard"/>
              </a:rPr>
              <a:t>unknown(조건부)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으로 두고 사용자에게 물어봅니다.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모른다고 해서 </a:t>
            </a: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“안 됨”으로 단정하지 않습니다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.</a:t>
            </a:r>
          </a:p>
          <a:p>
            <a:pPr algn="l">
              <a:lnSpc>
                <a:spcPct val="140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자가신고·예비창업 등 </a:t>
            </a:r>
            <a:r>
              <a:rPr sz="1250" b="1" i="0">
                <a:solidFill>
                  <a:srgbClr val="2B2F36"/>
                </a:solidFill>
                <a:latin typeface="Pretendard"/>
                <a:ea typeface="Pretendard"/>
              </a:rPr>
              <a:t>신뢰도 낮은 출처는 confidence가 점수를 자동으로 낮춥니다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965960"/>
            <a:ext cx="4370832" cy="2743200"/>
          </a:xfrm>
          <a:prstGeom prst="roundRect">
            <a:avLst>
              <a:gd name="adj" fmla="val 4666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203704"/>
            <a:ext cx="3822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1" i="0">
                <a:solidFill>
                  <a:srgbClr val="2B2F36"/>
                </a:solidFill>
                <a:latin typeface="Pretendard"/>
                <a:ea typeface="Pretendard"/>
              </a:rPr>
              <a:t>점수 3분해 — 신뢰와 추측을 섞지 않습니다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12664" y="2679191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679191"/>
            <a:ext cx="1508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129E5E"/>
                </a:solidFill>
                <a:latin typeface="Pretendard"/>
                <a:ea typeface="Pretendard"/>
              </a:rPr>
              <a:t>적합도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2679191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지금 신뢰 가능 · 규칙엔진 산출 · 헤드라인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12664" y="3136391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FDF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3136391"/>
            <a:ext cx="1508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E88B00"/>
                </a:solidFill>
                <a:latin typeface="Pretendard"/>
                <a:ea typeface="Pretendard"/>
              </a:rPr>
              <a:t>선정가능성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3136391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데이터 누적 후 학습 · “추정” 라벨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12664" y="3593591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12664" y="3593591"/>
            <a:ext cx="15087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2F6BE5"/>
                </a:solidFill>
                <a:latin typeface="Pretendard"/>
                <a:ea typeface="Pretendard"/>
              </a:rPr>
              <a:t>가치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0296" y="3593591"/>
            <a:ext cx="2194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80" b="0" i="0">
                <a:solidFill>
                  <a:srgbClr val="7A8088"/>
                </a:solidFill>
                <a:latin typeface="Pretendard"/>
                <a:ea typeface="Pretendard"/>
              </a:rPr>
              <a:t>혜택 − 부담 합산 · 보조 배지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12664" y="4105655"/>
            <a:ext cx="3822192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4105655"/>
            <a:ext cx="359359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150" b="1" i="0">
                <a:solidFill>
                  <a:srgbClr val="225BCE"/>
                </a:solidFill>
                <a:latin typeface="Pretendard"/>
                <a:ea typeface="Pretendard"/>
              </a:rPr>
              <a:t>“지금 78점 → 매출 입력 시 최대 92점”</a:t>
            </a:r>
          </a:p>
          <a:p>
            <a:pPr algn="l"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확정 하한·잠재 상한을 함께 제시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855464"/>
            <a:ext cx="8899855" cy="493776"/>
          </a:xfrm>
          <a:prstGeom prst="roundRect">
            <a:avLst>
              <a:gd name="adj" fmla="val 18518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855464"/>
            <a:ext cx="835121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1D1D1D"/>
                </a:solidFill>
                <a:latin typeface="Pretendard"/>
                <a:ea typeface="Pretendard"/>
              </a:rPr>
              <a:t>거짓 확신을 구조적으로 차단</a:t>
            </a: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 — VC가 산출물을 신뢰할 수 있는 이유이자, 곧 라벨링 단위가 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실증 · 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53412" y="416052"/>
            <a:ext cx="704485" cy="246888"/>
          </a:xfrm>
          <a:prstGeom prst="roundRect">
            <a:avLst>
              <a:gd name="adj" fmla="val 50000"/>
            </a:avLst>
          </a:prstGeom>
          <a:solidFill>
            <a:srgbClr val="E3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53412" y="416052"/>
            <a:ext cx="704485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129E5E"/>
                </a:solidFill>
                <a:latin typeface="Pretendard"/>
                <a:ea typeface="Pretendard"/>
              </a:rPr>
              <a:t>검증됨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슬라이드웨어가 아니라, 이미 돌아가는 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설계가 아니라 실측입니다. 비정형 공고를 표준 계약으로 환원하고, 매칭 엔진을 실데이터에서 엔드투엔드로 실증했습니다.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07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03120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3" y="1865376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3" y="186537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Pretendard"/>
                <a:ea typeface="Pretendard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78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K-Startup 척추 6차원을 LLM 없이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63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파서만으로 자동 산출 · 오류·비용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2" y="2103120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85615" y="1865376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5615" y="186537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Pretendard"/>
                <a:ea typeface="Pretendard"/>
              </a:rPr>
              <a:t>~1,900+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2578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활성 공고 전수 정리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3163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기업마당 1,588 · K-Startup open 304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1384" y="2103120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84848" y="1865376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186537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Pretendard"/>
                <a:ea typeface="Pretendard"/>
              </a:rPr>
              <a:t>63·88·64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257860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엔드투엔드 매칭 데모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316382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930" b="0" i="0">
                <a:solidFill>
                  <a:srgbClr val="9AA0A8"/>
                </a:solidFill>
                <a:latin typeface="Pretendard"/>
                <a:ea typeface="Pretendard"/>
              </a:rPr>
              <a:t>가상 사업자 × open 215건 → </a:t>
            </a:r>
            <a:r>
              <a:rPr sz="930" b="1" i="0">
                <a:solidFill>
                  <a:srgbClr val="129E5E"/>
                </a:solidFill>
                <a:latin typeface="Pretendard"/>
                <a:ea typeface="Pretendard"/>
              </a:rPr>
              <a:t>적격</a:t>
            </a:r>
            <a:r>
              <a:rPr sz="930" b="0" i="0">
                <a:solidFill>
                  <a:srgbClr val="9AA0A8"/>
                </a:solidFill>
                <a:latin typeface="Pretendard"/>
                <a:ea typeface="Pretendard"/>
              </a:rPr>
              <a:t>·</a:t>
            </a:r>
            <a:r>
              <a:rPr sz="930" b="1" i="0">
                <a:solidFill>
                  <a:srgbClr val="E88B00"/>
                </a:solidFill>
                <a:latin typeface="Pretendard"/>
                <a:ea typeface="Pretendard"/>
              </a:rPr>
              <a:t>조건부</a:t>
            </a:r>
            <a:r>
              <a:rPr sz="930" b="0" i="0">
                <a:solidFill>
                  <a:srgbClr val="9AA0A8"/>
                </a:solidFill>
                <a:latin typeface="Pretendard"/>
                <a:ea typeface="Pretendard"/>
              </a:rPr>
              <a:t>·</a:t>
            </a:r>
            <a:r>
              <a:rPr sz="930" b="1" i="0">
                <a:solidFill>
                  <a:srgbClr val="E03E4E"/>
                </a:solidFill>
                <a:latin typeface="Pretendard"/>
                <a:ea typeface="Pretendard"/>
              </a:rPr>
              <a:t>부적격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950208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3" y="3712464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3" y="371246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900" b="1" i="0">
                <a:solidFill>
                  <a:srgbClr val="FFFFFF"/>
                </a:solidFill>
                <a:latin typeface="Pretendard"/>
                <a:ea typeface="Pretendard"/>
              </a:rPr>
              <a:t>1/3 →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42569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LLM JSON 파싱 실패율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tool-use(구조화 출력) 전환 효과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02152" y="3950208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785615" y="3712464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85615" y="371246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Pretendard"/>
                <a:ea typeface="Pretendard"/>
              </a:rPr>
              <a:t>11 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85032" y="442569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HWP 자격요건 표 셀 단위 보존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85032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pyhwp hwp5html → LLM-ready 마크다운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1384" y="3950208"/>
            <a:ext cx="2834640" cy="1481328"/>
          </a:xfrm>
          <a:prstGeom prst="roundRect">
            <a:avLst>
              <a:gd name="adj" fmla="val 8024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84848" y="3712464"/>
            <a:ext cx="2267712" cy="475488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84848" y="371246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Pretendard"/>
                <a:ea typeface="Pretendard"/>
              </a:rPr>
              <a:t>50 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4264" y="4425696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운영 가능한 API 표면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84264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950" b="0" i="0">
                <a:solidFill>
                  <a:srgbClr val="9AA0A8"/>
                </a:solidFill>
                <a:latin typeface="Pretendard"/>
                <a:ea typeface="Pretendard"/>
              </a:rPr>
              <a:t>검증 스크립트 29 · use-case 11 · RLS·인증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5705856"/>
            <a:ext cx="8899855" cy="475488"/>
          </a:xfrm>
          <a:prstGeom prst="roundRect">
            <a:avLst>
              <a:gd name="adj" fmla="val 19230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705856"/>
            <a:ext cx="8351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1D1D1D"/>
                </a:solidFill>
                <a:latin typeface="Pretendard"/>
                <a:ea typeface="Pretendard"/>
              </a:rPr>
              <a:t>정직성 게이트.  </a:t>
            </a:r>
            <a:r>
              <a:rPr sz="1150" b="0" i="0">
                <a:solidFill>
                  <a:srgbClr val="555B63"/>
                </a:solidFill>
                <a:latin typeface="Pretendard"/>
                <a:ea typeface="Pretendard"/>
              </a:rPr>
              <a:t>도메인 골든셋 기반 정밀도/재현율(P/R)은 진행 중이라, 그 전에는 </a:t>
            </a:r>
            <a:r>
              <a:rPr sz="1150" b="1" i="0">
                <a:solidFill>
                  <a:srgbClr val="2B2F36"/>
                </a:solidFill>
                <a:latin typeface="Pretendard"/>
                <a:ea typeface="Pretendard"/>
              </a:rPr>
              <a:t>“정확도 검증 완료”라고 말하지 않습니다</a:t>
            </a:r>
            <a:r>
              <a:rPr sz="1150" b="0" i="0">
                <a:solidFill>
                  <a:srgbClr val="555B63"/>
                </a:solidFill>
                <a:latin typeface="Pretendard"/>
                <a:ea typeface="Pretendard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차별점 ② · 해자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74036" y="416052"/>
            <a:ext cx="923146" cy="24688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74036" y="416052"/>
            <a:ext cx="92314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8088"/>
                </a:solidFill>
                <a:latin typeface="Pretendard"/>
                <a:ea typeface="Pretendard"/>
              </a:rPr>
              <a:t>설계·비전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700" b="1" i="0">
                <a:solidFill>
                  <a:srgbClr val="1D1D1D"/>
                </a:solidFill>
                <a:latin typeface="Pretendard"/>
                <a:ea typeface="Pretendard"/>
              </a:rPr>
              <a:t>데이터가 쌓일수록 강해집니다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데이터가 쌓일수록 추천은 정교해지지만, 적격 판정만큼은 언제나 결정론적이고 설명할 수 있게 유지합니다.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08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운영 (점수·버전 로깅)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0824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48407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8135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저신뢰·피드백·outcome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6311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93895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3623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라벨링 → 골든셋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1799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9383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49111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CI 평가 게이트 (회귀 시 차단)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287" y="1993392"/>
            <a:ext cx="327583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C7C9CC"/>
                </a:solidFill>
                <a:latin typeface="Pretendard"/>
                <a:ea typeface="Pretendar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4871" y="1993392"/>
            <a:ext cx="1517904" cy="841248"/>
          </a:xfrm>
          <a:prstGeom prst="roundRect">
            <a:avLst>
              <a:gd name="adj" fmla="val 13043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4599" y="1993392"/>
            <a:ext cx="12984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30" b="1" i="0">
                <a:solidFill>
                  <a:srgbClr val="1D1D1D"/>
                </a:solidFill>
                <a:latin typeface="Pretendard"/>
                <a:ea typeface="Pretendard"/>
              </a:rPr>
              <a:t>재추출 (원본 R2 · 재크롤 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889504"/>
            <a:ext cx="889985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80" b="1" i="0">
                <a:solidFill>
                  <a:srgbClr val="7A8088"/>
                </a:solidFill>
                <a:latin typeface="Pretendard"/>
                <a:ea typeface="Pretendard"/>
              </a:rPr>
              <a:t>→  다시 운영으로 · 데이터가 한 바퀴 돌 때마다 품질이 올라갑니다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① 추출 정확도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2402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2402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② 매핑 자산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1884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1884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③ 랭킹 가중치 (learn-to-rank)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1367" y="3310128"/>
            <a:ext cx="2121408" cy="512064"/>
          </a:xfrm>
          <a:prstGeom prst="roundRect">
            <a:avLst>
              <a:gd name="adj" fmla="val 17857"/>
            </a:avLst>
          </a:prstGeom>
          <a:solidFill>
            <a:srgbClr val="F8F9FA"/>
          </a:solidFill>
          <a:ln w="12700">
            <a:solidFill>
              <a:srgbClr val="E8E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1367" y="3310128"/>
            <a:ext cx="212140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100" b="1" i="0">
                <a:solidFill>
                  <a:srgbClr val="2B2F36"/>
                </a:solidFill>
                <a:latin typeface="Pretendard"/>
                <a:ea typeface="Pretendard"/>
              </a:rPr>
              <a:t>④ 선정가능성 모델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986784"/>
            <a:ext cx="8899855" cy="786384"/>
          </a:xfrm>
          <a:prstGeom prst="roundRect">
            <a:avLst>
              <a:gd name="adj" fmla="val 16279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4133088"/>
            <a:ext cx="8259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Pretendard"/>
                <a:ea typeface="Pretendard"/>
              </a:rPr>
              <a:t>“더 똑똑해지더라도, 당락은 언제나 설명할 수 있습니다.”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" y="4443984"/>
            <a:ext cx="8259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DCE3EF"/>
                </a:solidFill>
                <a:latin typeface="Pretendard"/>
                <a:ea typeface="Pretendard"/>
              </a:rPr>
              <a:t>신청→선정 이력과 기업 성장 궤적이 </a:t>
            </a:r>
            <a:r>
              <a:rPr sz="1150" b="1" i="0">
                <a:solidFill>
                  <a:srgbClr val="6E9BF0"/>
                </a:solidFill>
                <a:latin typeface="Pretendard"/>
                <a:ea typeface="Pretendard"/>
              </a:rPr>
              <a:t>경쟁자가 복제하기 어려운 데이터 해자</a:t>
            </a:r>
            <a:r>
              <a:rPr sz="1150" b="0" i="0">
                <a:solidFill>
                  <a:srgbClr val="DCE3EF"/>
                </a:solidFill>
                <a:latin typeface="Pretendard"/>
                <a:ea typeface="Pretendard"/>
              </a:rPr>
              <a:t>로 쌓여 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34340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34340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420624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기술 · 비전 ·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31136" y="416052"/>
            <a:ext cx="923146" cy="246888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31136" y="416052"/>
            <a:ext cx="923146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00" b="1" i="0">
                <a:solidFill>
                  <a:srgbClr val="7A8088"/>
                </a:solidFill>
                <a:latin typeface="Pretendard"/>
                <a:ea typeface="Pretendard"/>
              </a:rPr>
              <a:t>설계·비전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76656"/>
            <a:ext cx="8899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2400" b="1" i="0">
                <a:solidFill>
                  <a:srgbClr val="1D1D1D"/>
                </a:solidFill>
                <a:latin typeface="Pretendard"/>
                <a:ea typeface="Pretendard"/>
              </a:rPr>
              <a:t>로드맵 — 정확도 플라이휠에서 성장 데이터 자산으로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8716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</a:pPr>
            <a:r>
              <a:rPr sz="1250" b="0" i="0">
                <a:solidFill>
                  <a:srgbClr val="555B63"/>
                </a:solidFill>
                <a:latin typeface="Pretendard"/>
                <a:ea typeface="Pretendard"/>
              </a:rPr>
              <a:t>데이터가 쌓일수록 추천은 정교해지고, 축적되는 기업 성장 데이터가 (주)노튼의 장기 AI 자산이 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02575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200" b="0" i="0" spc="300">
                <a:solidFill>
                  <a:srgbClr val="C2C5CA"/>
                </a:solidFill>
                <a:latin typeface="Pretendard"/>
                <a:ea typeface="Pretendard"/>
              </a:rPr>
              <a:t>NOTEN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695" y="6437376"/>
            <a:ext cx="777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</a:pPr>
            <a:r>
              <a:rPr sz="1000" b="0" i="0">
                <a:solidFill>
                  <a:srgbClr val="9AA0A8"/>
                </a:solidFill>
                <a:latin typeface="Pretendard"/>
                <a:ea typeface="Pretendard"/>
              </a:rPr>
              <a:t>09 / 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011680"/>
            <a:ext cx="283464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224942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24942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555B63"/>
                </a:solidFill>
                <a:latin typeface="Pretendard"/>
                <a:ea typeface="Pretendard"/>
              </a:rPr>
              <a:t>단기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688336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정확도 플라이휠 가동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3474720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4107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골든셋 P/R 측정 → 프롬프트·매핑 자산 튜닝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3986784"/>
            <a:ext cx="100584" cy="100584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922776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HITL 자동화 비율 상승 (사람 개입 ↓)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498848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434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기업마당 추출 본격화 · 채널 확장 1,500+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2011680"/>
            <a:ext cx="283464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758184" y="224942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58184" y="224942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555B63"/>
                </a:solidFill>
                <a:latin typeface="Pretendard"/>
                <a:ea typeface="Pretendard"/>
              </a:rPr>
              <a:t>중기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8184" y="2688336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학습으로 정교해지는 랭킹</a:t>
            </a:r>
          </a:p>
        </p:txBody>
      </p:sp>
      <p:sp>
        <p:nvSpPr>
          <p:cNvPr id="26" name="Oval 25"/>
          <p:cNvSpPr/>
          <p:nvPr/>
        </p:nvSpPr>
        <p:spPr>
          <a:xfrm>
            <a:off x="3776472" y="3474720"/>
            <a:ext cx="100584" cy="100584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34107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learn-to-rank — 피드백·outcome 가중치 튜닝</a:t>
            </a:r>
          </a:p>
        </p:txBody>
      </p:sp>
      <p:sp>
        <p:nvSpPr>
          <p:cNvPr id="28" name="Oval 27"/>
          <p:cNvSpPr/>
          <p:nvPr/>
        </p:nvSpPr>
        <p:spPr>
          <a:xfrm>
            <a:off x="3776472" y="3986784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3922776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선정가능성 모델 (outcome 누적 후)</a:t>
            </a:r>
          </a:p>
        </p:txBody>
      </p:sp>
      <p:sp>
        <p:nvSpPr>
          <p:cNvPr id="30" name="Oval 29"/>
          <p:cNvSpPr/>
          <p:nvPr/>
        </p:nvSpPr>
        <p:spPr>
          <a:xfrm>
            <a:off x="3776472" y="4498848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7639" y="4434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CODEF 연동 · 정책자금·민간투자 트랙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01384" y="2011680"/>
            <a:ext cx="2834640" cy="2788920"/>
          </a:xfrm>
          <a:prstGeom prst="roundRect">
            <a:avLst>
              <a:gd name="adj" fmla="val 4590"/>
            </a:avLst>
          </a:prstGeom>
          <a:solidFill>
            <a:srgbClr val="F3F6FD"/>
          </a:solidFill>
          <a:ln w="12700">
            <a:solidFill>
              <a:srgbClr val="CFDE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57416" y="2249424"/>
            <a:ext cx="868680" cy="329184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57416" y="2249424"/>
            <a:ext cx="868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050" b="1" i="0">
                <a:solidFill>
                  <a:srgbClr val="FFFFFF"/>
                </a:solidFill>
                <a:latin typeface="Pretendard"/>
                <a:ea typeface="Pretendard"/>
              </a:rPr>
              <a:t>장기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57416" y="2688336"/>
            <a:ext cx="232257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기업 성장 데이터 = AI 자산</a:t>
            </a:r>
          </a:p>
        </p:txBody>
      </p:sp>
      <p:sp>
        <p:nvSpPr>
          <p:cNvPr id="36" name="Oval 35"/>
          <p:cNvSpPr/>
          <p:nvPr/>
        </p:nvSpPr>
        <p:spPr>
          <a:xfrm>
            <a:off x="6775704" y="3474720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76872" y="3410712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성장 RPG — 퀘스트·레벨·투자단계가 실데이터에 1:1</a:t>
            </a:r>
          </a:p>
        </p:txBody>
      </p:sp>
      <p:sp>
        <p:nvSpPr>
          <p:cNvPr id="38" name="Oval 37"/>
          <p:cNvSpPr/>
          <p:nvPr/>
        </p:nvSpPr>
        <p:spPr>
          <a:xfrm>
            <a:off x="6775704" y="3986784"/>
            <a:ext cx="100584" cy="100584"/>
          </a:xfrm>
          <a:prstGeom prst="ellipse">
            <a:avLst/>
          </a:prstGeom>
          <a:solidFill>
            <a:srgbClr val="C7C9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76872" y="3922776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0" i="0">
                <a:solidFill>
                  <a:srgbClr val="555B63"/>
                </a:solidFill>
                <a:latin typeface="Pretendard"/>
                <a:ea typeface="Pretendard"/>
              </a:rPr>
              <a:t>수혜이력 타임라인 + 사업계획서 초안 어시스턴트</a:t>
            </a:r>
          </a:p>
        </p:txBody>
      </p:sp>
      <p:sp>
        <p:nvSpPr>
          <p:cNvPr id="40" name="Oval 39"/>
          <p:cNvSpPr/>
          <p:nvPr/>
        </p:nvSpPr>
        <p:spPr>
          <a:xfrm>
            <a:off x="6775704" y="4498848"/>
            <a:ext cx="100584" cy="100584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6872" y="4434840"/>
            <a:ext cx="208483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</a:pPr>
            <a:r>
              <a:rPr sz="1080" b="1" i="0">
                <a:solidFill>
                  <a:srgbClr val="225BCE"/>
                </a:solidFill>
                <a:latin typeface="Pretendard"/>
                <a:ea typeface="Pretendard"/>
              </a:rPr>
              <a:t>대리 제출 ✗ — 자동완성·초안 도움으로 정직 한정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" y="4946904"/>
            <a:ext cx="8899855" cy="493776"/>
          </a:xfrm>
          <a:prstGeom prst="roundRect">
            <a:avLst>
              <a:gd name="adj" fmla="val 22222"/>
            </a:avLst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4"/>
            <a:ext cx="8351215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1" i="0">
                <a:solidFill>
                  <a:srgbClr val="6E9BF0"/>
                </a:solidFill>
                <a:latin typeface="Pretendard"/>
                <a:ea typeface="Pretendard"/>
              </a:rPr>
              <a:t>데이터 해자.  </a:t>
            </a:r>
            <a:r>
              <a:rPr sz="1250" b="0" i="0">
                <a:solidFill>
                  <a:srgbClr val="DCE3EF"/>
                </a:solidFill>
                <a:latin typeface="Pretendard"/>
                <a:ea typeface="Pretendard"/>
              </a:rPr>
              <a:t>플라이휠의 outcome이 곧 해자 — 축적되는 기업 성장 데이터가 (주)노튼의 장기 AI 자산이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5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038447" y="1385316"/>
            <a:ext cx="155448" cy="155448"/>
          </a:xfrm>
          <a:prstGeom prst="ellipse">
            <a:avLst/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38447" y="1385316"/>
            <a:ext cx="155448" cy="1554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850" b="1" i="0">
                <a:solidFill>
                  <a:srgbClr val="FFFFFF"/>
                </a:solidFill>
                <a:latin typeface="Pretendard"/>
                <a:ea typeface="Pretendard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335" y="1371600"/>
            <a:ext cx="5029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150" b="1" i="0">
                <a:solidFill>
                  <a:srgbClr val="7A8088"/>
                </a:solidFill>
                <a:latin typeface="Pretendard"/>
                <a:ea typeface="Pretendard"/>
              </a:rPr>
              <a:t>요약 · THE MOAT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783080"/>
            <a:ext cx="9905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3400" b="1" i="0">
                <a:solidFill>
                  <a:srgbClr val="1D1D1D"/>
                </a:solidFill>
                <a:latin typeface="Pretendard"/>
                <a:ea typeface="Pretendard"/>
              </a:rPr>
              <a:t>AI는 읽고, 규칙이 판정합니다.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71800"/>
            <a:ext cx="28346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91640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91640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67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표준 계약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215384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흩어진 공고를 14축의 공통어로 환원 — 회사와 같은 좌표계에서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2152" y="2971800"/>
            <a:ext cx="28346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0872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867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설명 가능한 판정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58184" y="4215384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블랙박스가 아닌 결정론 규칙 — 재현·감사 가능, 거짓 확신 금지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1384" y="2971800"/>
            <a:ext cx="283464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8EAED"/>
            </a:solidFill>
          </a:ln>
          <a:effectLst/>
          <a:effectLst>
            <a:outerShdw blurRad="70000" dist="30000" dir="5400000" rotWithShape="0">
              <a:srgbClr val="1A1A1A">
                <a:alpha val="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90104" y="32461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6B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0104" y="3246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9984" y="386791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400" b="1" i="0">
                <a:solidFill>
                  <a:srgbClr val="1D1D1D"/>
                </a:solidFill>
                <a:latin typeface="Pretendard"/>
                <a:ea typeface="Pretendard"/>
              </a:rPr>
              <a:t>깊어지는 해자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4215384"/>
            <a:ext cx="23225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4000"/>
              </a:lnSpc>
              <a:spcBef>
                <a:spcPts val="0"/>
              </a:spcBef>
            </a:pPr>
            <a:r>
              <a:rPr sz="1050" b="0" i="0">
                <a:solidFill>
                  <a:srgbClr val="7A8088"/>
                </a:solidFill>
                <a:latin typeface="Pretendard"/>
                <a:ea typeface="Pretendard"/>
              </a:rPr>
              <a:t>데이터가 쌓일수록 정교해지는 플라이휠 — 성장 데이터 = 장기 AI 자산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355080"/>
            <a:ext cx="9905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</a:pPr>
            <a:r>
              <a:rPr sz="1300" b="0" i="0" spc="300">
                <a:solidFill>
                  <a:srgbClr val="9A9A9A"/>
                </a:solidFill>
                <a:latin typeface="Pretendard"/>
                <a:ea typeface="Pretendard"/>
              </a:rPr>
              <a:t>NOTEN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