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905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905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148840"/>
            <a:ext cx="990569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</a:pPr>
            <a:r>
              <a:rPr sz="3800" b="1" i="0">
                <a:solidFill>
                  <a:srgbClr val="1D1D1D"/>
                </a:solidFill>
                <a:latin typeface="Pretendard"/>
                <a:ea typeface="Pretendard"/>
              </a:rPr>
              <a:t>AI는 읽고, 규칙이 판정합니다.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3154680"/>
            <a:ext cx="990569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</a:pPr>
            <a:r>
              <a:rPr sz="2100" b="0" i="0">
                <a:solidFill>
                  <a:srgbClr val="555B63"/>
                </a:solidFill>
                <a:latin typeface="Pretendard"/>
                <a:ea typeface="Pretendard"/>
              </a:rPr>
              <a:t>Read by AI. Decided by Rules.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3822191"/>
            <a:ext cx="990569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45000"/>
              </a:lnSpc>
              <a:spcBef>
                <a:spcPts val="0"/>
              </a:spcBef>
            </a:pPr>
            <a:r>
              <a:rPr sz="1300" b="0" i="0">
                <a:solidFill>
                  <a:srgbClr val="7A8088"/>
                </a:solidFill>
                <a:latin typeface="Pretendard"/>
                <a:ea typeface="Pretendard"/>
              </a:rPr>
              <a:t>흩어진 정부지원 공고를 표준 계약으로 환원하고, 블랙박스가 아닌 설명 가능한 결정론 엔진이 당락을 결정합니다.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809847" y="4526280"/>
            <a:ext cx="2286000" cy="457200"/>
          </a:xfrm>
          <a:prstGeom prst="roundRect">
            <a:avLst>
              <a:gd name="adj" fmla="val 50000"/>
            </a:avLst>
          </a:prstGeom>
          <a:solidFill>
            <a:srgbClr val="3A3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09847" y="4526280"/>
            <a:ext cx="22860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</a:pPr>
            <a:r>
              <a:rPr sz="1200" b="1" i="0">
                <a:solidFill>
                  <a:srgbClr val="FFFFFF"/>
                </a:solidFill>
                <a:latin typeface="Pretendard"/>
                <a:ea typeface="Pretendard"/>
              </a:rPr>
              <a:t>TECHNOLOGY · 기술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0" y="6355080"/>
            <a:ext cx="990569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</a:pPr>
            <a:r>
              <a:rPr sz="1300" b="0" i="0" spc="300">
                <a:solidFill>
                  <a:srgbClr val="9A9A9A"/>
                </a:solidFill>
                <a:latin typeface="Pretendard"/>
                <a:ea typeface="Pretendard"/>
              </a:rPr>
              <a:t>NOTEN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905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02920" y="434340"/>
            <a:ext cx="155448" cy="155448"/>
          </a:xfrm>
          <a:prstGeom prst="ellipse">
            <a:avLst/>
          </a:prstGeom>
          <a:solidFill>
            <a:srgbClr val="2F6B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434340"/>
            <a:ext cx="155448" cy="1554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</a:pPr>
            <a:r>
              <a:rPr sz="850" b="1" i="0">
                <a:solidFill>
                  <a:srgbClr val="FFFFFF"/>
                </a:solidFill>
                <a:latin typeface="Pretendard"/>
                <a:ea typeface="Pretendard"/>
              </a:rPr>
              <a:t>✓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420624"/>
            <a:ext cx="5029200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150" b="1" i="0">
                <a:solidFill>
                  <a:srgbClr val="7A8088"/>
                </a:solidFill>
                <a:latin typeface="Pretendard"/>
                <a:ea typeface="Pretendard"/>
              </a:rPr>
              <a:t>기술 · 문제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76656"/>
            <a:ext cx="889985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</a:pPr>
            <a:r>
              <a:rPr sz="2700" b="1" i="0">
                <a:solidFill>
                  <a:srgbClr val="1D1D1D"/>
                </a:solidFill>
                <a:latin typeface="Pretendard"/>
                <a:ea typeface="Pretendard"/>
              </a:rPr>
              <a:t>왜 아직 아무도 못 풀었나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298448"/>
            <a:ext cx="871697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2000"/>
              </a:lnSpc>
              <a:spcBef>
                <a:spcPts val="0"/>
              </a:spcBef>
            </a:pPr>
            <a:r>
              <a:rPr sz="1250" b="0" i="0">
                <a:solidFill>
                  <a:srgbClr val="555B63"/>
                </a:solidFill>
                <a:latin typeface="Pretendard"/>
                <a:ea typeface="Pretendard"/>
              </a:rPr>
              <a:t>정부지원사업은 사람이 한 건씩 읽어야만 “우리 회사가 되는지” 알 수 있습니다. 이 난이도가 곧 진입장벽입니다.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02575" y="310896"/>
            <a:ext cx="1737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</a:pPr>
            <a:r>
              <a:rPr sz="1200" b="0" i="0" spc="300">
                <a:solidFill>
                  <a:srgbClr val="C2C5CA"/>
                </a:solidFill>
                <a:latin typeface="Pretendard"/>
                <a:ea typeface="Pretendard"/>
              </a:rPr>
              <a:t>NOTEN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62695" y="6437376"/>
            <a:ext cx="7772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</a:pPr>
            <a:r>
              <a:rPr sz="1000" b="0" i="0">
                <a:solidFill>
                  <a:srgbClr val="9AA0A8"/>
                </a:solidFill>
                <a:latin typeface="Pretendard"/>
                <a:ea typeface="Pretendard"/>
              </a:rPr>
              <a:t>01 / 08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993392"/>
            <a:ext cx="4370832" cy="1298448"/>
          </a:xfrm>
          <a:prstGeom prst="roundRect">
            <a:avLst>
              <a:gd name="adj" fmla="val 9154"/>
            </a:avLst>
          </a:prstGeom>
          <a:solidFill>
            <a:srgbClr val="FFFFFF"/>
          </a:solidFill>
          <a:ln w="12700">
            <a:solidFill>
              <a:srgbClr val="E8EAED"/>
            </a:solidFill>
          </a:ln>
          <a:effectLst/>
          <a:effectLst>
            <a:outerShdw blurRad="70000" dist="30000" dir="5400000" rotWithShape="0">
              <a:srgbClr val="1A1A1A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2231136"/>
            <a:ext cx="640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500" b="1" i="0">
                <a:solidFill>
                  <a:srgbClr val="2F6BE5"/>
                </a:solidFill>
                <a:latin typeface="Pretendard"/>
                <a:ea typeface="Pretendard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44168" y="2221992"/>
            <a:ext cx="3273552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500" b="1" i="0">
                <a:solidFill>
                  <a:srgbClr val="1D1D1D"/>
                </a:solidFill>
                <a:latin typeface="Pretendard"/>
                <a:ea typeface="Pretendard"/>
              </a:rPr>
              <a:t>채널 파편화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670048"/>
            <a:ext cx="3822192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4000"/>
              </a:lnSpc>
              <a:spcBef>
                <a:spcPts val="0"/>
              </a:spcBef>
            </a:pPr>
            <a:r>
              <a:rPr sz="1130" b="0" i="0">
                <a:solidFill>
                  <a:srgbClr val="7A8088"/>
                </a:solidFill>
                <a:latin typeface="Pretendard"/>
                <a:ea typeface="Pretendard"/>
              </a:rPr>
              <a:t>K-Startup·기업마당 등 수십 개 채널에 흩어져 있어, 어디에 무엇이 열렸는지조차 파악하기 어렵습니다.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38344" y="1993392"/>
            <a:ext cx="4370832" cy="1298448"/>
          </a:xfrm>
          <a:prstGeom prst="roundRect">
            <a:avLst>
              <a:gd name="adj" fmla="val 9154"/>
            </a:avLst>
          </a:prstGeom>
          <a:solidFill>
            <a:srgbClr val="FFFFFF"/>
          </a:solidFill>
          <a:ln w="12700">
            <a:solidFill>
              <a:srgbClr val="E8EAED"/>
            </a:solidFill>
          </a:ln>
          <a:effectLst/>
          <a:effectLst>
            <a:outerShdw blurRad="70000" dist="30000" dir="5400000" rotWithShape="0">
              <a:srgbClr val="1A1A1A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312664" y="2231136"/>
            <a:ext cx="640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500" b="1" i="0">
                <a:solidFill>
                  <a:srgbClr val="2F6BE5"/>
                </a:solidFill>
                <a:latin typeface="Pretendard"/>
                <a:ea typeface="Pretendard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79592" y="2221992"/>
            <a:ext cx="3273552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500" b="1" i="0">
                <a:solidFill>
                  <a:srgbClr val="1D1D1D"/>
                </a:solidFill>
                <a:latin typeface="Pretendard"/>
                <a:ea typeface="Pretendard"/>
              </a:rPr>
              <a:t>비정형 자격요건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12664" y="2670048"/>
            <a:ext cx="3822192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4000"/>
              </a:lnSpc>
              <a:spcBef>
                <a:spcPts val="0"/>
              </a:spcBef>
            </a:pPr>
            <a:r>
              <a:rPr sz="1130" b="0" i="0">
                <a:solidFill>
                  <a:srgbClr val="7A8088"/>
                </a:solidFill>
                <a:latin typeface="Pretendard"/>
                <a:ea typeface="Pretendard"/>
              </a:rPr>
              <a:t>자격요건이 본문·HWP 표·첨부 산문에 흩어져 있어, 판정하려면 사람이 일일이 읽어야 합니다.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3456432"/>
            <a:ext cx="4370832" cy="1298448"/>
          </a:xfrm>
          <a:prstGeom prst="roundRect">
            <a:avLst>
              <a:gd name="adj" fmla="val 9154"/>
            </a:avLst>
          </a:prstGeom>
          <a:solidFill>
            <a:srgbClr val="FFFFFF"/>
          </a:solidFill>
          <a:ln w="12700">
            <a:solidFill>
              <a:srgbClr val="E8EAED"/>
            </a:solidFill>
          </a:ln>
          <a:effectLst/>
          <a:effectLst>
            <a:outerShdw blurRad="70000" dist="30000" dir="5400000" rotWithShape="0">
              <a:srgbClr val="1A1A1A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3694176"/>
            <a:ext cx="640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500" b="1" i="0">
                <a:solidFill>
                  <a:srgbClr val="2F6BE5"/>
                </a:solidFill>
                <a:latin typeface="Pretendard"/>
                <a:ea typeface="Pretendard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44168" y="3685032"/>
            <a:ext cx="3273552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500" b="1" i="0">
                <a:solidFill>
                  <a:srgbClr val="1D1D1D"/>
                </a:solidFill>
                <a:latin typeface="Pretendard"/>
                <a:ea typeface="Pretendard"/>
              </a:rPr>
              <a:t>조건의 미묘함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4133088"/>
            <a:ext cx="3822192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4000"/>
              </a:lnSpc>
              <a:spcBef>
                <a:spcPts val="0"/>
              </a:spcBef>
            </a:pPr>
            <a:r>
              <a:rPr sz="1130" b="0" i="0">
                <a:solidFill>
                  <a:srgbClr val="E03E4E"/>
                </a:solidFill>
                <a:latin typeface="Pretendard"/>
                <a:ea typeface="Pretendard"/>
              </a:rPr>
              <a:t>“업력 7년 이내”, “수도권 제외”, “신산업은 10년 완화”… 잘못하면 멀쩡한 공고에서 탈락합니다.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38344" y="3456432"/>
            <a:ext cx="4370832" cy="1298448"/>
          </a:xfrm>
          <a:prstGeom prst="roundRect">
            <a:avLst>
              <a:gd name="adj" fmla="val 9154"/>
            </a:avLst>
          </a:prstGeom>
          <a:solidFill>
            <a:srgbClr val="FFFFFF"/>
          </a:solidFill>
          <a:ln w="12700">
            <a:solidFill>
              <a:srgbClr val="E8EAED"/>
            </a:solidFill>
          </a:ln>
          <a:effectLst/>
          <a:effectLst>
            <a:outerShdw blurRad="70000" dist="30000" dir="5400000" rotWithShape="0">
              <a:srgbClr val="1A1A1A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312664" y="3694176"/>
            <a:ext cx="640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500" b="1" i="0">
                <a:solidFill>
                  <a:srgbClr val="2F6BE5"/>
                </a:solidFill>
                <a:latin typeface="Pretendard"/>
                <a:ea typeface="Pretendard"/>
              </a:rP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879592" y="3685032"/>
            <a:ext cx="3273552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500" b="1" i="0">
                <a:solidFill>
                  <a:srgbClr val="1D1D1D"/>
                </a:solidFill>
                <a:latin typeface="Pretendard"/>
                <a:ea typeface="Pretendard"/>
              </a:rPr>
              <a:t>접수처 225종 (실측)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12664" y="4133088"/>
            <a:ext cx="3822192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4000"/>
              </a:lnSpc>
              <a:spcBef>
                <a:spcPts val="0"/>
              </a:spcBef>
            </a:pPr>
            <a:r>
              <a:rPr sz="1130" b="0" i="0">
                <a:solidFill>
                  <a:srgbClr val="7A8088"/>
                </a:solidFill>
                <a:latin typeface="Pretendard"/>
                <a:ea typeface="Pretendard"/>
              </a:rPr>
              <a:t>K-Startup n=1,000 실측 — forms.gle 138종 등 225종으로 갈라져 통합 자동제출 자체가 불가능합니다.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02920" y="4956048"/>
            <a:ext cx="8899855" cy="512064"/>
          </a:xfrm>
          <a:prstGeom prst="roundRect">
            <a:avLst>
              <a:gd name="adj" fmla="val 17857"/>
            </a:avLst>
          </a:prstGeom>
          <a:solidFill>
            <a:srgbClr val="F8F9FA"/>
          </a:solidFill>
          <a:ln w="12700">
            <a:solidFill>
              <a:srgbClr val="E8E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77240" y="4956048"/>
            <a:ext cx="8351215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250" b="0" i="0">
                <a:solidFill>
                  <a:srgbClr val="555B63"/>
                </a:solidFill>
                <a:latin typeface="Pretendard"/>
                <a:ea typeface="Pretendard"/>
              </a:rPr>
              <a:t>핵심 난제 = 비정형 공고 → </a:t>
            </a:r>
            <a:r>
              <a:rPr sz="1250" b="1" i="0">
                <a:solidFill>
                  <a:srgbClr val="1D1D1D"/>
                </a:solidFill>
                <a:latin typeface="Pretendard"/>
                <a:ea typeface="Pretendard"/>
              </a:rPr>
              <a:t>신뢰할 수 있는 구조화 + 설명 가능한 판정</a:t>
            </a:r>
            <a:r>
              <a:rPr sz="1250" b="0" i="0">
                <a:solidFill>
                  <a:srgbClr val="555B63"/>
                </a:solidFill>
                <a:latin typeface="Pretendard"/>
                <a:ea typeface="Pretendard"/>
              </a:rPr>
              <a:t>.  쉬웠다면 이미 풀렸을 문제입니다.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905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02920" y="434340"/>
            <a:ext cx="155448" cy="155448"/>
          </a:xfrm>
          <a:prstGeom prst="ellipse">
            <a:avLst/>
          </a:prstGeom>
          <a:solidFill>
            <a:srgbClr val="2F6B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434340"/>
            <a:ext cx="155448" cy="1554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</a:pPr>
            <a:r>
              <a:rPr sz="850" b="1" i="0">
                <a:solidFill>
                  <a:srgbClr val="FFFFFF"/>
                </a:solidFill>
                <a:latin typeface="Pretendard"/>
                <a:ea typeface="Pretendard"/>
              </a:rPr>
              <a:t>✓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420624"/>
            <a:ext cx="5029200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150" b="1" i="0">
                <a:solidFill>
                  <a:srgbClr val="7A8088"/>
                </a:solidFill>
                <a:latin typeface="Pretendard"/>
                <a:ea typeface="Pretendard"/>
              </a:rPr>
              <a:t>기술 · 핵심 아이디어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76656"/>
            <a:ext cx="889985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</a:pPr>
            <a:r>
              <a:rPr sz="2700" b="1" i="0">
                <a:solidFill>
                  <a:srgbClr val="1D1D1D"/>
                </a:solidFill>
                <a:latin typeface="Pretendard"/>
                <a:ea typeface="Pretendard"/>
              </a:rPr>
              <a:t>신용평가처럼 일합니다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298448"/>
            <a:ext cx="871697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2000"/>
              </a:lnSpc>
              <a:spcBef>
                <a:spcPts val="0"/>
              </a:spcBef>
            </a:pPr>
            <a:r>
              <a:rPr sz="1250" b="0" i="0">
                <a:solidFill>
                  <a:srgbClr val="555B63"/>
                </a:solidFill>
                <a:latin typeface="Pretendard"/>
                <a:ea typeface="Pretendard"/>
              </a:rPr>
              <a:t>은행은 블랙박스에 대출 승인을 맡기지 않습니다. AI가 서류를 읽고, 투명한 규칙이 결정하고 사유까지 설명합니다.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02575" y="310896"/>
            <a:ext cx="1737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</a:pPr>
            <a:r>
              <a:rPr sz="1200" b="0" i="0" spc="300">
                <a:solidFill>
                  <a:srgbClr val="C2C5CA"/>
                </a:solidFill>
                <a:latin typeface="Pretendard"/>
                <a:ea typeface="Pretendard"/>
              </a:rPr>
              <a:t>NOTEN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62695" y="6437376"/>
            <a:ext cx="7772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</a:pPr>
            <a:r>
              <a:rPr sz="1000" b="0" i="0">
                <a:solidFill>
                  <a:srgbClr val="9AA0A8"/>
                </a:solidFill>
                <a:latin typeface="Pretendard"/>
                <a:ea typeface="Pretendard"/>
              </a:rPr>
              <a:t>02 / 08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993392"/>
            <a:ext cx="4370832" cy="2304288"/>
          </a:xfrm>
          <a:prstGeom prst="roundRect">
            <a:avLst>
              <a:gd name="adj" fmla="val 5555"/>
            </a:avLst>
          </a:prstGeom>
          <a:solidFill>
            <a:srgbClr val="F8F9FA"/>
          </a:solidFill>
          <a:ln w="12700">
            <a:solidFill>
              <a:srgbClr val="E8E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77240" y="2249424"/>
            <a:ext cx="1691640" cy="365760"/>
          </a:xfrm>
          <a:prstGeom prst="roundRect">
            <a:avLst>
              <a:gd name="adj" fmla="val 50000"/>
            </a:avLst>
          </a:prstGeom>
          <a:solidFill>
            <a:srgbClr val="F1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2249424"/>
            <a:ext cx="16916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</a:pPr>
            <a:r>
              <a:rPr sz="1100" b="1" i="0">
                <a:solidFill>
                  <a:srgbClr val="555B63"/>
                </a:solidFill>
                <a:latin typeface="Pretendard"/>
                <a:ea typeface="Pretendard"/>
              </a:rPr>
              <a:t>신용평가 (은행)</a:t>
            </a:r>
          </a:p>
        </p:txBody>
      </p:sp>
      <p:sp>
        <p:nvSpPr>
          <p:cNvPr id="13" name="Oval 12"/>
          <p:cNvSpPr/>
          <p:nvPr/>
        </p:nvSpPr>
        <p:spPr>
          <a:xfrm>
            <a:off x="795528" y="2843784"/>
            <a:ext cx="118872" cy="118872"/>
          </a:xfrm>
          <a:prstGeom prst="ellipse">
            <a:avLst/>
          </a:prstGeom>
          <a:solidFill>
            <a:srgbClr val="C7C9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33271" y="2779776"/>
            <a:ext cx="354787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250" b="1" i="0">
                <a:solidFill>
                  <a:srgbClr val="2B2F36"/>
                </a:solidFill>
                <a:latin typeface="Pretendard"/>
                <a:ea typeface="Pretendard"/>
              </a:rPr>
              <a:t>서류를 읽습니다</a:t>
            </a:r>
          </a:p>
          <a:p>
            <a:pPr algn="l">
              <a:spcBef>
                <a:spcPts val="0"/>
              </a:spcBef>
            </a:pPr>
            <a:r>
              <a:rPr sz="1080" b="0" i="0">
                <a:solidFill>
                  <a:srgbClr val="7A8088"/>
                </a:solidFill>
                <a:latin typeface="Pretendard"/>
                <a:ea typeface="Pretendard"/>
              </a:rPr>
              <a:t>소득·재직·거래내역 수집</a:t>
            </a:r>
          </a:p>
        </p:txBody>
      </p:sp>
      <p:sp>
        <p:nvSpPr>
          <p:cNvPr id="15" name="Oval 14"/>
          <p:cNvSpPr/>
          <p:nvPr/>
        </p:nvSpPr>
        <p:spPr>
          <a:xfrm>
            <a:off x="795528" y="3337560"/>
            <a:ext cx="118872" cy="118872"/>
          </a:xfrm>
          <a:prstGeom prst="ellipse">
            <a:avLst/>
          </a:prstGeom>
          <a:solidFill>
            <a:srgbClr val="C7C9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33271" y="3273552"/>
            <a:ext cx="354787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250" b="1" i="0">
                <a:solidFill>
                  <a:srgbClr val="2B2F36"/>
                </a:solidFill>
                <a:latin typeface="Pretendard"/>
                <a:ea typeface="Pretendard"/>
              </a:rPr>
              <a:t>규칙이 점수를 매깁니다</a:t>
            </a:r>
          </a:p>
          <a:p>
            <a:pPr algn="l">
              <a:spcBef>
                <a:spcPts val="0"/>
              </a:spcBef>
            </a:pPr>
            <a:r>
              <a:rPr sz="1080" b="0" i="0">
                <a:solidFill>
                  <a:srgbClr val="7A8088"/>
                </a:solidFill>
                <a:latin typeface="Pretendard"/>
                <a:ea typeface="Pretendard"/>
              </a:rPr>
              <a:t>공개된 신용평가 모형</a:t>
            </a:r>
          </a:p>
        </p:txBody>
      </p:sp>
      <p:sp>
        <p:nvSpPr>
          <p:cNvPr id="17" name="Oval 16"/>
          <p:cNvSpPr/>
          <p:nvPr/>
        </p:nvSpPr>
        <p:spPr>
          <a:xfrm>
            <a:off x="795528" y="3831336"/>
            <a:ext cx="118872" cy="118872"/>
          </a:xfrm>
          <a:prstGeom prst="ellipse">
            <a:avLst/>
          </a:prstGeom>
          <a:solidFill>
            <a:srgbClr val="C7C9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33271" y="3767328"/>
            <a:ext cx="354787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250" b="1" i="0">
                <a:solidFill>
                  <a:srgbClr val="2B2F36"/>
                </a:solidFill>
                <a:latin typeface="Pretendard"/>
                <a:ea typeface="Pretendard"/>
              </a:rPr>
              <a:t>결과에 사유가 붙습니다</a:t>
            </a:r>
          </a:p>
          <a:p>
            <a:pPr algn="l">
              <a:spcBef>
                <a:spcPts val="0"/>
              </a:spcBef>
            </a:pPr>
            <a:r>
              <a:rPr sz="1080" b="0" i="0">
                <a:solidFill>
                  <a:srgbClr val="7A8088"/>
                </a:solidFill>
                <a:latin typeface="Pretendard"/>
                <a:ea typeface="Pretendard"/>
              </a:rPr>
              <a:t>“연체 이력으로 등급 하락”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38344" y="1993392"/>
            <a:ext cx="4370832" cy="2304288"/>
          </a:xfrm>
          <a:prstGeom prst="roundRect">
            <a:avLst>
              <a:gd name="adj" fmla="val 5555"/>
            </a:avLst>
          </a:prstGeom>
          <a:solidFill>
            <a:srgbClr val="F3F6FD"/>
          </a:solidFill>
          <a:ln w="12700">
            <a:solidFill>
              <a:srgbClr val="CFDEFA"/>
            </a:solidFill>
          </a:ln>
          <a:effectLst/>
          <a:effectLst>
            <a:outerShdw blurRad="70000" dist="30000" dir="5400000" rotWithShape="0">
              <a:srgbClr val="1A1A1A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5312664" y="2249424"/>
            <a:ext cx="1463040" cy="365760"/>
          </a:xfrm>
          <a:prstGeom prst="roundRect">
            <a:avLst>
              <a:gd name="adj" fmla="val 50000"/>
            </a:avLst>
          </a:prstGeom>
          <a:solidFill>
            <a:srgbClr val="2F6B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312664" y="2249424"/>
            <a:ext cx="14630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</a:pPr>
            <a:r>
              <a:rPr sz="1100" b="1" i="0">
                <a:solidFill>
                  <a:srgbClr val="FFFFFF"/>
                </a:solidFill>
                <a:latin typeface="Pretendard"/>
                <a:ea typeface="Pretendard"/>
              </a:rPr>
              <a:t>창업노트</a:t>
            </a:r>
          </a:p>
        </p:txBody>
      </p:sp>
      <p:sp>
        <p:nvSpPr>
          <p:cNvPr id="22" name="Oval 21"/>
          <p:cNvSpPr/>
          <p:nvPr/>
        </p:nvSpPr>
        <p:spPr>
          <a:xfrm>
            <a:off x="5330952" y="2843784"/>
            <a:ext cx="118872" cy="118872"/>
          </a:xfrm>
          <a:prstGeom prst="ellipse">
            <a:avLst/>
          </a:prstGeom>
          <a:solidFill>
            <a:srgbClr val="2F6B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568696" y="2779776"/>
            <a:ext cx="354787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250" b="1" i="0">
                <a:solidFill>
                  <a:srgbClr val="1D1D1D"/>
                </a:solidFill>
                <a:latin typeface="Pretendard"/>
                <a:ea typeface="Pretendard"/>
              </a:rPr>
              <a:t>AI가 공고를 읽습니다</a:t>
            </a:r>
          </a:p>
          <a:p>
            <a:pPr algn="l">
              <a:spcBef>
                <a:spcPts val="0"/>
              </a:spcBef>
            </a:pPr>
            <a:r>
              <a:rPr sz="1080" b="0" i="0">
                <a:solidFill>
                  <a:srgbClr val="555B63"/>
                </a:solidFill>
                <a:latin typeface="Pretendard"/>
                <a:ea typeface="Pretendard"/>
              </a:rPr>
              <a:t>비정형 → 14축 표준 계약 (추출)</a:t>
            </a:r>
          </a:p>
        </p:txBody>
      </p:sp>
      <p:sp>
        <p:nvSpPr>
          <p:cNvPr id="24" name="Oval 23"/>
          <p:cNvSpPr/>
          <p:nvPr/>
        </p:nvSpPr>
        <p:spPr>
          <a:xfrm>
            <a:off x="5330952" y="3337560"/>
            <a:ext cx="118872" cy="118872"/>
          </a:xfrm>
          <a:prstGeom prst="ellipse">
            <a:avLst/>
          </a:prstGeom>
          <a:solidFill>
            <a:srgbClr val="2F6B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568696" y="3273552"/>
            <a:ext cx="354787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250" b="1" i="0">
                <a:solidFill>
                  <a:srgbClr val="1D1D1D"/>
                </a:solidFill>
                <a:latin typeface="Pretendard"/>
                <a:ea typeface="Pretendard"/>
              </a:rPr>
              <a:t>규칙이 적격을 판정합니다</a:t>
            </a:r>
          </a:p>
          <a:p>
            <a:pPr algn="l">
              <a:spcBef>
                <a:spcPts val="0"/>
              </a:spcBef>
            </a:pPr>
            <a:r>
              <a:rPr sz="1080" b="0" i="0">
                <a:solidFill>
                  <a:srgbClr val="555B63"/>
                </a:solidFill>
                <a:latin typeface="Pretendard"/>
                <a:ea typeface="Pretendard"/>
              </a:rPr>
              <a:t>결정론 규칙엔진 (당락)</a:t>
            </a:r>
          </a:p>
        </p:txBody>
      </p:sp>
      <p:sp>
        <p:nvSpPr>
          <p:cNvPr id="26" name="Oval 25"/>
          <p:cNvSpPr/>
          <p:nvPr/>
        </p:nvSpPr>
        <p:spPr>
          <a:xfrm>
            <a:off x="5330952" y="3831336"/>
            <a:ext cx="118872" cy="118872"/>
          </a:xfrm>
          <a:prstGeom prst="ellipse">
            <a:avLst/>
          </a:prstGeom>
          <a:solidFill>
            <a:srgbClr val="2F6B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568696" y="3767328"/>
            <a:ext cx="354787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250" b="1" i="0">
                <a:solidFill>
                  <a:srgbClr val="1D1D1D"/>
                </a:solidFill>
                <a:latin typeface="Pretendard"/>
                <a:ea typeface="Pretendard"/>
              </a:rPr>
              <a:t>판정에 근거가 붙습니다</a:t>
            </a:r>
          </a:p>
          <a:p>
            <a:pPr algn="l">
              <a:spcBef>
                <a:spcPts val="0"/>
              </a:spcBef>
            </a:pPr>
            <a:r>
              <a:rPr sz="1080" b="1" i="0">
                <a:solidFill>
                  <a:srgbClr val="225BCE"/>
                </a:solidFill>
                <a:latin typeface="Pretendard"/>
                <a:ea typeface="Pretendard"/>
              </a:rPr>
              <a:t>“업력 7년 이내 — 귀사 4년 2개월 ✓”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02920" y="4462272"/>
            <a:ext cx="8899855" cy="530352"/>
          </a:xfrm>
          <a:prstGeom prst="roundRect">
            <a:avLst>
              <a:gd name="adj" fmla="val 20689"/>
            </a:avLst>
          </a:prstGeom>
          <a:solidFill>
            <a:srgbClr val="3A3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77240" y="4462272"/>
            <a:ext cx="8351215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250" b="1" i="0">
                <a:solidFill>
                  <a:srgbClr val="FFFFFF"/>
                </a:solidFill>
                <a:latin typeface="Pretendard"/>
                <a:ea typeface="Pretendard"/>
              </a:rPr>
              <a:t>블랙박스 AI가 당락을 정하지 않습니다</a:t>
            </a:r>
            <a:r>
              <a:rPr sz="1250" b="0" i="0">
                <a:solidFill>
                  <a:srgbClr val="DCE3EF"/>
                </a:solidFill>
                <a:latin typeface="Pretendard"/>
                <a:ea typeface="Pretendard"/>
              </a:rPr>
              <a:t>  —  판정은 늘 재현·감사할 수 있고, LLM이 틀려도 영향은 “입력 품질”에 갇힙니다.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905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02920" y="434340"/>
            <a:ext cx="155448" cy="155448"/>
          </a:xfrm>
          <a:prstGeom prst="ellipse">
            <a:avLst/>
          </a:prstGeom>
          <a:solidFill>
            <a:srgbClr val="2F6B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434340"/>
            <a:ext cx="155448" cy="1554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</a:pPr>
            <a:r>
              <a:rPr sz="850" b="1" i="0">
                <a:solidFill>
                  <a:srgbClr val="FFFFFF"/>
                </a:solidFill>
                <a:latin typeface="Pretendard"/>
                <a:ea typeface="Pretendard"/>
              </a:rPr>
              <a:t>✓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420624"/>
            <a:ext cx="5029200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150" b="1" i="0">
                <a:solidFill>
                  <a:srgbClr val="7A8088"/>
                </a:solidFill>
                <a:latin typeface="Pretendard"/>
                <a:ea typeface="Pretendard"/>
              </a:rPr>
              <a:t>기술 · 작동 방식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76656"/>
            <a:ext cx="889985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</a:pPr>
            <a:r>
              <a:rPr sz="2700" b="1" i="0">
                <a:solidFill>
                  <a:srgbClr val="1D1D1D"/>
                </a:solidFill>
                <a:latin typeface="Pretendard"/>
                <a:ea typeface="Pretendard"/>
              </a:rPr>
              <a:t>작동 방식 — 한 장으로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298448"/>
            <a:ext cx="871697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2000"/>
              </a:lnSpc>
              <a:spcBef>
                <a:spcPts val="0"/>
              </a:spcBef>
            </a:pPr>
            <a:r>
              <a:rPr sz="1250" b="0" i="0">
                <a:solidFill>
                  <a:srgbClr val="555B63"/>
                </a:solidFill>
                <a:latin typeface="Pretendard"/>
                <a:ea typeface="Pretendard"/>
              </a:rPr>
              <a:t>비정형 공고를 회사와 같은 좌표계(14축)로 환원한 뒤, 결정론 규칙이 적격·근거·다음 행동을 자동으로 산출합니다.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02575" y="310896"/>
            <a:ext cx="1737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</a:pPr>
            <a:r>
              <a:rPr sz="1200" b="0" i="0" spc="300">
                <a:solidFill>
                  <a:srgbClr val="C2C5CA"/>
                </a:solidFill>
                <a:latin typeface="Pretendard"/>
                <a:ea typeface="Pretendard"/>
              </a:rPr>
              <a:t>NOTEN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62695" y="6437376"/>
            <a:ext cx="7772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</a:pPr>
            <a:r>
              <a:rPr sz="1000" b="0" i="0">
                <a:solidFill>
                  <a:srgbClr val="9AA0A8"/>
                </a:solidFill>
                <a:latin typeface="Pretendard"/>
                <a:ea typeface="Pretendard"/>
              </a:rPr>
              <a:t>03 / 08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2103120"/>
            <a:ext cx="2432304" cy="100584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3970">
            <a:solidFill>
              <a:srgbClr val="E8EAED"/>
            </a:solidFill>
          </a:ln>
          <a:effectLst/>
          <a:effectLst>
            <a:outerShdw blurRad="70000" dist="30000" dir="5400000" rotWithShape="0">
              <a:srgbClr val="1A1A1A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22376" y="2267712"/>
            <a:ext cx="202082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950" b="1" i="0" spc="50">
                <a:solidFill>
                  <a:srgbClr val="2F6BE5"/>
                </a:solidFill>
                <a:latin typeface="Pretendard"/>
                <a:ea typeface="Pretendard"/>
              </a:rPr>
              <a:t>INPUT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2376" y="2487168"/>
            <a:ext cx="202082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450" b="1" i="0">
                <a:solidFill>
                  <a:srgbClr val="1D1D1D"/>
                </a:solidFill>
                <a:latin typeface="Pretendard"/>
                <a:ea typeface="Pretendard"/>
              </a:rPr>
              <a:t>비정형 공고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2376" y="2816352"/>
            <a:ext cx="202082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000" b="0" i="0">
                <a:solidFill>
                  <a:srgbClr val="7A8088"/>
                </a:solidFill>
                <a:latin typeface="Pretendard"/>
                <a:ea typeface="Pretendard"/>
              </a:rPr>
              <a:t>본문 · HWP 표 · 첨부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35224" y="1828799"/>
            <a:ext cx="676656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</a:pPr>
            <a:r>
              <a:rPr sz="950" b="1" i="0">
                <a:solidFill>
                  <a:srgbClr val="2F6BE5"/>
                </a:solidFill>
                <a:latin typeface="Pretendard"/>
                <a:ea typeface="Pretendard"/>
              </a:rPr>
              <a:t>AI 추출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35224" y="2103120"/>
            <a:ext cx="676656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</a:pPr>
            <a:r>
              <a:rPr sz="2200" b="1" i="0">
                <a:solidFill>
                  <a:srgbClr val="C7C9CC"/>
                </a:solidFill>
                <a:latin typeface="Pretendard"/>
                <a:ea typeface="Pretendard"/>
              </a:rP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611880" y="2103120"/>
            <a:ext cx="2615184" cy="1005840"/>
          </a:xfrm>
          <a:prstGeom prst="roundRect">
            <a:avLst>
              <a:gd name="adj" fmla="val 10909"/>
            </a:avLst>
          </a:prstGeom>
          <a:solidFill>
            <a:srgbClr val="F3F6FD"/>
          </a:solidFill>
          <a:ln w="13970">
            <a:solidFill>
              <a:srgbClr val="CFDE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831336" y="2267712"/>
            <a:ext cx="2203703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950" b="1" i="0" spc="50">
                <a:solidFill>
                  <a:srgbClr val="2F6BE5"/>
                </a:solidFill>
                <a:latin typeface="Pretendard"/>
                <a:ea typeface="Pretendard"/>
              </a:rPr>
              <a:t>CONTRACT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31336" y="2487168"/>
            <a:ext cx="220370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450" b="1" i="0">
                <a:solidFill>
                  <a:srgbClr val="1D1D1D"/>
                </a:solidFill>
                <a:latin typeface="Pretendard"/>
                <a:ea typeface="Pretendard"/>
              </a:rPr>
              <a:t>14축 표준 계약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831336" y="2816352"/>
            <a:ext cx="2203703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000" b="0" i="0">
                <a:solidFill>
                  <a:srgbClr val="7A8088"/>
                </a:solidFill>
                <a:latin typeface="Pretendard"/>
                <a:ea typeface="Pretendard"/>
              </a:rPr>
              <a:t>controlled list · 근거(span) 동봉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27064" y="1828799"/>
            <a:ext cx="676656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</a:pPr>
            <a:r>
              <a:rPr sz="950" b="1" i="0">
                <a:solidFill>
                  <a:srgbClr val="2F6BE5"/>
                </a:solidFill>
                <a:latin typeface="Pretendard"/>
                <a:ea typeface="Pretendard"/>
              </a:rPr>
              <a:t>규칙 판정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27064" y="2103120"/>
            <a:ext cx="676656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</a:pPr>
            <a:r>
              <a:rPr sz="2200" b="1" i="0">
                <a:solidFill>
                  <a:srgbClr val="C7C9CC"/>
                </a:solidFill>
                <a:latin typeface="Pretendard"/>
                <a:ea typeface="Pretendard"/>
              </a:rPr>
              <a:t>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903720" y="2103120"/>
            <a:ext cx="2432304" cy="100584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3970">
            <a:solidFill>
              <a:srgbClr val="E8EAED"/>
            </a:solidFill>
          </a:ln>
          <a:effectLst/>
          <a:effectLst>
            <a:outerShdw blurRad="70000" dist="30000" dir="5400000" rotWithShape="0">
              <a:srgbClr val="1A1A1A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123176" y="2267712"/>
            <a:ext cx="202082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950" b="1" i="0" spc="50">
                <a:solidFill>
                  <a:srgbClr val="2F6BE5"/>
                </a:solidFill>
                <a:latin typeface="Pretendard"/>
                <a:ea typeface="Pretendard"/>
              </a:rPr>
              <a:t>VERDICT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23176" y="2487168"/>
            <a:ext cx="202082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450" b="1" i="0">
                <a:solidFill>
                  <a:srgbClr val="1D1D1D"/>
                </a:solidFill>
                <a:latin typeface="Pretendard"/>
                <a:ea typeface="Pretendard"/>
              </a:rPr>
              <a:t>적격·조건부·부적격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23176" y="2816352"/>
            <a:ext cx="202082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000" b="0" i="0">
                <a:solidFill>
                  <a:srgbClr val="7A8088"/>
                </a:solidFill>
                <a:latin typeface="Pretendard"/>
                <a:ea typeface="Pretendard"/>
              </a:rPr>
              <a:t>+ 근거(rule_trace) + 다음 행동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02920" y="3346704"/>
            <a:ext cx="4892040" cy="1993392"/>
          </a:xfrm>
          <a:prstGeom prst="roundRect">
            <a:avLst>
              <a:gd name="adj" fmla="val 6422"/>
            </a:avLst>
          </a:prstGeom>
          <a:solidFill>
            <a:srgbClr val="3A3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13816" y="3566160"/>
            <a:ext cx="4343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150" b="1" i="0">
                <a:solidFill>
                  <a:srgbClr val="C7C9CC"/>
                </a:solidFill>
                <a:latin typeface="Pretendard"/>
                <a:ea typeface="Pretendard"/>
              </a:rPr>
              <a:t>판정 = 단 3줄의 결정론 규칙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13816" y="3913632"/>
            <a:ext cx="4343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350" b="0" i="0">
                <a:solidFill>
                  <a:srgbClr val="DCE3EF"/>
                </a:solidFill>
                <a:latin typeface="Pretendard"/>
                <a:ea typeface="Pretendard"/>
              </a:rPr>
              <a:t>1.  필수·배제 중 하나라도 </a:t>
            </a:r>
            <a:r>
              <a:rPr sz="1350" b="1" i="0">
                <a:solidFill>
                  <a:srgbClr val="FF8A93"/>
                </a:solidFill>
                <a:latin typeface="Pretendard"/>
                <a:ea typeface="Pretendard"/>
              </a:rPr>
              <a:t>fail</a:t>
            </a:r>
            <a:r>
              <a:rPr sz="1350" b="1" i="0">
                <a:solidFill>
                  <a:srgbClr val="FFFFFF"/>
                </a:solidFill>
                <a:latin typeface="Pretendard"/>
                <a:ea typeface="Pretendard"/>
              </a:rPr>
              <a:t>  →  부적격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350" b="0" i="0">
                <a:solidFill>
                  <a:srgbClr val="DCE3EF"/>
                </a:solidFill>
                <a:latin typeface="Pretendard"/>
                <a:ea typeface="Pretendard"/>
              </a:rPr>
              <a:t>2.  fail은 없는데 </a:t>
            </a:r>
            <a:r>
              <a:rPr sz="1350" b="1" i="0">
                <a:solidFill>
                  <a:srgbClr val="FFC15E"/>
                </a:solidFill>
                <a:latin typeface="Pretendard"/>
                <a:ea typeface="Pretendard"/>
              </a:rPr>
              <a:t>unknown</a:t>
            </a:r>
            <a:r>
              <a:rPr sz="1350" b="1" i="0">
                <a:solidFill>
                  <a:srgbClr val="FFFFFF"/>
                </a:solidFill>
                <a:latin typeface="Pretendard"/>
                <a:ea typeface="Pretendard"/>
              </a:rPr>
              <a:t>  →  조건부</a:t>
            </a:r>
          </a:p>
          <a:p>
            <a:pPr algn="l">
              <a:spcBef>
                <a:spcPts val="0"/>
              </a:spcBef>
            </a:pPr>
            <a:r>
              <a:rPr sz="1350" b="0" i="0">
                <a:solidFill>
                  <a:srgbClr val="DCE3EF"/>
                </a:solidFill>
                <a:latin typeface="Pretendard"/>
                <a:ea typeface="Pretendard"/>
              </a:rPr>
              <a:t>3.  전부 </a:t>
            </a:r>
            <a:r>
              <a:rPr sz="1350" b="1" i="0">
                <a:solidFill>
                  <a:srgbClr val="6DDCA0"/>
                </a:solidFill>
                <a:latin typeface="Pretendard"/>
                <a:ea typeface="Pretendard"/>
              </a:rPr>
              <a:t>pass</a:t>
            </a:r>
            <a:r>
              <a:rPr sz="1350" b="1" i="0">
                <a:solidFill>
                  <a:srgbClr val="FFFFFF"/>
                </a:solidFill>
                <a:latin typeface="Pretendard"/>
                <a:ea typeface="Pretendard"/>
              </a:rPr>
              <a:t>  →  적격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559551" y="3346704"/>
            <a:ext cx="3843223" cy="1993392"/>
          </a:xfrm>
          <a:prstGeom prst="roundRect">
            <a:avLst>
              <a:gd name="adj" fmla="val 6422"/>
            </a:avLst>
          </a:prstGeom>
          <a:solidFill>
            <a:srgbClr val="F8F9FA"/>
          </a:solidFill>
          <a:ln w="12700">
            <a:solidFill>
              <a:srgbClr val="E8E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852159" y="3602736"/>
            <a:ext cx="3294583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900"/>
              </a:spcAft>
            </a:pPr>
            <a:r>
              <a:rPr sz="1600" b="1" i="0">
                <a:solidFill>
                  <a:srgbClr val="1D1D1D"/>
                </a:solidFill>
                <a:latin typeface="Pretendard"/>
                <a:ea typeface="Pretendard"/>
              </a:rPr>
              <a:t>“AI는 읽고, 규칙이 판정합니다.”</a:t>
            </a:r>
          </a:p>
          <a:p>
            <a:pPr algn="l">
              <a:lnSpc>
                <a:spcPct val="138000"/>
              </a:lnSpc>
              <a:spcBef>
                <a:spcPts val="0"/>
              </a:spcBef>
              <a:spcAft>
                <a:spcPts val="900"/>
              </a:spcAft>
            </a:pPr>
            <a:r>
              <a:rPr sz="1180" b="0" i="0">
                <a:solidFill>
                  <a:srgbClr val="555B63"/>
                </a:solidFill>
                <a:latin typeface="Pretendard"/>
                <a:ea typeface="Pretendard"/>
              </a:rPr>
              <a:t>블랙박스가 당락을 정하지 않으니, 판정은 늘 재현하고 감사할 수 있습니다.</a:t>
            </a:r>
          </a:p>
          <a:p>
            <a:pPr algn="l">
              <a:lnSpc>
                <a:spcPct val="138000"/>
              </a:lnSpc>
              <a:spcBef>
                <a:spcPts val="0"/>
              </a:spcBef>
            </a:pPr>
            <a:r>
              <a:rPr sz="1100" b="0" i="0">
                <a:solidFill>
                  <a:srgbClr val="7A8088"/>
                </a:solidFill>
                <a:latin typeface="Pretendard"/>
                <a:ea typeface="Pretendard"/>
              </a:rPr>
              <a:t>무거운 수집(Python/GCP)과 빠른 사용자 경로(읽기 전용)를 표준 계약 하나로 분리해 비용·지연을 통제합니다.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905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02920" y="434340"/>
            <a:ext cx="155448" cy="155448"/>
          </a:xfrm>
          <a:prstGeom prst="ellipse">
            <a:avLst/>
          </a:prstGeom>
          <a:solidFill>
            <a:srgbClr val="2F6B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434340"/>
            <a:ext cx="155448" cy="1554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</a:pPr>
            <a:r>
              <a:rPr sz="850" b="1" i="0">
                <a:solidFill>
                  <a:srgbClr val="FFFFFF"/>
                </a:solidFill>
                <a:latin typeface="Pretendard"/>
                <a:ea typeface="Pretendard"/>
              </a:rPr>
              <a:t>✓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420624"/>
            <a:ext cx="5029200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150" b="1" i="0">
                <a:solidFill>
                  <a:srgbClr val="7A8088"/>
                </a:solidFill>
                <a:latin typeface="Pretendard"/>
                <a:ea typeface="Pretendard"/>
              </a:rPr>
              <a:t>기술 · 차별점 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76656"/>
            <a:ext cx="889985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</a:pPr>
            <a:r>
              <a:rPr sz="2700" b="1" i="0">
                <a:solidFill>
                  <a:srgbClr val="1D1D1D"/>
                </a:solidFill>
                <a:latin typeface="Pretendard"/>
                <a:ea typeface="Pretendard"/>
              </a:rPr>
              <a:t>정직하게 설계된 신뢰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298448"/>
            <a:ext cx="871697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2000"/>
              </a:lnSpc>
              <a:spcBef>
                <a:spcPts val="0"/>
              </a:spcBef>
            </a:pPr>
            <a:r>
              <a:rPr sz="1250" b="0" i="0">
                <a:solidFill>
                  <a:srgbClr val="555B63"/>
                </a:solidFill>
                <a:latin typeface="Pretendard"/>
                <a:ea typeface="Pretendard"/>
              </a:rPr>
              <a:t>“87점” 같은 가짜 단일점수를 거부합니다. 모르는 것을 함부로 “안 됨”으로 단정하지 않습니다.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02575" y="310896"/>
            <a:ext cx="1737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</a:pPr>
            <a:r>
              <a:rPr sz="1200" b="0" i="0" spc="300">
                <a:solidFill>
                  <a:srgbClr val="C2C5CA"/>
                </a:solidFill>
                <a:latin typeface="Pretendard"/>
                <a:ea typeface="Pretendard"/>
              </a:rPr>
              <a:t>NOTEN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62695" y="6437376"/>
            <a:ext cx="7772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</a:pPr>
            <a:r>
              <a:rPr sz="1000" b="0" i="0">
                <a:solidFill>
                  <a:srgbClr val="9AA0A8"/>
                </a:solidFill>
                <a:latin typeface="Pretendard"/>
                <a:ea typeface="Pretendard"/>
              </a:rPr>
              <a:t>04 / 08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965960"/>
            <a:ext cx="4370832" cy="2743200"/>
          </a:xfrm>
          <a:prstGeom prst="roundRect">
            <a:avLst>
              <a:gd name="adj" fmla="val 4666"/>
            </a:avLst>
          </a:prstGeom>
          <a:solidFill>
            <a:srgbClr val="FFFFFF"/>
          </a:solidFill>
          <a:ln w="12700">
            <a:solidFill>
              <a:srgbClr val="E8EAED"/>
            </a:solidFill>
          </a:ln>
          <a:effectLst/>
          <a:effectLst>
            <a:outerShdw blurRad="70000" dist="30000" dir="5400000" rotWithShape="0">
              <a:srgbClr val="1A1A1A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77240" y="2221991"/>
            <a:ext cx="1874519" cy="365760"/>
          </a:xfrm>
          <a:prstGeom prst="roundRect">
            <a:avLst>
              <a:gd name="adj" fmla="val 50000"/>
            </a:avLst>
          </a:prstGeom>
          <a:solidFill>
            <a:srgbClr val="FDF0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2221991"/>
            <a:ext cx="1874519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</a:pPr>
            <a:r>
              <a:rPr sz="1100" b="1" i="0">
                <a:solidFill>
                  <a:srgbClr val="E88B00"/>
                </a:solidFill>
                <a:latin typeface="Pretendard"/>
                <a:ea typeface="Pretendard"/>
              </a:rPr>
              <a:t>거짓 탈락 금지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788920"/>
            <a:ext cx="3822192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1100"/>
              </a:spcAft>
            </a:pPr>
            <a:r>
              <a:rPr sz="1250" b="0" i="0">
                <a:solidFill>
                  <a:srgbClr val="555B63"/>
                </a:solidFill>
                <a:latin typeface="Pretendard"/>
                <a:ea typeface="Pretendard"/>
              </a:rPr>
              <a:t>정보가 없으면 </a:t>
            </a:r>
            <a:r>
              <a:rPr sz="1250" b="1" i="0">
                <a:solidFill>
                  <a:srgbClr val="E88B00"/>
                </a:solidFill>
                <a:latin typeface="Pretendard"/>
                <a:ea typeface="Pretendard"/>
              </a:rPr>
              <a:t>unknown(조건부)</a:t>
            </a:r>
            <a:r>
              <a:rPr sz="1250" b="0" i="0">
                <a:solidFill>
                  <a:srgbClr val="555B63"/>
                </a:solidFill>
                <a:latin typeface="Pretendard"/>
                <a:ea typeface="Pretendard"/>
              </a:rPr>
              <a:t>으로 두고 사용자에게 물어봅니다.</a:t>
            </a:r>
          </a:p>
          <a:p>
            <a:pPr algn="l">
              <a:spcBef>
                <a:spcPts val="0"/>
              </a:spcBef>
              <a:spcAft>
                <a:spcPts val="1100"/>
              </a:spcAft>
            </a:pPr>
            <a:r>
              <a:rPr sz="1250" b="0" i="0">
                <a:solidFill>
                  <a:srgbClr val="555B63"/>
                </a:solidFill>
                <a:latin typeface="Pretendard"/>
                <a:ea typeface="Pretendard"/>
              </a:rPr>
              <a:t>모른다고 해서 </a:t>
            </a:r>
            <a:r>
              <a:rPr sz="1250" b="1" i="0">
                <a:solidFill>
                  <a:srgbClr val="1D1D1D"/>
                </a:solidFill>
                <a:latin typeface="Pretendard"/>
                <a:ea typeface="Pretendard"/>
              </a:rPr>
              <a:t>“안 됨”으로 단정하지 않습니다</a:t>
            </a:r>
            <a:r>
              <a:rPr sz="1250" b="0" i="0">
                <a:solidFill>
                  <a:srgbClr val="555B63"/>
                </a:solidFill>
                <a:latin typeface="Pretendard"/>
                <a:ea typeface="Pretendard"/>
              </a:rPr>
              <a:t>.</a:t>
            </a:r>
          </a:p>
          <a:p>
            <a:pPr algn="l">
              <a:lnSpc>
                <a:spcPct val="140000"/>
              </a:lnSpc>
              <a:spcBef>
                <a:spcPts val="0"/>
              </a:spcBef>
            </a:pPr>
            <a:r>
              <a:rPr sz="1250" b="0" i="0">
                <a:solidFill>
                  <a:srgbClr val="555B63"/>
                </a:solidFill>
                <a:latin typeface="Pretendard"/>
                <a:ea typeface="Pretendard"/>
              </a:rPr>
              <a:t>자가신고·예비창업 등 </a:t>
            </a:r>
            <a:r>
              <a:rPr sz="1250" b="1" i="0">
                <a:solidFill>
                  <a:srgbClr val="2B2F36"/>
                </a:solidFill>
                <a:latin typeface="Pretendard"/>
                <a:ea typeface="Pretendard"/>
              </a:rPr>
              <a:t>신뢰도 낮은 출처는 confidence가 점수를 자동으로 낮춥니다</a:t>
            </a:r>
            <a:r>
              <a:rPr sz="1250" b="0" i="0">
                <a:solidFill>
                  <a:srgbClr val="555B63"/>
                </a:solidFill>
                <a:latin typeface="Pretendard"/>
                <a:ea typeface="Pretendard"/>
              </a:rPr>
              <a:t>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38344" y="1965960"/>
            <a:ext cx="4370832" cy="2743200"/>
          </a:xfrm>
          <a:prstGeom prst="roundRect">
            <a:avLst>
              <a:gd name="adj" fmla="val 4666"/>
            </a:avLst>
          </a:prstGeom>
          <a:solidFill>
            <a:srgbClr val="F8F9FA"/>
          </a:solidFill>
          <a:ln w="12700">
            <a:solidFill>
              <a:srgbClr val="E8E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312664" y="2203704"/>
            <a:ext cx="382219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300" b="1" i="0">
                <a:solidFill>
                  <a:srgbClr val="2B2F36"/>
                </a:solidFill>
                <a:latin typeface="Pretendard"/>
                <a:ea typeface="Pretendard"/>
              </a:rPr>
              <a:t>점수 3분해 — 신뢰와 추측을 섞지 않습니다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312664" y="2679191"/>
            <a:ext cx="1508760" cy="347472"/>
          </a:xfrm>
          <a:prstGeom prst="roundRect">
            <a:avLst>
              <a:gd name="adj" fmla="val 50000"/>
            </a:avLst>
          </a:prstGeom>
          <a:solidFill>
            <a:srgbClr val="E3F5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312664" y="2679191"/>
            <a:ext cx="1508760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</a:pPr>
            <a:r>
              <a:rPr sz="1050" b="1" i="0">
                <a:solidFill>
                  <a:srgbClr val="129E5E"/>
                </a:solidFill>
                <a:latin typeface="Pretendard"/>
                <a:ea typeface="Pretendard"/>
              </a:rPr>
              <a:t>적합도 Fit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40296" y="2679191"/>
            <a:ext cx="2194560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080" b="0" i="0">
                <a:solidFill>
                  <a:srgbClr val="7A8088"/>
                </a:solidFill>
                <a:latin typeface="Pretendard"/>
                <a:ea typeface="Pretendard"/>
              </a:rPr>
              <a:t>지금 신뢰 가능 · 규칙엔진 산출 · 헤드라인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312664" y="3136391"/>
            <a:ext cx="1508760" cy="347472"/>
          </a:xfrm>
          <a:prstGeom prst="roundRect">
            <a:avLst>
              <a:gd name="adj" fmla="val 50000"/>
            </a:avLst>
          </a:prstGeom>
          <a:solidFill>
            <a:srgbClr val="FDF0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312664" y="3136391"/>
            <a:ext cx="1508760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</a:pPr>
            <a:r>
              <a:rPr sz="1050" b="1" i="0">
                <a:solidFill>
                  <a:srgbClr val="E88B00"/>
                </a:solidFill>
                <a:latin typeface="Pretendard"/>
                <a:ea typeface="Pretendard"/>
              </a:rPr>
              <a:t>선정가능성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40296" y="3136391"/>
            <a:ext cx="2194560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080" b="0" i="0">
                <a:solidFill>
                  <a:srgbClr val="7A8088"/>
                </a:solidFill>
                <a:latin typeface="Pretendard"/>
                <a:ea typeface="Pretendard"/>
              </a:rPr>
              <a:t>데이터 누적 후 학습 · “추정” 라벨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312664" y="3593591"/>
            <a:ext cx="1508760" cy="347472"/>
          </a:xfrm>
          <a:prstGeom prst="roundRect">
            <a:avLst>
              <a:gd name="adj" fmla="val 50000"/>
            </a:avLst>
          </a:prstGeom>
          <a:solidFill>
            <a:srgbClr val="EAF1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312664" y="3593591"/>
            <a:ext cx="1508760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</a:pPr>
            <a:r>
              <a:rPr sz="1050" b="1" i="0">
                <a:solidFill>
                  <a:srgbClr val="2F6BE5"/>
                </a:solidFill>
                <a:latin typeface="Pretendard"/>
                <a:ea typeface="Pretendard"/>
              </a:rPr>
              <a:t>가치 Value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40296" y="3593591"/>
            <a:ext cx="2194560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080" b="0" i="0">
                <a:solidFill>
                  <a:srgbClr val="7A8088"/>
                </a:solidFill>
                <a:latin typeface="Pretendard"/>
                <a:ea typeface="Pretendard"/>
              </a:rPr>
              <a:t>혜택 − 부담 합산 · 보조 배지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312664" y="4105655"/>
            <a:ext cx="3822192" cy="548640"/>
          </a:xfrm>
          <a:prstGeom prst="roundRect">
            <a:avLst>
              <a:gd name="adj" fmla="val 16666"/>
            </a:avLst>
          </a:prstGeom>
          <a:solidFill>
            <a:srgbClr val="FFFFFF"/>
          </a:solidFill>
          <a:ln w="12700">
            <a:solidFill>
              <a:srgbClr val="E8E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440680" y="4105655"/>
            <a:ext cx="3593592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</a:pPr>
            <a:r>
              <a:rPr sz="1150" b="1" i="0">
                <a:solidFill>
                  <a:srgbClr val="225BCE"/>
                </a:solidFill>
                <a:latin typeface="Pretendard"/>
                <a:ea typeface="Pretendard"/>
              </a:rPr>
              <a:t>“지금 78점 → 매출 입력 시 최대 92점”</a:t>
            </a:r>
          </a:p>
          <a:p>
            <a:pPr algn="l">
              <a:spcBef>
                <a:spcPts val="0"/>
              </a:spcBef>
            </a:pPr>
            <a:r>
              <a:rPr sz="1050" b="0" i="0">
                <a:solidFill>
                  <a:srgbClr val="7A8088"/>
                </a:solidFill>
                <a:latin typeface="Pretendard"/>
                <a:ea typeface="Pretendard"/>
              </a:rPr>
              <a:t>확정 하한·잠재 상한을 함께 제시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02920" y="4855464"/>
            <a:ext cx="8899855" cy="493776"/>
          </a:xfrm>
          <a:prstGeom prst="roundRect">
            <a:avLst>
              <a:gd name="adj" fmla="val 18518"/>
            </a:avLst>
          </a:prstGeom>
          <a:solidFill>
            <a:srgbClr val="F3F6FD"/>
          </a:solidFill>
          <a:ln w="12700">
            <a:solidFill>
              <a:srgbClr val="CFDE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77240" y="4855464"/>
            <a:ext cx="8351215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250" b="1" i="0">
                <a:solidFill>
                  <a:srgbClr val="1D1D1D"/>
                </a:solidFill>
                <a:latin typeface="Pretendard"/>
                <a:ea typeface="Pretendard"/>
              </a:rPr>
              <a:t>거짓 확신을 구조적으로 차단</a:t>
            </a:r>
            <a:r>
              <a:rPr sz="1250" b="0" i="0">
                <a:solidFill>
                  <a:srgbClr val="555B63"/>
                </a:solidFill>
                <a:latin typeface="Pretendard"/>
                <a:ea typeface="Pretendard"/>
              </a:rPr>
              <a:t> — VC가 산출물을 신뢰할 수 있는 이유이자, 곧 라벨링 단위가 됩니다.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905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02920" y="434340"/>
            <a:ext cx="155448" cy="155448"/>
          </a:xfrm>
          <a:prstGeom prst="ellipse">
            <a:avLst/>
          </a:prstGeom>
          <a:solidFill>
            <a:srgbClr val="2F6B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434340"/>
            <a:ext cx="155448" cy="1554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</a:pPr>
            <a:r>
              <a:rPr sz="850" b="1" i="0">
                <a:solidFill>
                  <a:srgbClr val="FFFFFF"/>
                </a:solidFill>
                <a:latin typeface="Pretendard"/>
                <a:ea typeface="Pretendard"/>
              </a:rPr>
              <a:t>✓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420624"/>
            <a:ext cx="5029200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150" b="1" i="0">
                <a:solidFill>
                  <a:srgbClr val="7A8088"/>
                </a:solidFill>
                <a:latin typeface="Pretendard"/>
                <a:ea typeface="Pretendard"/>
              </a:rPr>
              <a:t>기술 · 실증 · NOW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76656"/>
            <a:ext cx="889985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</a:pPr>
            <a:r>
              <a:rPr sz="2700" b="1" i="0">
                <a:solidFill>
                  <a:srgbClr val="1D1D1D"/>
                </a:solidFill>
                <a:latin typeface="Pretendard"/>
                <a:ea typeface="Pretendard"/>
              </a:rPr>
              <a:t>슬라이드웨어가 아니라, 이미 돌아가는 코드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298448"/>
            <a:ext cx="871697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2000"/>
              </a:lnSpc>
              <a:spcBef>
                <a:spcPts val="0"/>
              </a:spcBef>
            </a:pPr>
            <a:r>
              <a:rPr sz="1250" b="0" i="0">
                <a:solidFill>
                  <a:srgbClr val="555B63"/>
                </a:solidFill>
                <a:latin typeface="Pretendard"/>
                <a:ea typeface="Pretendard"/>
              </a:rPr>
              <a:t>설계가 아니라 실측입니다. 비정형 공고를 표준 계약으로 환원하고, 매칭 엔진을 실데이터에서 엔드투엔드로 실증했습니다.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02575" y="310896"/>
            <a:ext cx="1737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</a:pPr>
            <a:r>
              <a:rPr sz="1200" b="0" i="0" spc="300">
                <a:solidFill>
                  <a:srgbClr val="C2C5CA"/>
                </a:solidFill>
                <a:latin typeface="Pretendard"/>
                <a:ea typeface="Pretendard"/>
              </a:rPr>
              <a:t>NOTEN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62695" y="6437376"/>
            <a:ext cx="7772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</a:pPr>
            <a:r>
              <a:rPr sz="1000" b="0" i="0">
                <a:solidFill>
                  <a:srgbClr val="9AA0A8"/>
                </a:solidFill>
                <a:latin typeface="Pretendard"/>
                <a:ea typeface="Pretendard"/>
              </a:rPr>
              <a:t>05 / 08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2103120"/>
            <a:ext cx="2834640" cy="1481328"/>
          </a:xfrm>
          <a:prstGeom prst="roundRect">
            <a:avLst>
              <a:gd name="adj" fmla="val 8024"/>
            </a:avLst>
          </a:prstGeom>
          <a:solidFill>
            <a:srgbClr val="FFFFFF"/>
          </a:solidFill>
          <a:ln w="12700">
            <a:solidFill>
              <a:srgbClr val="E8EAED"/>
            </a:solidFill>
          </a:ln>
          <a:effectLst/>
          <a:effectLst>
            <a:outerShdw blurRad="70000" dist="30000" dir="5400000" rotWithShape="0">
              <a:srgbClr val="1A1A1A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86383" y="1865376"/>
            <a:ext cx="2267712" cy="475488"/>
          </a:xfrm>
          <a:prstGeom prst="roundRect">
            <a:avLst>
              <a:gd name="adj" fmla="val 50000"/>
            </a:avLst>
          </a:prstGeom>
          <a:solidFill>
            <a:srgbClr val="2F6BE5"/>
          </a:solidFill>
          <a:ln>
            <a:noFill/>
          </a:ln>
          <a:effectLst/>
          <a:effectLst>
            <a:outerShdw blurRad="70000" dist="30000" dir="5400000" rotWithShape="0">
              <a:srgbClr val="1A1A1A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6383" y="1865376"/>
            <a:ext cx="2267712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</a:pPr>
            <a:r>
              <a:rPr sz="2200" b="1" i="0">
                <a:solidFill>
                  <a:srgbClr val="FFFFFF"/>
                </a:solidFill>
                <a:latin typeface="Pretendard"/>
                <a:ea typeface="Pretendard"/>
              </a:rPr>
              <a:t>100%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2578608"/>
            <a:ext cx="2468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</a:pPr>
            <a:r>
              <a:rPr sz="1100" b="1" i="0">
                <a:solidFill>
                  <a:srgbClr val="2B2F36"/>
                </a:solidFill>
                <a:latin typeface="Pretendard"/>
                <a:ea typeface="Pretendard"/>
              </a:rPr>
              <a:t>K-Startup 척추 6차원을 LLM 없이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3163824"/>
            <a:ext cx="2468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</a:pPr>
            <a:r>
              <a:rPr sz="950" b="0" i="0">
                <a:solidFill>
                  <a:srgbClr val="9AA0A8"/>
                </a:solidFill>
                <a:latin typeface="Pretendard"/>
                <a:ea typeface="Pretendard"/>
              </a:rPr>
              <a:t>파서만으로 자동 산출 · 오류·비용 0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502152" y="2103120"/>
            <a:ext cx="2834640" cy="1481328"/>
          </a:xfrm>
          <a:prstGeom prst="roundRect">
            <a:avLst>
              <a:gd name="adj" fmla="val 8024"/>
            </a:avLst>
          </a:prstGeom>
          <a:solidFill>
            <a:srgbClr val="FFFFFF"/>
          </a:solidFill>
          <a:ln w="12700">
            <a:solidFill>
              <a:srgbClr val="E8EAED"/>
            </a:solidFill>
          </a:ln>
          <a:effectLst/>
          <a:effectLst>
            <a:outerShdw blurRad="70000" dist="30000" dir="5400000" rotWithShape="0">
              <a:srgbClr val="1A1A1A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3785615" y="1865376"/>
            <a:ext cx="2267712" cy="475488"/>
          </a:xfrm>
          <a:prstGeom prst="roundRect">
            <a:avLst>
              <a:gd name="adj" fmla="val 50000"/>
            </a:avLst>
          </a:prstGeom>
          <a:solidFill>
            <a:srgbClr val="2F6BE5"/>
          </a:solidFill>
          <a:ln>
            <a:noFill/>
          </a:ln>
          <a:effectLst/>
          <a:effectLst>
            <a:outerShdw blurRad="70000" dist="30000" dir="5400000" rotWithShape="0">
              <a:srgbClr val="1A1A1A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785615" y="1865376"/>
            <a:ext cx="2267712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</a:pPr>
            <a:r>
              <a:rPr sz="1900" b="1" i="0">
                <a:solidFill>
                  <a:srgbClr val="FFFFFF"/>
                </a:solidFill>
                <a:latin typeface="Pretendard"/>
                <a:ea typeface="Pretendard"/>
              </a:rPr>
              <a:t>29,187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85032" y="2578608"/>
            <a:ext cx="2468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</a:pPr>
            <a:r>
              <a:rPr sz="1100" b="1" i="0">
                <a:solidFill>
                  <a:srgbClr val="2B2F36"/>
                </a:solidFill>
                <a:latin typeface="Pretendard"/>
                <a:ea typeface="Pretendard"/>
              </a:rPr>
              <a:t>수집된 공고 규모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85032" y="3163824"/>
            <a:ext cx="2468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</a:pPr>
            <a:r>
              <a:rPr sz="950" b="0" i="0">
                <a:solidFill>
                  <a:srgbClr val="9AA0A8"/>
                </a:solidFill>
                <a:latin typeface="Pretendard"/>
                <a:ea typeface="Pretendard"/>
              </a:rPr>
              <a:t>표본 500건 구조화 커버리지 검증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01384" y="2103120"/>
            <a:ext cx="2834640" cy="1481328"/>
          </a:xfrm>
          <a:prstGeom prst="roundRect">
            <a:avLst>
              <a:gd name="adj" fmla="val 8024"/>
            </a:avLst>
          </a:prstGeom>
          <a:solidFill>
            <a:srgbClr val="FFFFFF"/>
          </a:solidFill>
          <a:ln w="12700">
            <a:solidFill>
              <a:srgbClr val="E8EAED"/>
            </a:solidFill>
          </a:ln>
          <a:effectLst/>
          <a:effectLst>
            <a:outerShdw blurRad="70000" dist="30000" dir="5400000" rotWithShape="0">
              <a:srgbClr val="1A1A1A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784848" y="1865376"/>
            <a:ext cx="2267712" cy="475488"/>
          </a:xfrm>
          <a:prstGeom prst="roundRect">
            <a:avLst>
              <a:gd name="adj" fmla="val 50000"/>
            </a:avLst>
          </a:prstGeom>
          <a:solidFill>
            <a:srgbClr val="2F6BE5"/>
          </a:solidFill>
          <a:ln>
            <a:noFill/>
          </a:ln>
          <a:effectLst/>
          <a:effectLst>
            <a:outerShdw blurRad="70000" dist="30000" dir="5400000" rotWithShape="0">
              <a:srgbClr val="1A1A1A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784848" y="1865376"/>
            <a:ext cx="2267712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</a:pPr>
            <a:r>
              <a:rPr sz="1800" b="1" i="0">
                <a:solidFill>
                  <a:srgbClr val="FFFFFF"/>
                </a:solidFill>
                <a:latin typeface="Pretendard"/>
                <a:ea typeface="Pretendard"/>
              </a:rPr>
              <a:t>63·88·64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84264" y="2578608"/>
            <a:ext cx="2468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</a:pPr>
            <a:r>
              <a:rPr sz="1100" b="1" i="0">
                <a:solidFill>
                  <a:srgbClr val="2B2F36"/>
                </a:solidFill>
                <a:latin typeface="Pretendard"/>
                <a:ea typeface="Pretendard"/>
              </a:rPr>
              <a:t>엔드투엔드 매칭 데모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84264" y="3163824"/>
            <a:ext cx="2468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</a:pPr>
            <a:r>
              <a:rPr sz="930" b="0" i="0">
                <a:solidFill>
                  <a:srgbClr val="9AA0A8"/>
                </a:solidFill>
                <a:latin typeface="Pretendard"/>
                <a:ea typeface="Pretendard"/>
              </a:rPr>
              <a:t>가상 사업자 × open 215건 → </a:t>
            </a:r>
            <a:r>
              <a:rPr sz="930" b="1" i="0">
                <a:solidFill>
                  <a:srgbClr val="129E5E"/>
                </a:solidFill>
                <a:latin typeface="Pretendard"/>
                <a:ea typeface="Pretendard"/>
              </a:rPr>
              <a:t>적격</a:t>
            </a:r>
            <a:r>
              <a:rPr sz="930" b="0" i="0">
                <a:solidFill>
                  <a:srgbClr val="9AA0A8"/>
                </a:solidFill>
                <a:latin typeface="Pretendard"/>
                <a:ea typeface="Pretendard"/>
              </a:rPr>
              <a:t>·</a:t>
            </a:r>
            <a:r>
              <a:rPr sz="930" b="1" i="0">
                <a:solidFill>
                  <a:srgbClr val="E88B00"/>
                </a:solidFill>
                <a:latin typeface="Pretendard"/>
                <a:ea typeface="Pretendard"/>
              </a:rPr>
              <a:t>조건부</a:t>
            </a:r>
            <a:r>
              <a:rPr sz="930" b="0" i="0">
                <a:solidFill>
                  <a:srgbClr val="9AA0A8"/>
                </a:solidFill>
                <a:latin typeface="Pretendard"/>
                <a:ea typeface="Pretendard"/>
              </a:rPr>
              <a:t>·</a:t>
            </a:r>
            <a:r>
              <a:rPr sz="930" b="1" i="0">
                <a:solidFill>
                  <a:srgbClr val="E03E4E"/>
                </a:solidFill>
                <a:latin typeface="Pretendard"/>
                <a:ea typeface="Pretendard"/>
              </a:rPr>
              <a:t>부적격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02920" y="3950208"/>
            <a:ext cx="2834640" cy="1481328"/>
          </a:xfrm>
          <a:prstGeom prst="roundRect">
            <a:avLst>
              <a:gd name="adj" fmla="val 8024"/>
            </a:avLst>
          </a:prstGeom>
          <a:solidFill>
            <a:srgbClr val="FFFFFF"/>
          </a:solidFill>
          <a:ln w="12700">
            <a:solidFill>
              <a:srgbClr val="E8EAED"/>
            </a:solidFill>
          </a:ln>
          <a:effectLst/>
          <a:effectLst>
            <a:outerShdw blurRad="70000" dist="30000" dir="5400000" rotWithShape="0">
              <a:srgbClr val="1A1A1A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786383" y="3712464"/>
            <a:ext cx="2267712" cy="475488"/>
          </a:xfrm>
          <a:prstGeom prst="roundRect">
            <a:avLst>
              <a:gd name="adj" fmla="val 50000"/>
            </a:avLst>
          </a:prstGeom>
          <a:solidFill>
            <a:srgbClr val="2F6BE5"/>
          </a:solidFill>
          <a:ln>
            <a:noFill/>
          </a:ln>
          <a:effectLst/>
          <a:effectLst>
            <a:outerShdw blurRad="70000" dist="30000" dir="5400000" rotWithShape="0">
              <a:srgbClr val="1A1A1A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86383" y="3712464"/>
            <a:ext cx="2267712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</a:pPr>
            <a:r>
              <a:rPr sz="1900" b="1" i="0">
                <a:solidFill>
                  <a:srgbClr val="FFFFFF"/>
                </a:solidFill>
                <a:latin typeface="Pretendard"/>
                <a:ea typeface="Pretendard"/>
              </a:rPr>
              <a:t>1/3 → 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" y="4425696"/>
            <a:ext cx="2468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</a:pPr>
            <a:r>
              <a:rPr sz="1100" b="1" i="0">
                <a:solidFill>
                  <a:srgbClr val="2B2F36"/>
                </a:solidFill>
                <a:latin typeface="Pretendard"/>
                <a:ea typeface="Pretendard"/>
              </a:rPr>
              <a:t>LLM JSON 파싱 실패율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" y="5010912"/>
            <a:ext cx="2468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</a:pPr>
            <a:r>
              <a:rPr sz="950" b="0" i="0">
                <a:solidFill>
                  <a:srgbClr val="9AA0A8"/>
                </a:solidFill>
                <a:latin typeface="Pretendard"/>
                <a:ea typeface="Pretendard"/>
              </a:rPr>
              <a:t>tool-use(구조화 출력) 전환 효과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502152" y="3950208"/>
            <a:ext cx="2834640" cy="1481328"/>
          </a:xfrm>
          <a:prstGeom prst="roundRect">
            <a:avLst>
              <a:gd name="adj" fmla="val 8024"/>
            </a:avLst>
          </a:prstGeom>
          <a:solidFill>
            <a:srgbClr val="FFFFFF"/>
          </a:solidFill>
          <a:ln w="12700">
            <a:solidFill>
              <a:srgbClr val="E8EAED"/>
            </a:solidFill>
          </a:ln>
          <a:effectLst/>
          <a:effectLst>
            <a:outerShdw blurRad="70000" dist="30000" dir="5400000" rotWithShape="0">
              <a:srgbClr val="1A1A1A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3785615" y="3712464"/>
            <a:ext cx="2267712" cy="475488"/>
          </a:xfrm>
          <a:prstGeom prst="roundRect">
            <a:avLst>
              <a:gd name="adj" fmla="val 50000"/>
            </a:avLst>
          </a:prstGeom>
          <a:solidFill>
            <a:srgbClr val="2F6BE5"/>
          </a:solidFill>
          <a:ln>
            <a:noFill/>
          </a:ln>
          <a:effectLst/>
          <a:effectLst>
            <a:outerShdw blurRad="70000" dist="30000" dir="5400000" rotWithShape="0">
              <a:srgbClr val="1A1A1A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785615" y="3712464"/>
            <a:ext cx="2267712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</a:pPr>
            <a:r>
              <a:rPr sz="2200" b="1" i="0">
                <a:solidFill>
                  <a:srgbClr val="FFFFFF"/>
                </a:solidFill>
                <a:latin typeface="Pretendard"/>
                <a:ea typeface="Pretendard"/>
              </a:rPr>
              <a:t>11 표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685032" y="4425696"/>
            <a:ext cx="2468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</a:pPr>
            <a:r>
              <a:rPr sz="1100" b="1" i="0">
                <a:solidFill>
                  <a:srgbClr val="2B2F36"/>
                </a:solidFill>
                <a:latin typeface="Pretendard"/>
                <a:ea typeface="Pretendard"/>
              </a:rPr>
              <a:t>HWP 자격요건 표 셀 단위 보존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685032" y="5010912"/>
            <a:ext cx="2468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</a:pPr>
            <a:r>
              <a:rPr sz="950" b="0" i="0">
                <a:solidFill>
                  <a:srgbClr val="9AA0A8"/>
                </a:solidFill>
                <a:latin typeface="Pretendard"/>
                <a:ea typeface="Pretendard"/>
              </a:rPr>
              <a:t>pyhwp hwp5html → LLM-ready 마크다운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501384" y="3950208"/>
            <a:ext cx="2834640" cy="1481328"/>
          </a:xfrm>
          <a:prstGeom prst="roundRect">
            <a:avLst>
              <a:gd name="adj" fmla="val 8024"/>
            </a:avLst>
          </a:prstGeom>
          <a:solidFill>
            <a:srgbClr val="FFFFFF"/>
          </a:solidFill>
          <a:ln w="12700">
            <a:solidFill>
              <a:srgbClr val="E8EAED"/>
            </a:solidFill>
          </a:ln>
          <a:effectLst/>
          <a:effectLst>
            <a:outerShdw blurRad="70000" dist="30000" dir="5400000" rotWithShape="0">
              <a:srgbClr val="1A1A1A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6784848" y="3712464"/>
            <a:ext cx="2267712" cy="475488"/>
          </a:xfrm>
          <a:prstGeom prst="roundRect">
            <a:avLst>
              <a:gd name="adj" fmla="val 50000"/>
            </a:avLst>
          </a:prstGeom>
          <a:solidFill>
            <a:srgbClr val="2F6BE5"/>
          </a:solidFill>
          <a:ln>
            <a:noFill/>
          </a:ln>
          <a:effectLst/>
          <a:effectLst>
            <a:outerShdw blurRad="70000" dist="30000" dir="5400000" rotWithShape="0">
              <a:srgbClr val="1A1A1A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784848" y="3712464"/>
            <a:ext cx="2267712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</a:pPr>
            <a:r>
              <a:rPr sz="2200" b="1" i="0">
                <a:solidFill>
                  <a:srgbClr val="FFFFFF"/>
                </a:solidFill>
                <a:latin typeface="Pretendard"/>
                <a:ea typeface="Pretendard"/>
              </a:rPr>
              <a:t>11 종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684264" y="4425696"/>
            <a:ext cx="2468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</a:pPr>
            <a:r>
              <a:rPr sz="1100" b="1" i="0">
                <a:solidFill>
                  <a:srgbClr val="2B2F36"/>
                </a:solidFill>
                <a:latin typeface="Pretendard"/>
                <a:ea typeface="Pretendard"/>
              </a:rPr>
              <a:t>구현된 use-case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684264" y="5010912"/>
            <a:ext cx="2468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</a:pPr>
            <a:r>
              <a:rPr sz="950" b="0" i="0">
                <a:solidFill>
                  <a:srgbClr val="9AA0A8"/>
                </a:solidFill>
                <a:latin typeface="Pretendard"/>
                <a:ea typeface="Pretendard"/>
              </a:rPr>
              <a:t>매칭카드·액션큐·로드맵·신청시트…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02920" y="5705856"/>
            <a:ext cx="8899855" cy="475488"/>
          </a:xfrm>
          <a:prstGeom prst="roundRect">
            <a:avLst>
              <a:gd name="adj" fmla="val 19230"/>
            </a:avLst>
          </a:prstGeom>
          <a:solidFill>
            <a:srgbClr val="F8F9FA"/>
          </a:solidFill>
          <a:ln w="12700">
            <a:solidFill>
              <a:srgbClr val="E8E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77240" y="5705856"/>
            <a:ext cx="8351215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150" b="1" i="0">
                <a:solidFill>
                  <a:srgbClr val="1D1D1D"/>
                </a:solidFill>
                <a:latin typeface="Pretendard"/>
                <a:ea typeface="Pretendard"/>
              </a:rPr>
              <a:t>정직성 게이트.  </a:t>
            </a:r>
            <a:r>
              <a:rPr sz="1150" b="0" i="0">
                <a:solidFill>
                  <a:srgbClr val="555B63"/>
                </a:solidFill>
                <a:latin typeface="Pretendard"/>
                <a:ea typeface="Pretendard"/>
              </a:rPr>
              <a:t>도메인 골든셋 기반 정밀도/재현율(P/R)은 진행 중이라, 그 전에는 </a:t>
            </a:r>
            <a:r>
              <a:rPr sz="1150" b="1" i="0">
                <a:solidFill>
                  <a:srgbClr val="2B2F36"/>
                </a:solidFill>
                <a:latin typeface="Pretendard"/>
                <a:ea typeface="Pretendard"/>
              </a:rPr>
              <a:t>“정확도 검증 완료”라고 말하지 않습니다</a:t>
            </a:r>
            <a:r>
              <a:rPr sz="1150" b="0" i="0">
                <a:solidFill>
                  <a:srgbClr val="555B63"/>
                </a:solidFill>
                <a:latin typeface="Pretendard"/>
                <a:ea typeface="Pretendard"/>
              </a:rPr>
              <a:t>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905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02920" y="434340"/>
            <a:ext cx="155448" cy="155448"/>
          </a:xfrm>
          <a:prstGeom prst="ellipse">
            <a:avLst/>
          </a:prstGeom>
          <a:solidFill>
            <a:srgbClr val="2F6B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434340"/>
            <a:ext cx="155448" cy="1554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</a:pPr>
            <a:r>
              <a:rPr sz="850" b="1" i="0">
                <a:solidFill>
                  <a:srgbClr val="FFFFFF"/>
                </a:solidFill>
                <a:latin typeface="Pretendard"/>
                <a:ea typeface="Pretendard"/>
              </a:rPr>
              <a:t>✓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420624"/>
            <a:ext cx="5029200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150" b="1" i="0">
                <a:solidFill>
                  <a:srgbClr val="7A8088"/>
                </a:solidFill>
                <a:latin typeface="Pretendard"/>
                <a:ea typeface="Pretendard"/>
              </a:rPr>
              <a:t>기술 · 차별점 ② · 해자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76656"/>
            <a:ext cx="889985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</a:pPr>
            <a:r>
              <a:rPr sz="2700" b="1" i="0">
                <a:solidFill>
                  <a:srgbClr val="1D1D1D"/>
                </a:solidFill>
                <a:latin typeface="Pretendard"/>
                <a:ea typeface="Pretendard"/>
              </a:rPr>
              <a:t>데이터가 쌓일수록 강해집니다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298448"/>
            <a:ext cx="871697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2000"/>
              </a:lnSpc>
              <a:spcBef>
                <a:spcPts val="0"/>
              </a:spcBef>
            </a:pPr>
            <a:r>
              <a:rPr sz="1250" b="0" i="0">
                <a:solidFill>
                  <a:srgbClr val="555B63"/>
                </a:solidFill>
                <a:latin typeface="Pretendard"/>
                <a:ea typeface="Pretendard"/>
              </a:rPr>
              <a:t>데이터가 쌓일수록 추천은 정교해지지만, 적격 판정만큼은 언제나 결정론적이고 설명할 수 있게 유지합니다.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02575" y="310896"/>
            <a:ext cx="1737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</a:pPr>
            <a:r>
              <a:rPr sz="1200" b="0" i="0" spc="300">
                <a:solidFill>
                  <a:srgbClr val="C2C5CA"/>
                </a:solidFill>
                <a:latin typeface="Pretendard"/>
                <a:ea typeface="Pretendard"/>
              </a:rPr>
              <a:t>NOTEN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62695" y="6437376"/>
            <a:ext cx="7772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</a:pPr>
            <a:r>
              <a:rPr sz="1000" b="0" i="0">
                <a:solidFill>
                  <a:srgbClr val="9AA0A8"/>
                </a:solidFill>
                <a:latin typeface="Pretendard"/>
                <a:ea typeface="Pretendard"/>
              </a:rPr>
              <a:t>06 / 08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993392"/>
            <a:ext cx="1517904" cy="841248"/>
          </a:xfrm>
          <a:prstGeom prst="roundRect">
            <a:avLst>
              <a:gd name="adj" fmla="val 13043"/>
            </a:avLst>
          </a:prstGeom>
          <a:solidFill>
            <a:srgbClr val="F3F6FD"/>
          </a:solidFill>
          <a:ln w="12700">
            <a:solidFill>
              <a:srgbClr val="CFDE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2648" y="1993392"/>
            <a:ext cx="1298448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</a:pPr>
            <a:r>
              <a:rPr sz="1030" b="1" i="0">
                <a:solidFill>
                  <a:srgbClr val="1D1D1D"/>
                </a:solidFill>
                <a:latin typeface="Pretendard"/>
                <a:ea typeface="Pretendard"/>
              </a:rPr>
              <a:t>운영 (점수·버전 로깅)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20824" y="1993392"/>
            <a:ext cx="327583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</a:pPr>
            <a:r>
              <a:rPr sz="1600" b="1" i="0">
                <a:solidFill>
                  <a:srgbClr val="C7C9CC"/>
                </a:solidFill>
                <a:latin typeface="Pretendard"/>
                <a:ea typeface="Pretendard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348407" y="1993392"/>
            <a:ext cx="1517904" cy="841248"/>
          </a:xfrm>
          <a:prstGeom prst="roundRect">
            <a:avLst>
              <a:gd name="adj" fmla="val 13043"/>
            </a:avLst>
          </a:prstGeom>
          <a:solidFill>
            <a:srgbClr val="F3F6FD"/>
          </a:solidFill>
          <a:ln w="12700">
            <a:solidFill>
              <a:srgbClr val="CFDE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458135" y="1993392"/>
            <a:ext cx="1298448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</a:pPr>
            <a:r>
              <a:rPr sz="1030" b="1" i="0">
                <a:solidFill>
                  <a:srgbClr val="1D1D1D"/>
                </a:solidFill>
                <a:latin typeface="Pretendard"/>
                <a:ea typeface="Pretendard"/>
              </a:rPr>
              <a:t>저신뢰·피드백·outcome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66311" y="1993392"/>
            <a:ext cx="327583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</a:pPr>
            <a:r>
              <a:rPr sz="1600" b="1" i="0">
                <a:solidFill>
                  <a:srgbClr val="C7C9CC"/>
                </a:solidFill>
                <a:latin typeface="Pretendard"/>
                <a:ea typeface="Pretendard"/>
              </a:rP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193895" y="1993392"/>
            <a:ext cx="1517904" cy="841248"/>
          </a:xfrm>
          <a:prstGeom prst="roundRect">
            <a:avLst>
              <a:gd name="adj" fmla="val 13043"/>
            </a:avLst>
          </a:prstGeom>
          <a:solidFill>
            <a:srgbClr val="F3F6FD"/>
          </a:solidFill>
          <a:ln w="12700">
            <a:solidFill>
              <a:srgbClr val="CFDE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03623" y="1993392"/>
            <a:ext cx="1298448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</a:pPr>
            <a:r>
              <a:rPr sz="1030" b="1" i="0">
                <a:solidFill>
                  <a:srgbClr val="1D1D1D"/>
                </a:solidFill>
                <a:latin typeface="Pretendard"/>
                <a:ea typeface="Pretendard"/>
              </a:rPr>
              <a:t>라벨링 → 골든셋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711799" y="1993392"/>
            <a:ext cx="327583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</a:pPr>
            <a:r>
              <a:rPr sz="1600" b="1" i="0">
                <a:solidFill>
                  <a:srgbClr val="C7C9CC"/>
                </a:solidFill>
                <a:latin typeface="Pretendard"/>
                <a:ea typeface="Pretendard"/>
              </a:rP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039383" y="1993392"/>
            <a:ext cx="1517904" cy="841248"/>
          </a:xfrm>
          <a:prstGeom prst="roundRect">
            <a:avLst>
              <a:gd name="adj" fmla="val 13043"/>
            </a:avLst>
          </a:prstGeom>
          <a:solidFill>
            <a:srgbClr val="F3F6FD"/>
          </a:solidFill>
          <a:ln w="12700">
            <a:solidFill>
              <a:srgbClr val="CFDE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149111" y="1993392"/>
            <a:ext cx="1298448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</a:pPr>
            <a:r>
              <a:rPr sz="1030" b="1" i="0">
                <a:solidFill>
                  <a:srgbClr val="1D1D1D"/>
                </a:solidFill>
                <a:latin typeface="Pretendard"/>
                <a:ea typeface="Pretendard"/>
              </a:rPr>
              <a:t>CI 평가 게이트 (회귀 시 차단)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57287" y="1993392"/>
            <a:ext cx="327583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</a:pPr>
            <a:r>
              <a:rPr sz="1600" b="1" i="0">
                <a:solidFill>
                  <a:srgbClr val="C7C9CC"/>
                </a:solidFill>
                <a:latin typeface="Pretendard"/>
                <a:ea typeface="Pretendard"/>
              </a:rPr>
              <a:t>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884871" y="1993392"/>
            <a:ext cx="1517904" cy="841248"/>
          </a:xfrm>
          <a:prstGeom prst="roundRect">
            <a:avLst>
              <a:gd name="adj" fmla="val 13043"/>
            </a:avLst>
          </a:prstGeom>
          <a:solidFill>
            <a:srgbClr val="F3F6FD"/>
          </a:solidFill>
          <a:ln w="12700">
            <a:solidFill>
              <a:srgbClr val="CFDE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994599" y="1993392"/>
            <a:ext cx="1298448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</a:pPr>
            <a:r>
              <a:rPr sz="1030" b="1" i="0">
                <a:solidFill>
                  <a:srgbClr val="1D1D1D"/>
                </a:solidFill>
                <a:latin typeface="Pretendard"/>
                <a:ea typeface="Pretendard"/>
              </a:rPr>
              <a:t>재추출 (원본 R2 · 재크롤 0)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2889504"/>
            <a:ext cx="8899855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</a:pPr>
            <a:r>
              <a:rPr sz="1080" b="1" i="0">
                <a:solidFill>
                  <a:srgbClr val="7A8088"/>
                </a:solidFill>
                <a:latin typeface="Pretendard"/>
                <a:ea typeface="Pretendard"/>
              </a:rPr>
              <a:t>→  다시 운영으로 · 데이터가 한 바퀴 돌 때마다 품질이 올라갑니다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02920" y="3310128"/>
            <a:ext cx="2121408" cy="512064"/>
          </a:xfrm>
          <a:prstGeom prst="roundRect">
            <a:avLst>
              <a:gd name="adj" fmla="val 17857"/>
            </a:avLst>
          </a:prstGeom>
          <a:solidFill>
            <a:srgbClr val="F8F9FA"/>
          </a:solidFill>
          <a:ln w="12700">
            <a:solidFill>
              <a:srgbClr val="E8E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2920" y="3310128"/>
            <a:ext cx="2121408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</a:pPr>
            <a:r>
              <a:rPr sz="1100" b="1" i="0">
                <a:solidFill>
                  <a:srgbClr val="2B2F36"/>
                </a:solidFill>
                <a:latin typeface="Pretendard"/>
                <a:ea typeface="Pretendard"/>
              </a:rPr>
              <a:t>① 추출 정확도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762402" y="3310128"/>
            <a:ext cx="2121408" cy="512064"/>
          </a:xfrm>
          <a:prstGeom prst="roundRect">
            <a:avLst>
              <a:gd name="adj" fmla="val 17857"/>
            </a:avLst>
          </a:prstGeom>
          <a:solidFill>
            <a:srgbClr val="F8F9FA"/>
          </a:solidFill>
          <a:ln w="12700">
            <a:solidFill>
              <a:srgbClr val="E8E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762402" y="3310128"/>
            <a:ext cx="2121408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</a:pPr>
            <a:r>
              <a:rPr sz="1100" b="1" i="0">
                <a:solidFill>
                  <a:srgbClr val="2B2F36"/>
                </a:solidFill>
                <a:latin typeface="Pretendard"/>
                <a:ea typeface="Pretendard"/>
              </a:rPr>
              <a:t>② 매핑 자산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021884" y="3310128"/>
            <a:ext cx="2121408" cy="512064"/>
          </a:xfrm>
          <a:prstGeom prst="roundRect">
            <a:avLst>
              <a:gd name="adj" fmla="val 17857"/>
            </a:avLst>
          </a:prstGeom>
          <a:solidFill>
            <a:srgbClr val="F8F9FA"/>
          </a:solidFill>
          <a:ln w="12700">
            <a:solidFill>
              <a:srgbClr val="E8E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021884" y="3310128"/>
            <a:ext cx="2121408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</a:pPr>
            <a:r>
              <a:rPr sz="1100" b="1" i="0">
                <a:solidFill>
                  <a:srgbClr val="2B2F36"/>
                </a:solidFill>
                <a:latin typeface="Pretendard"/>
                <a:ea typeface="Pretendard"/>
              </a:rPr>
              <a:t>③ 랭킹 가중치 (learn-to-rank)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281367" y="3310128"/>
            <a:ext cx="2121408" cy="512064"/>
          </a:xfrm>
          <a:prstGeom prst="roundRect">
            <a:avLst>
              <a:gd name="adj" fmla="val 17857"/>
            </a:avLst>
          </a:prstGeom>
          <a:solidFill>
            <a:srgbClr val="F8F9FA"/>
          </a:solidFill>
          <a:ln w="12700">
            <a:solidFill>
              <a:srgbClr val="E8E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281367" y="3310128"/>
            <a:ext cx="2121408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</a:pPr>
            <a:r>
              <a:rPr sz="1100" b="1" i="0">
                <a:solidFill>
                  <a:srgbClr val="2B2F36"/>
                </a:solidFill>
                <a:latin typeface="Pretendard"/>
                <a:ea typeface="Pretendard"/>
              </a:rPr>
              <a:t>④ 선정가능성 모델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02920" y="3986784"/>
            <a:ext cx="8899855" cy="786384"/>
          </a:xfrm>
          <a:prstGeom prst="roundRect">
            <a:avLst>
              <a:gd name="adj" fmla="val 16279"/>
            </a:avLst>
          </a:prstGeom>
          <a:solidFill>
            <a:srgbClr val="3A3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13816" y="4133088"/>
            <a:ext cx="825977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400" b="1" i="0">
                <a:solidFill>
                  <a:srgbClr val="FFFFFF"/>
                </a:solidFill>
                <a:latin typeface="Pretendard"/>
                <a:ea typeface="Pretendard"/>
              </a:rPr>
              <a:t>“더 똑똑해지더라도, 당락은 언제나 설명할 수 있습니다.”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13816" y="4443984"/>
            <a:ext cx="825977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150" b="0" i="0">
                <a:solidFill>
                  <a:srgbClr val="DCE3EF"/>
                </a:solidFill>
                <a:latin typeface="Pretendard"/>
                <a:ea typeface="Pretendard"/>
              </a:rPr>
              <a:t>신청→선정 이력과 기업 성장 궤적이 </a:t>
            </a:r>
            <a:r>
              <a:rPr sz="1150" b="1" i="0">
                <a:solidFill>
                  <a:srgbClr val="6E9BF0"/>
                </a:solidFill>
                <a:latin typeface="Pretendard"/>
                <a:ea typeface="Pretendard"/>
              </a:rPr>
              <a:t>경쟁자가 복제하기 어려운 데이터 해자</a:t>
            </a:r>
            <a:r>
              <a:rPr sz="1150" b="0" i="0">
                <a:solidFill>
                  <a:srgbClr val="DCE3EF"/>
                </a:solidFill>
                <a:latin typeface="Pretendard"/>
                <a:ea typeface="Pretendard"/>
              </a:rPr>
              <a:t>로 쌓여 갑니다.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905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02920" y="434340"/>
            <a:ext cx="155448" cy="155448"/>
          </a:xfrm>
          <a:prstGeom prst="ellipse">
            <a:avLst/>
          </a:prstGeom>
          <a:solidFill>
            <a:srgbClr val="2F6B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434340"/>
            <a:ext cx="155448" cy="1554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</a:pPr>
            <a:r>
              <a:rPr sz="850" b="1" i="0">
                <a:solidFill>
                  <a:srgbClr val="FFFFFF"/>
                </a:solidFill>
                <a:latin typeface="Pretendard"/>
                <a:ea typeface="Pretendard"/>
              </a:rPr>
              <a:t>✓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420624"/>
            <a:ext cx="5029200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150" b="1" i="0">
                <a:solidFill>
                  <a:srgbClr val="7A8088"/>
                </a:solidFill>
                <a:latin typeface="Pretendard"/>
                <a:ea typeface="Pretendard"/>
              </a:rPr>
              <a:t>기술 · 비전 · NEXT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76656"/>
            <a:ext cx="889985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</a:pPr>
            <a:r>
              <a:rPr sz="2400" b="1" i="0">
                <a:solidFill>
                  <a:srgbClr val="1D1D1D"/>
                </a:solidFill>
                <a:latin typeface="Pretendard"/>
                <a:ea typeface="Pretendard"/>
              </a:rPr>
              <a:t>로드맵 — 정확도 플라이휠에서 성장 데이터 자산으로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298448"/>
            <a:ext cx="871697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2000"/>
              </a:lnSpc>
              <a:spcBef>
                <a:spcPts val="0"/>
              </a:spcBef>
            </a:pPr>
            <a:r>
              <a:rPr sz="1250" b="0" i="0">
                <a:solidFill>
                  <a:srgbClr val="555B63"/>
                </a:solidFill>
                <a:latin typeface="Pretendard"/>
                <a:ea typeface="Pretendard"/>
              </a:rPr>
              <a:t>데이터가 쌓일수록 추천은 정교해지고, 축적되는 기업 성장 데이터가 (주)노튼의 장기 AI 자산이 됩니다.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02575" y="310896"/>
            <a:ext cx="1737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</a:pPr>
            <a:r>
              <a:rPr sz="1200" b="0" i="0" spc="300">
                <a:solidFill>
                  <a:srgbClr val="C2C5CA"/>
                </a:solidFill>
                <a:latin typeface="Pretendard"/>
                <a:ea typeface="Pretendard"/>
              </a:rPr>
              <a:t>NOTEN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62695" y="6437376"/>
            <a:ext cx="7772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</a:pPr>
            <a:r>
              <a:rPr sz="1000" b="0" i="0">
                <a:solidFill>
                  <a:srgbClr val="9AA0A8"/>
                </a:solidFill>
                <a:latin typeface="Pretendard"/>
                <a:ea typeface="Pretendard"/>
              </a:rPr>
              <a:t>07 / 08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2011680"/>
            <a:ext cx="2834640" cy="2788920"/>
          </a:xfrm>
          <a:prstGeom prst="roundRect">
            <a:avLst>
              <a:gd name="adj" fmla="val 4590"/>
            </a:avLst>
          </a:prstGeom>
          <a:solidFill>
            <a:srgbClr val="FFFFFF"/>
          </a:solidFill>
          <a:ln w="12700">
            <a:solidFill>
              <a:srgbClr val="E8EAED"/>
            </a:solidFill>
          </a:ln>
          <a:effectLst/>
          <a:effectLst>
            <a:outerShdw blurRad="70000" dist="30000" dir="5400000" rotWithShape="0">
              <a:srgbClr val="1A1A1A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58952" y="2249424"/>
            <a:ext cx="868680" cy="329184"/>
          </a:xfrm>
          <a:prstGeom prst="roundRect">
            <a:avLst>
              <a:gd name="adj" fmla="val 50000"/>
            </a:avLst>
          </a:prstGeom>
          <a:solidFill>
            <a:srgbClr val="F1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58952" y="2249424"/>
            <a:ext cx="8686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</a:pPr>
            <a:r>
              <a:rPr sz="1050" b="1" i="0">
                <a:solidFill>
                  <a:srgbClr val="555B63"/>
                </a:solidFill>
                <a:latin typeface="Pretendard"/>
                <a:ea typeface="Pretendard"/>
              </a:rPr>
              <a:t>단기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8952" y="2688336"/>
            <a:ext cx="2322576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</a:pPr>
            <a:r>
              <a:rPr sz="1400" b="1" i="0">
                <a:solidFill>
                  <a:srgbClr val="1D1D1D"/>
                </a:solidFill>
                <a:latin typeface="Pretendard"/>
                <a:ea typeface="Pretendard"/>
              </a:rPr>
              <a:t>정확도 플라이휠 가동</a:t>
            </a:r>
          </a:p>
        </p:txBody>
      </p:sp>
      <p:sp>
        <p:nvSpPr>
          <p:cNvPr id="14" name="Oval 13"/>
          <p:cNvSpPr/>
          <p:nvPr/>
        </p:nvSpPr>
        <p:spPr>
          <a:xfrm>
            <a:off x="777240" y="3474720"/>
            <a:ext cx="100584" cy="100584"/>
          </a:xfrm>
          <a:prstGeom prst="ellipse">
            <a:avLst/>
          </a:prstGeom>
          <a:solidFill>
            <a:srgbClr val="C7C9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78408" y="3410712"/>
            <a:ext cx="2084832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</a:pPr>
            <a:r>
              <a:rPr sz="1080" b="0" i="0">
                <a:solidFill>
                  <a:srgbClr val="555B63"/>
                </a:solidFill>
                <a:latin typeface="Pretendard"/>
                <a:ea typeface="Pretendard"/>
              </a:rPr>
              <a:t>골든셋 P/R 측정 → 프롬프트·매핑 자산 튜닝</a:t>
            </a:r>
          </a:p>
        </p:txBody>
      </p:sp>
      <p:sp>
        <p:nvSpPr>
          <p:cNvPr id="16" name="Oval 15"/>
          <p:cNvSpPr/>
          <p:nvPr/>
        </p:nvSpPr>
        <p:spPr>
          <a:xfrm>
            <a:off x="777240" y="3986784"/>
            <a:ext cx="100584" cy="100584"/>
          </a:xfrm>
          <a:prstGeom prst="ellipse">
            <a:avLst/>
          </a:prstGeom>
          <a:solidFill>
            <a:srgbClr val="2F6B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78408" y="3922776"/>
            <a:ext cx="2084832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</a:pPr>
            <a:r>
              <a:rPr sz="1080" b="1" i="0">
                <a:solidFill>
                  <a:srgbClr val="225BCE"/>
                </a:solidFill>
                <a:latin typeface="Pretendard"/>
                <a:ea typeface="Pretendard"/>
              </a:rPr>
              <a:t>HITL 자동화 비율 상승 (사람 개입 ↓)</a:t>
            </a:r>
          </a:p>
        </p:txBody>
      </p:sp>
      <p:sp>
        <p:nvSpPr>
          <p:cNvPr id="18" name="Oval 17"/>
          <p:cNvSpPr/>
          <p:nvPr/>
        </p:nvSpPr>
        <p:spPr>
          <a:xfrm>
            <a:off x="777240" y="4498848"/>
            <a:ext cx="100584" cy="100584"/>
          </a:xfrm>
          <a:prstGeom prst="ellipse">
            <a:avLst/>
          </a:prstGeom>
          <a:solidFill>
            <a:srgbClr val="C7C9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78408" y="4434840"/>
            <a:ext cx="2084832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</a:pPr>
            <a:r>
              <a:rPr sz="1080" b="0" i="0">
                <a:solidFill>
                  <a:srgbClr val="555B63"/>
                </a:solidFill>
                <a:latin typeface="Pretendard"/>
                <a:ea typeface="Pretendard"/>
              </a:rPr>
              <a:t>기업마당 추출 본격화 · 채널 확장 1,500+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502152" y="2011680"/>
            <a:ext cx="2834640" cy="2788920"/>
          </a:xfrm>
          <a:prstGeom prst="roundRect">
            <a:avLst>
              <a:gd name="adj" fmla="val 4590"/>
            </a:avLst>
          </a:prstGeom>
          <a:solidFill>
            <a:srgbClr val="FFFFFF"/>
          </a:solidFill>
          <a:ln w="12700">
            <a:solidFill>
              <a:srgbClr val="E8EAED"/>
            </a:solidFill>
          </a:ln>
          <a:effectLst/>
          <a:effectLst>
            <a:outerShdw blurRad="70000" dist="30000" dir="5400000" rotWithShape="0">
              <a:srgbClr val="1A1A1A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3758184" y="2249424"/>
            <a:ext cx="868680" cy="329184"/>
          </a:xfrm>
          <a:prstGeom prst="roundRect">
            <a:avLst>
              <a:gd name="adj" fmla="val 50000"/>
            </a:avLst>
          </a:prstGeom>
          <a:solidFill>
            <a:srgbClr val="F1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758184" y="2249424"/>
            <a:ext cx="8686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</a:pPr>
            <a:r>
              <a:rPr sz="1050" b="1" i="0">
                <a:solidFill>
                  <a:srgbClr val="555B63"/>
                </a:solidFill>
                <a:latin typeface="Pretendard"/>
                <a:ea typeface="Pretendard"/>
              </a:rPr>
              <a:t>중기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758184" y="2688336"/>
            <a:ext cx="2322576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</a:pPr>
            <a:r>
              <a:rPr sz="1400" b="1" i="0">
                <a:solidFill>
                  <a:srgbClr val="1D1D1D"/>
                </a:solidFill>
                <a:latin typeface="Pretendard"/>
                <a:ea typeface="Pretendard"/>
              </a:rPr>
              <a:t>학습으로 정교해지는 랭킹</a:t>
            </a:r>
          </a:p>
        </p:txBody>
      </p:sp>
      <p:sp>
        <p:nvSpPr>
          <p:cNvPr id="24" name="Oval 23"/>
          <p:cNvSpPr/>
          <p:nvPr/>
        </p:nvSpPr>
        <p:spPr>
          <a:xfrm>
            <a:off x="3776472" y="3474720"/>
            <a:ext cx="100584" cy="100584"/>
          </a:xfrm>
          <a:prstGeom prst="ellipse">
            <a:avLst/>
          </a:prstGeom>
          <a:solidFill>
            <a:srgbClr val="2F6B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977639" y="3410712"/>
            <a:ext cx="2084832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</a:pPr>
            <a:r>
              <a:rPr sz="1080" b="1" i="0">
                <a:solidFill>
                  <a:srgbClr val="225BCE"/>
                </a:solidFill>
                <a:latin typeface="Pretendard"/>
                <a:ea typeface="Pretendard"/>
              </a:rPr>
              <a:t>learn-to-rank — 피드백·outcome 가중치 튜닝</a:t>
            </a:r>
          </a:p>
        </p:txBody>
      </p:sp>
      <p:sp>
        <p:nvSpPr>
          <p:cNvPr id="26" name="Oval 25"/>
          <p:cNvSpPr/>
          <p:nvPr/>
        </p:nvSpPr>
        <p:spPr>
          <a:xfrm>
            <a:off x="3776472" y="3986784"/>
            <a:ext cx="100584" cy="100584"/>
          </a:xfrm>
          <a:prstGeom prst="ellipse">
            <a:avLst/>
          </a:prstGeom>
          <a:solidFill>
            <a:srgbClr val="C7C9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977639" y="3922776"/>
            <a:ext cx="2084832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</a:pPr>
            <a:r>
              <a:rPr sz="1080" b="0" i="0">
                <a:solidFill>
                  <a:srgbClr val="555B63"/>
                </a:solidFill>
                <a:latin typeface="Pretendard"/>
                <a:ea typeface="Pretendard"/>
              </a:rPr>
              <a:t>선정가능성 모델 (outcome 누적 후)</a:t>
            </a:r>
          </a:p>
        </p:txBody>
      </p:sp>
      <p:sp>
        <p:nvSpPr>
          <p:cNvPr id="28" name="Oval 27"/>
          <p:cNvSpPr/>
          <p:nvPr/>
        </p:nvSpPr>
        <p:spPr>
          <a:xfrm>
            <a:off x="3776472" y="4498848"/>
            <a:ext cx="100584" cy="100584"/>
          </a:xfrm>
          <a:prstGeom prst="ellipse">
            <a:avLst/>
          </a:prstGeom>
          <a:solidFill>
            <a:srgbClr val="C7C9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977639" y="4434840"/>
            <a:ext cx="2084832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</a:pPr>
            <a:r>
              <a:rPr sz="1080" b="0" i="0">
                <a:solidFill>
                  <a:srgbClr val="555B63"/>
                </a:solidFill>
                <a:latin typeface="Pretendard"/>
                <a:ea typeface="Pretendard"/>
              </a:rPr>
              <a:t>CODEF 연동 · 정책자금·민간투자 트랙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501384" y="2011680"/>
            <a:ext cx="2834640" cy="2788920"/>
          </a:xfrm>
          <a:prstGeom prst="roundRect">
            <a:avLst>
              <a:gd name="adj" fmla="val 4590"/>
            </a:avLst>
          </a:prstGeom>
          <a:solidFill>
            <a:srgbClr val="F3F6FD"/>
          </a:solidFill>
          <a:ln w="12700">
            <a:solidFill>
              <a:srgbClr val="CFDE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6757416" y="2249424"/>
            <a:ext cx="868680" cy="329184"/>
          </a:xfrm>
          <a:prstGeom prst="roundRect">
            <a:avLst>
              <a:gd name="adj" fmla="val 50000"/>
            </a:avLst>
          </a:prstGeom>
          <a:solidFill>
            <a:srgbClr val="2F6B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757416" y="2249424"/>
            <a:ext cx="8686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</a:pPr>
            <a:r>
              <a:rPr sz="1050" b="1" i="0">
                <a:solidFill>
                  <a:srgbClr val="FFFFFF"/>
                </a:solidFill>
                <a:latin typeface="Pretendard"/>
                <a:ea typeface="Pretendard"/>
              </a:rPr>
              <a:t>장기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757416" y="2688336"/>
            <a:ext cx="2322576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</a:pPr>
            <a:r>
              <a:rPr sz="1400" b="1" i="0">
                <a:solidFill>
                  <a:srgbClr val="1D1D1D"/>
                </a:solidFill>
                <a:latin typeface="Pretendard"/>
                <a:ea typeface="Pretendard"/>
              </a:rPr>
              <a:t>기업 성장 데이터 = AI 자산</a:t>
            </a:r>
          </a:p>
        </p:txBody>
      </p:sp>
      <p:sp>
        <p:nvSpPr>
          <p:cNvPr id="34" name="Oval 33"/>
          <p:cNvSpPr/>
          <p:nvPr/>
        </p:nvSpPr>
        <p:spPr>
          <a:xfrm>
            <a:off x="6775704" y="3474720"/>
            <a:ext cx="100584" cy="100584"/>
          </a:xfrm>
          <a:prstGeom prst="ellipse">
            <a:avLst/>
          </a:prstGeom>
          <a:solidFill>
            <a:srgbClr val="C7C9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976872" y="3410712"/>
            <a:ext cx="2084832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</a:pPr>
            <a:r>
              <a:rPr sz="1080" b="0" i="0">
                <a:solidFill>
                  <a:srgbClr val="555B63"/>
                </a:solidFill>
                <a:latin typeface="Pretendard"/>
                <a:ea typeface="Pretendard"/>
              </a:rPr>
              <a:t>성장 RPG — 퀘스트·레벨·투자단계가 실데이터에 1:1</a:t>
            </a:r>
          </a:p>
        </p:txBody>
      </p:sp>
      <p:sp>
        <p:nvSpPr>
          <p:cNvPr id="36" name="Oval 35"/>
          <p:cNvSpPr/>
          <p:nvPr/>
        </p:nvSpPr>
        <p:spPr>
          <a:xfrm>
            <a:off x="6775704" y="3986784"/>
            <a:ext cx="100584" cy="100584"/>
          </a:xfrm>
          <a:prstGeom prst="ellipse">
            <a:avLst/>
          </a:prstGeom>
          <a:solidFill>
            <a:srgbClr val="C7C9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976872" y="3922776"/>
            <a:ext cx="2084832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</a:pPr>
            <a:r>
              <a:rPr sz="1080" b="0" i="0">
                <a:solidFill>
                  <a:srgbClr val="555B63"/>
                </a:solidFill>
                <a:latin typeface="Pretendard"/>
                <a:ea typeface="Pretendard"/>
              </a:rPr>
              <a:t>수혜이력 타임라인 + 사업계획서 초안 어시스턴트</a:t>
            </a:r>
          </a:p>
        </p:txBody>
      </p:sp>
      <p:sp>
        <p:nvSpPr>
          <p:cNvPr id="38" name="Oval 37"/>
          <p:cNvSpPr/>
          <p:nvPr/>
        </p:nvSpPr>
        <p:spPr>
          <a:xfrm>
            <a:off x="6775704" y="4498848"/>
            <a:ext cx="100584" cy="100584"/>
          </a:xfrm>
          <a:prstGeom prst="ellipse">
            <a:avLst/>
          </a:prstGeom>
          <a:solidFill>
            <a:srgbClr val="2F6B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976872" y="4434840"/>
            <a:ext cx="2084832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</a:pPr>
            <a:r>
              <a:rPr sz="1080" b="1" i="0">
                <a:solidFill>
                  <a:srgbClr val="225BCE"/>
                </a:solidFill>
                <a:latin typeface="Pretendard"/>
                <a:ea typeface="Pretendard"/>
              </a:rPr>
              <a:t>대리 제출 ✗ — 자동완성·초안 도움으로 정직 한정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02920" y="4946904"/>
            <a:ext cx="8899855" cy="493776"/>
          </a:xfrm>
          <a:prstGeom prst="roundRect">
            <a:avLst>
              <a:gd name="adj" fmla="val 22222"/>
            </a:avLst>
          </a:prstGeom>
          <a:solidFill>
            <a:srgbClr val="3A3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77240" y="4946904"/>
            <a:ext cx="8351215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250" b="1" i="0">
                <a:solidFill>
                  <a:srgbClr val="6E9BF0"/>
                </a:solidFill>
                <a:latin typeface="Pretendard"/>
                <a:ea typeface="Pretendard"/>
              </a:rPr>
              <a:t>데이터 해자.  </a:t>
            </a:r>
            <a:r>
              <a:rPr sz="1250" b="0" i="0">
                <a:solidFill>
                  <a:srgbClr val="DCE3EF"/>
                </a:solidFill>
                <a:latin typeface="Pretendard"/>
                <a:ea typeface="Pretendard"/>
              </a:rPr>
              <a:t>플라이휠의 outcome이 곧 해자 — 축적되는 기업 성장 데이터가 (주)노튼의 장기 AI 자산이 됩니다.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905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038447" y="1385316"/>
            <a:ext cx="155448" cy="155448"/>
          </a:xfrm>
          <a:prstGeom prst="ellipse">
            <a:avLst/>
          </a:prstGeom>
          <a:solidFill>
            <a:srgbClr val="2F6B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038447" y="1385316"/>
            <a:ext cx="155448" cy="1554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</a:pPr>
            <a:r>
              <a:rPr sz="850" b="1" i="0">
                <a:solidFill>
                  <a:srgbClr val="FFFFFF"/>
                </a:solidFill>
                <a:latin typeface="Pretendard"/>
                <a:ea typeface="Pretendard"/>
              </a:rPr>
              <a:t>✓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85335" y="1371600"/>
            <a:ext cx="5029200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150" b="1" i="0">
                <a:solidFill>
                  <a:srgbClr val="7A8088"/>
                </a:solidFill>
                <a:latin typeface="Pretendard"/>
                <a:ea typeface="Pretendard"/>
              </a:rPr>
              <a:t>요약 · THE MOAT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1783080"/>
            <a:ext cx="99056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</a:pPr>
            <a:r>
              <a:rPr sz="3400" b="1" i="0">
                <a:solidFill>
                  <a:srgbClr val="1D1D1D"/>
                </a:solidFill>
                <a:latin typeface="Pretendard"/>
                <a:ea typeface="Pretendard"/>
              </a:rPr>
              <a:t>AI는 읽고, 규칙이 판정합니다.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2971800"/>
            <a:ext cx="2834640" cy="18288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8EAED"/>
            </a:solidFill>
          </a:ln>
          <a:effectLst/>
          <a:effectLst>
            <a:outerShdw blurRad="70000" dist="30000" dir="5400000" rotWithShape="0">
              <a:srgbClr val="1A1A1A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691640" y="324612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2F6B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691640" y="3246120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</a:pPr>
            <a:r>
              <a:rPr sz="1600" b="1" i="0">
                <a:solidFill>
                  <a:srgbClr val="FFFFFF"/>
                </a:solidFill>
                <a:latin typeface="Pretendard"/>
                <a:ea typeface="Pretendard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867912"/>
            <a:ext cx="2377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</a:pPr>
            <a:r>
              <a:rPr sz="1400" b="1" i="0">
                <a:solidFill>
                  <a:srgbClr val="1D1D1D"/>
                </a:solidFill>
                <a:latin typeface="Pretendard"/>
                <a:ea typeface="Pretendard"/>
              </a:rPr>
              <a:t>표준 계약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" y="4215384"/>
            <a:ext cx="2322576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4000"/>
              </a:lnSpc>
              <a:spcBef>
                <a:spcPts val="0"/>
              </a:spcBef>
            </a:pPr>
            <a:r>
              <a:rPr sz="1050" b="0" i="0">
                <a:solidFill>
                  <a:srgbClr val="7A8088"/>
                </a:solidFill>
                <a:latin typeface="Pretendard"/>
                <a:ea typeface="Pretendard"/>
              </a:rPr>
              <a:t>흩어진 공고를 14축의 공통어로 환원 — 회사와 같은 좌표계에서 비교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502152" y="2971800"/>
            <a:ext cx="2834640" cy="18288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8EAED"/>
            </a:solidFill>
          </a:ln>
          <a:effectLst/>
          <a:effectLst>
            <a:outerShdw blurRad="70000" dist="30000" dir="5400000" rotWithShape="0">
              <a:srgbClr val="1A1A1A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690872" y="324612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2F6B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90872" y="3246120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</a:pPr>
            <a:r>
              <a:rPr sz="1600" b="1" i="0">
                <a:solidFill>
                  <a:srgbClr val="FFFFFF"/>
                </a:solidFill>
                <a:latin typeface="Pretendard"/>
                <a:ea typeface="Pretendard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30752" y="3867912"/>
            <a:ext cx="2377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</a:pPr>
            <a:r>
              <a:rPr sz="1400" b="1" i="0">
                <a:solidFill>
                  <a:srgbClr val="1D1D1D"/>
                </a:solidFill>
                <a:latin typeface="Pretendard"/>
                <a:ea typeface="Pretendard"/>
              </a:rPr>
              <a:t>설명 가능한 판정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58184" y="4215384"/>
            <a:ext cx="2322576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4000"/>
              </a:lnSpc>
              <a:spcBef>
                <a:spcPts val="0"/>
              </a:spcBef>
            </a:pPr>
            <a:r>
              <a:rPr sz="1050" b="0" i="0">
                <a:solidFill>
                  <a:srgbClr val="7A8088"/>
                </a:solidFill>
                <a:latin typeface="Pretendard"/>
                <a:ea typeface="Pretendard"/>
              </a:rPr>
              <a:t>블랙박스가 아닌 결정론 규칙 — 재현·감사 가능, 거짓 확신 금지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01384" y="2971800"/>
            <a:ext cx="2834640" cy="18288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8EAED"/>
            </a:solidFill>
          </a:ln>
          <a:effectLst/>
          <a:effectLst>
            <a:outerShdw blurRad="70000" dist="30000" dir="5400000" rotWithShape="0">
              <a:srgbClr val="1A1A1A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7690104" y="324612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2F6B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90104" y="3246120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</a:pPr>
            <a:r>
              <a:rPr sz="1600" b="1" i="0">
                <a:solidFill>
                  <a:srgbClr val="FFFFFF"/>
                </a:solidFill>
                <a:latin typeface="Pretendard"/>
                <a:ea typeface="Pretendard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29984" y="3867912"/>
            <a:ext cx="2377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</a:pPr>
            <a:r>
              <a:rPr sz="1400" b="1" i="0">
                <a:solidFill>
                  <a:srgbClr val="1D1D1D"/>
                </a:solidFill>
                <a:latin typeface="Pretendard"/>
                <a:ea typeface="Pretendard"/>
              </a:rPr>
              <a:t>깊어지는 해자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57416" y="4215384"/>
            <a:ext cx="2322576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4000"/>
              </a:lnSpc>
              <a:spcBef>
                <a:spcPts val="0"/>
              </a:spcBef>
            </a:pPr>
            <a:r>
              <a:rPr sz="1050" b="0" i="0">
                <a:solidFill>
                  <a:srgbClr val="7A8088"/>
                </a:solidFill>
                <a:latin typeface="Pretendard"/>
                <a:ea typeface="Pretendard"/>
              </a:rPr>
              <a:t>데이터가 쌓일수록 정교해지는 플라이휠 — 성장 데이터 = 장기 AI 자산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0" y="6355080"/>
            <a:ext cx="990569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</a:pPr>
            <a:r>
              <a:rPr sz="1300" b="0" i="0" spc="300">
                <a:solidFill>
                  <a:srgbClr val="9A9A9A"/>
                </a:solidFill>
                <a:latin typeface="Pretendard"/>
                <a:ea typeface="Pretendard"/>
              </a:rPr>
              <a:t>NOTEN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