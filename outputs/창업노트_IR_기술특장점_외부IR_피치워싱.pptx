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3cb9bced44487" /><Relationship Type="http://schemas.openxmlformats.org/officeDocument/2006/relationships/extended-properties" Target="/docProps/app.xml" Id="R508bd9d14bb546ec" /><Relationship Type="http://schemas.openxmlformats.org/officeDocument/2006/relationships/officeDocument" Target="/ppt/presentation.xml" Id="R37e7fa3acf08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48805f80842c2"/>
  </p:sldMasterIdLst>
  <p:notesMasterIdLst>
    <p:notesMasterId xmlns:r="http://schemas.openxmlformats.org/officeDocument/2006/relationships" r:id="Rad16ff7c0d254959"/>
  </p:notesMasterIdLst>
  <p:sldIdLst>
    <p:sldId xmlns:r="http://schemas.openxmlformats.org/officeDocument/2006/relationships" id="256" r:id="R7aa49595bfa04fda"/>
    <p:sldId xmlns:r="http://schemas.openxmlformats.org/officeDocument/2006/relationships" id="257" r:id="Reea1e519fc5840ae"/>
    <p:sldId xmlns:r="http://schemas.openxmlformats.org/officeDocument/2006/relationships" id="258" r:id="R56399977caf3470e"/>
    <p:sldId xmlns:r="http://schemas.openxmlformats.org/officeDocument/2006/relationships" id="259" r:id="Rb1a3b0a5f635405a"/>
    <p:sldId xmlns:r="http://schemas.openxmlformats.org/officeDocument/2006/relationships" id="260" r:id="R4b24e3da08e543d4"/>
    <p:sldId xmlns:r="http://schemas.openxmlformats.org/officeDocument/2006/relationships" id="261" r:id="Rda0e5f49b78c47c5"/>
    <p:sldId xmlns:r="http://schemas.openxmlformats.org/officeDocument/2006/relationships" id="262" r:id="Re840dae5e755479b"/>
    <p:sldId xmlns:r="http://schemas.openxmlformats.org/officeDocument/2006/relationships" id="263" r:id="R08b706ae49904bee"/>
    <p:sldId xmlns:r="http://schemas.openxmlformats.org/officeDocument/2006/relationships" id="264" r:id="R104366c6a5a44252"/>
    <p:sldId xmlns:r="http://schemas.openxmlformats.org/officeDocument/2006/relationships" id="265" r:id="R44d8ca1849754b1b"/>
    <p:sldId xmlns:r="http://schemas.openxmlformats.org/officeDocument/2006/relationships" id="266" r:id="R799a1e0de77344f9"/>
    <p:sldId xmlns:r="http://schemas.openxmlformats.org/officeDocument/2006/relationships" id="267" r:id="Rc45c8b54a6eb43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f80a985454998" /><Relationship Type="http://schemas.openxmlformats.org/officeDocument/2006/relationships/slideMaster" Target="/ppt/slideMasters/slideMaster1.xml" Id="R07748805f80842c2" /><Relationship Type="http://schemas.openxmlformats.org/officeDocument/2006/relationships/notesMaster" Target="/ppt/notesMasters/notesMaster1.xml" Id="Rad16ff7c0d254959" /><Relationship Type="http://schemas.openxmlformats.org/officeDocument/2006/relationships/presProps" Target="/ppt/presProps.xml" Id="R869457fb108245b8" /><Relationship Type="http://schemas.openxmlformats.org/officeDocument/2006/relationships/tableStyles" Target="/ppt/tableStyles.xml" Id="R633b232a2f0c46ec" /><Relationship Type="http://schemas.openxmlformats.org/officeDocument/2006/relationships/slide" Target="/ppt/slides/slide1.xml" Id="R7aa49595bfa04fda" /><Relationship Type="http://schemas.openxmlformats.org/officeDocument/2006/relationships/slide" Target="/ppt/slides/slide2.xml" Id="Reea1e519fc5840ae" /><Relationship Type="http://schemas.openxmlformats.org/officeDocument/2006/relationships/slide" Target="/ppt/slides/slide3.xml" Id="R56399977caf3470e" /><Relationship Type="http://schemas.openxmlformats.org/officeDocument/2006/relationships/slide" Target="/ppt/slides/slide4.xml" Id="Rb1a3b0a5f635405a" /><Relationship Type="http://schemas.openxmlformats.org/officeDocument/2006/relationships/slide" Target="/ppt/slides/slide5.xml" Id="R4b24e3da08e543d4" /><Relationship Type="http://schemas.openxmlformats.org/officeDocument/2006/relationships/slide" Target="/ppt/slides/slide6.xml" Id="Rda0e5f49b78c47c5" /><Relationship Type="http://schemas.openxmlformats.org/officeDocument/2006/relationships/slide" Target="/ppt/slides/slide7.xml" Id="Re840dae5e755479b" /><Relationship Type="http://schemas.openxmlformats.org/officeDocument/2006/relationships/slide" Target="/ppt/slides/slide8.xml" Id="R08b706ae49904bee" /><Relationship Type="http://schemas.openxmlformats.org/officeDocument/2006/relationships/slide" Target="/ppt/slides/slide9.xml" Id="R104366c6a5a44252" /><Relationship Type="http://schemas.openxmlformats.org/officeDocument/2006/relationships/slide" Target="/ppt/slides/slide10.xml" Id="R44d8ca1849754b1b" /><Relationship Type="http://schemas.openxmlformats.org/officeDocument/2006/relationships/slide" Target="/ppt/slides/slide11.xml" Id="R799a1e0de77344f9" /><Relationship Type="http://schemas.openxmlformats.org/officeDocument/2006/relationships/slide" Target="/ppt/slides/slide12.xml" Id="Rc45c8b54a6eb43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27843a5d7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24672a53a4265" /><Relationship Type="http://schemas.openxmlformats.org/officeDocument/2006/relationships/notesMaster" Target="/ppt/notesMasters/notesMaster1.xml" Id="R1c313850c2de44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0367b88cb417b" /><Relationship Type="http://schemas.openxmlformats.org/officeDocument/2006/relationships/notesMaster" Target="/ppt/notesMasters/notesMaster1.xml" Id="R366e4d76448e48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40991502e4d57" /><Relationship Type="http://schemas.openxmlformats.org/officeDocument/2006/relationships/notesMaster" Target="/ppt/notesMasters/notesMaster1.xml" Id="R625ea4b862a14e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24988bc814acb" /><Relationship Type="http://schemas.openxmlformats.org/officeDocument/2006/relationships/notesMaster" Target="/ppt/notesMasters/notesMaster1.xml" Id="R360006d94c8546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223eb1fd9d437d" /><Relationship Type="http://schemas.openxmlformats.org/officeDocument/2006/relationships/notesMaster" Target="/ppt/notesMasters/notesMaster1.xml" Id="Rdaaf13c526a9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69e431b474c3a" /><Relationship Type="http://schemas.openxmlformats.org/officeDocument/2006/relationships/notesMaster" Target="/ppt/notesMasters/notesMaster1.xml" Id="Re0706cffec6746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622dd327764b7c" /><Relationship Type="http://schemas.openxmlformats.org/officeDocument/2006/relationships/notesMaster" Target="/ppt/notesMasters/notesMaster1.xml" Id="Re92e41281e8145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18540529294ca2" /><Relationship Type="http://schemas.openxmlformats.org/officeDocument/2006/relationships/notesMaster" Target="/ppt/notesMasters/notesMaster1.xml" Id="Rdb7b5111ac7540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f3a95990744cd1" /><Relationship Type="http://schemas.openxmlformats.org/officeDocument/2006/relationships/notesMaster" Target="/ppt/notesMasters/notesMaster1.xml" Id="Ra7da7aff60c141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be854c0dfe42b4" /><Relationship Type="http://schemas.openxmlformats.org/officeDocument/2006/relationships/notesMaster" Target="/ppt/notesMasters/notesMaster1.xml" Id="R84ef3f81e6564a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b8ae02da684d0e" /><Relationship Type="http://schemas.openxmlformats.org/officeDocument/2006/relationships/notesMaster" Target="/ppt/notesMasters/notesMaster1.xml" Id="R8078a415a16f46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508dc038a64730" /><Relationship Type="http://schemas.openxmlformats.org/officeDocument/2006/relationships/notesMaster" Target="/ppt/notesMasters/notesMaster1.xml" Id="R379567bf0a7a47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94fc6900b41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90707f343846a3" /><Relationship Type="http://schemas.openxmlformats.org/officeDocument/2006/relationships/slideLayout" Target="/ppt/slideLayouts/slideLayout1.xml" Id="Recdc9c061fdc44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c9c061fdc44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f2f9f09bc4e12" /><Relationship Type="http://schemas.openxmlformats.org/officeDocument/2006/relationships/notesSlide" Target="/ppt/notesSlides/notesSlide1.xml" Id="Rc1308f23579943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cb8ab23384072" /><Relationship Type="http://schemas.openxmlformats.org/officeDocument/2006/relationships/notesSlide" Target="/ppt/notesSlides/notesSlide2.xml" Id="Rb5c27b19e5424c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ad82661b048fd" /><Relationship Type="http://schemas.openxmlformats.org/officeDocument/2006/relationships/notesSlide" Target="/ppt/notesSlides/notesSlide3.xml" Id="R509d449516104f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735855bf74756" /><Relationship Type="http://schemas.openxmlformats.org/officeDocument/2006/relationships/notesSlide" Target="/ppt/notesSlides/notesSlide4.xml" Id="R6c9cb12b58484d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cbd3b5ad4c05" /><Relationship Type="http://schemas.openxmlformats.org/officeDocument/2006/relationships/chart" Target="/ppt/slides/charts/chart1.xml" Id="R9d8d866130d14535" /><Relationship Type="http://schemas.openxmlformats.org/officeDocument/2006/relationships/notesSlide" Target="/ppt/notesSlides/notesSlide5.xml" Id="R26e5c0635372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38db93ae44609" /><Relationship Type="http://schemas.openxmlformats.org/officeDocument/2006/relationships/notesSlide" Target="/ppt/notesSlides/notesSlide6.xml" Id="R2b8cc57b7d214b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60fe1578748be" /><Relationship Type="http://schemas.openxmlformats.org/officeDocument/2006/relationships/notesSlide" Target="/ppt/notesSlides/notesSlide7.xml" Id="R39c39dba3b964d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99b1184664b83" /><Relationship Type="http://schemas.openxmlformats.org/officeDocument/2006/relationships/notesSlide" Target="/ppt/notesSlides/notesSlide8.xml" Id="R7050180906e74f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c208a90704ef2" /><Relationship Type="http://schemas.openxmlformats.org/officeDocument/2006/relationships/notesSlide" Target="/ppt/notesSlides/notesSlide9.xml" Id="R6f5ea51243554f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eacc9a24a493a" /><Relationship Type="http://schemas.openxmlformats.org/officeDocument/2006/relationships/notesSlide" Target="/ppt/notesSlides/notesSlide10.xml" Id="Rcb701b2576594f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62894569648d0" /><Relationship Type="http://schemas.openxmlformats.org/officeDocument/2006/relationships/notesSlide" Target="/ppt/notesSlides/notesSlide11.xml" Id="R3a21a9005e4540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5a9d242094676" /><Relationship Type="http://schemas.openxmlformats.org/officeDocument/2006/relationships/notesSlide" Target="/ppt/notesSlides/notesSlide12.xml" Id="Radf000834a6246c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등장률</c:v>
          </c:tx>
          <c:spPr>
            <a:solidFill xmlns:a="http://schemas.openxmlformats.org/drawingml/2006/main">
              <a:srgbClr val="08080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컨설팅</c:v>
              </c:pt>
              <c:pt idx="1">
                <c:v>전시·해외</c:v>
              </c:pt>
              <c:pt idx="2">
                <c:v>마케팅</c:v>
              </c:pt>
              <c:pt idx="3">
                <c:v>인증·IP</c:v>
              </c:pt>
              <c:pt idx="4">
                <c:v>융자·보증</c:v>
              </c:pt>
              <c:pt idx="5">
                <c:v>자금</c:v>
              </c:pt>
            </c:strLit>
          </c:cat>
          <c:val>
            <c:numLit>
              <c:formatCode>General</c:formatCode>
              <c:ptCount val="6"/>
              <c:pt idx="0">
                <c:v>25.3</c:v>
              </c:pt>
              <c:pt idx="1">
                <c:v>24.1</c:v>
              </c:pt>
              <c:pt idx="2">
                <c:v>23.7</c:v>
              </c:pt>
              <c:pt idx="3">
                <c:v>19.9</c:v>
              </c:pt>
              <c:pt idx="4">
                <c:v>13.9</c:v>
              </c:pt>
              <c:pt idx="5">
                <c:v>10.1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09011-FECC-47A2-9C73-A9A20D4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53565A"/>
                </a:solidFill>
              </a:defRPr>
            </a:pPr>
            <a:r>
              <a:rPr sz="1275" b="1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2542F-5E0F-4659-9FE4-D5C8DFD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905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</a:defRPr>
            </a:pPr>
            <a:r>
              <a:rPr sz="4500" b="1">
                <a:solidFill>
                  <a:srgbClr val="080808"/>
                </a:solidFill>
              </a:rPr>
              <a:t>공고를 기회 데이터로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</a:defRPr>
            </a:pPr>
            <a:r>
              <a:rPr sz="4500" b="1">
                <a:solidFill>
                  <a:srgbClr val="080808"/>
                </a:solidFill>
              </a:rPr>
              <a:t>바꾸는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651E-49F5-4BAE-A501-F93A70F6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43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3565A"/>
                </a:solidFill>
              </a:defRPr>
            </a:pPr>
            <a:r>
              <a:rPr sz="1800" b="0">
                <a:solidFill>
                  <a:srgbClr val="53565A"/>
                </a:solidFill>
              </a:rPr>
              <a:t>지원사업 검색을 넘어, 회사별 판단과 실행까지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0476F-5F0B-4200-904B-C5E07F16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D7F88-6BB3-49B7-99C7-FFFDCF89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B471-FF9D-4F87-AFE6-7691A66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자격 판단 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A0025-6730-4CE4-934E-90FF450A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회사와 공고를 같은 기준으로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18EE5-874B-4163-AA0F-BBDCCFBC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06F71-5C6E-4001-BAC2-132C5399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6C5AB-22F0-4465-BB22-FD1C6D7C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혜택 패밀리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8BE0C-47DE-449F-8157-F5A2D23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돈·시장·역량·인증·연결을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2A4F2-DAF0-4054-8CD9-8C0B37E6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90D74-74CD-45F9-8A6A-1189881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52C1C-712F-41F8-BF63-E579DBC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판정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8B089-8012-4013-9195-54D206D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적격 · 조건부 · 부적격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BB34B-390F-4283-A866-2D4E66F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0F90F-0898-44E1-B290-6F888106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NOTEN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CUNOTE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FAAF1-0CD1-4D4C-B4E6-3100FD3D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436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9D9D9"/>
                </a:solidFill>
              </a:defRPr>
            </a:pPr>
            <a:r>
              <a:rPr sz="1200" b="0">
                <a:solidFill>
                  <a:srgbClr val="D9D9D9"/>
                </a:solidFill>
              </a:rPr>
              <a:t>External 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15843-9E87-424F-86D9-56655C5B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 | 2026-06-28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972A5-E4AB-4FA2-A386-C6342AEA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141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5F335-2344-459E-84BD-2DC3CB08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MARKET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0A539-2F0C-47E3-9109-45431A58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공고는 많지만,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판단은 여전히 사람이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8CD6-4CC2-47E0-8B87-9D16E77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정보의 양이 문제가 아닙니다. 자격과 혜택이 판단 가능한 형태로 정리되어 있지 않은 것이 문제입니다.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CFC22-0EB3-4703-BBDA-51D07321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90408-FDDC-4737-B392-20422D4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73077-9222-4B8B-80EC-66FAA4B1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8DDA1-7249-4D6D-B034-36A78153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80CF1-3A19-44E6-8E9B-F3697448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1,588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1960B-F4E6-4595-BD45-E1336757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기업마당 활성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308E7-8DD1-4FBE-BB5F-714FDB96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본문과 첨부에 조건이 흩어져 있어 사람이 다시 읽어야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30F1A-783B-46BC-B83A-4E462858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B742F-593F-403B-9EF9-E50A1872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304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2B4D4-753A-45FB-926A-9737E0E1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K-Startup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01C35-BB8A-4791-ADAA-0290A09C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창업 특화 공고지만 회사별 적합 여부는 별도 판단이 필요합니다.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CF710-7561-4660-9A51-D6B2F71B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FE807-4D53-481E-9050-F77A42C4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29K+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0AB33-F8C3-42EB-9EBF-57C774CF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K-Startup 누적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1415C-C4AA-49F3-9DB5-1B39E283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마감, 지역, 대상, 분야가 시간에 따라 계속 바뀝니다.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395FC-1773-4B15-8E62-EE92ABC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9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6A67C-3C10-433F-867D-F9CCEE72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1,900+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35204-4558-4166-805A-B11FFFA6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활성 유니버스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F744D-C2D8-4191-95E6-AB228E5F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소스가 늘수록 중복과 상태 관리가 추천 품질을 좌우합니다.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4EE45-2DA9-4456-999B-30023195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0808"/>
                </a:solidFill>
              </a:defRPr>
            </a:pPr>
            <a:r>
              <a:rPr sz="1950" b="1">
                <a:solidFill>
                  <a:srgbClr val="080808"/>
                </a:solidFill>
              </a:rPr>
              <a:t>창업노트의 출발점은 공고 검색이 아니라, 공고를 회사가 바로 판단할 수 있는 데이터로 바꾸는 것입니다.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A653C-088A-47FD-A948-EFC26882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이 전환이 되어야 추천, 설명, 신청 준비, 성과 학습이 하나의 제품 흐름으로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468732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178AE-8195-45BF-BAD5-8A7315C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DATA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D9DED-B860-486F-B384-2B41977B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창업노트는 공고를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세 개의 데이터 레이어로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F56C2-A493-47DE-9D2B-0476421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원문을 그대로 저장하는 수준을 넘어, 자격 판단·보상 가치·신청 준비를 분리해 서비스 데이터로 발행합니다.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ED3EC-607D-46F3-BAC2-4BFDD355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8F856-959D-4A37-9DC8-DE173D4F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CF3CF-5470-4C40-84DB-5EB85E2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CB2D3-8CB3-403B-97B6-BF5C966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07DF6-781D-48EE-90F9-7089746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53565A"/>
                </a:solidFill>
              </a:defRPr>
            </a:pPr>
            <a:r>
              <a:rPr sz="2100" b="1">
                <a:solidFill>
                  <a:srgbClr val="53565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CBB51-0CE6-4176-8D10-11C4990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Eligibility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87305-55BD-4700-924C-60C67E1F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0808"/>
                </a:solidFill>
              </a:defRPr>
            </a:pPr>
            <a:r>
              <a:rPr sz="2175" b="1">
                <a:solidFill>
                  <a:srgbClr val="080808"/>
                </a:solidFill>
              </a:rPr>
              <a:t>자격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83011-8AB3-4082-98BA-1413E3D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지역, 업력, 연령, 업종, 기업 규모, 제외 대상 등 회사 프로필과 직접 비교되는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B699D-FF8D-49A4-8743-D03FB77B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F9900"/>
                </a:solidFill>
              </a:defRPr>
            </a:pPr>
            <a:r>
              <a:rPr sz="28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40302-77BF-4DB1-91AF-79BDA21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F10DE-6E09-4BDD-BB9F-2E9F0120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9900"/>
                </a:solidFill>
              </a:defRPr>
            </a:pPr>
            <a:r>
              <a:rPr sz="2100" b="1">
                <a:solidFill>
                  <a:srgbClr val="FF99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6990A-4067-4123-B008-0B869DF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Benefit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3685F-01E2-4ACB-842A-025953B4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0808"/>
                </a:solidFill>
              </a:defRPr>
            </a:pPr>
            <a:r>
              <a:rPr sz="2175" b="1">
                <a:solidFill>
                  <a:srgbClr val="080808"/>
                </a:solidFill>
              </a:rPr>
              <a:t>보상 가치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A1F40-C5E6-4F82-843A-A0DB7A5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지원금뿐 아니라 융자, 교육, 컨설팅, 판로, 인증, 공간, 네트워크를 혜택 단위로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4F743-6A6C-4396-A02F-9ED8F817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F9900"/>
                </a:solidFill>
              </a:defRPr>
            </a:pPr>
            <a:r>
              <a:rPr sz="28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81131-5707-469F-96CD-FDC0CC5B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933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0A100-DFD2-416D-ADFA-55E333C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53565A"/>
                </a:solidFill>
              </a:defRPr>
            </a:pPr>
            <a:r>
              <a:rPr sz="2100" b="1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B8ADE-112A-4B88-ABD6-9E4B6E0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1C582-A009-4BCB-B9AB-183FF748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0808"/>
                </a:solidFill>
              </a:defRPr>
            </a:pPr>
            <a:r>
              <a:rPr sz="2175" b="1">
                <a:solidFill>
                  <a:srgbClr val="080808"/>
                </a:solidFill>
              </a:rPr>
              <a:t>신청 준비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073C5-FCDA-4D37-8823-9984A9E0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마감, 제출처, 필요 서류, 링크, 담당기관, 원문 첨부를 실행 가능한 준비 정보로 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F92E6-70DE-4B02-8949-F535A53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IR 메시지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443E8-312D-41A5-A53A-9891986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673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데이터 레이어가 분리되면 “이 회사가 받을 수 있는가”, “받으면 무엇이 좋은가”, “지금 무엇을 해야 하는가”를 각각 계산할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79359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B5706-166E-4872-B06F-4871FA2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STANDARDIZATION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D6D07-7D64-4C49-A323-D51FB14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표준화의 핵심은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자격·혜택·신청을 분리하는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13D60-8E52-4A21-8578-1C6466F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현재 기준 열린 공고를 같은 좌표계로 정리해 회사 프로필과 직접 비교 가능한 형태로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90FE6-8DCF-4121-9798-454556B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83BBF-7C76-409D-9316-59A4E19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6EF0C-2E33-4D28-AD7B-D7DE924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CF302-BE06-49A3-BEEA-8D95910C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A347A-431A-42B2-B3C2-ABA9386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ELIGIBILITY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F30D-7B78-4092-A1AF-6216EE41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자격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FF4C-EF59-42DF-8321-8681A2C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14개 차원으로 필수, 우대, 배제 조건을 분리합니다. 모르는 조건은 탈락으로 단정하지 않고 조건부로 남깁니다.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2B7E2-3D95-49B2-8340-AEA1390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73AD9-FFFE-44B1-B9E8-52045F66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BENEFIT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65496-4F73-42AC-B725-805F5F9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보상 가치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65F55-7697-4942-9EAF-E649F4E4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7개 혜택 패밀리로 자금, 융자, 교육, 컨설팅, 판로, 인증, 공간, 네트워크를 비교합니다.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ED44E-4731-4D49-91B1-E3CDF9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6F21A-BEBF-4CE8-AF0F-BFA069A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3D7F9-6180-4B88-8800-7F876FF8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신청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9A04E-8CFE-4BD7-952C-812AB70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마감, 필요 서류, 제출처, 링크, 담당기관을 신청 행동에 필요한 데이터로 정리합니다.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89DF3-164A-4A27-A780-B5422AA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이 구조 덕분에 공고 카드, 매칭 결과, 신청 준비 화면이 같은 데이터에서 일관되게 생성됩니다.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860B6-0636-4C83-9598-D2005A9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검색 인덱스가 아니라 제품 운영 데이터로 공고를 다루는 것이 창업노트의 차별점입니다.</a:t>
            </a:r>
          </a:p>
        </p:txBody>
      </p:sp>
    </p:spTree>
    <p:extLst>
      <p:ext uri="{BB962C8B-B14F-4D97-AF65-F5344CB8AC3E}">
        <p14:creationId xmlns:p14="http://schemas.microsoft.com/office/powerpoint/2010/main" val="1248429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8A1BC-4641-45E3-9796-5D2BF9D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BENEFIT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CB3C1-148B-4CB7-842D-7C96F0B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지원사업은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지원금만이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F521F-E82B-481B-A58E-16E24CE2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공고를 혜택 단위로 쪼개면 사용자는 금액 외에도 판로, 인증, 교육, 공간, 네트워크 가치를 비교할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AE66E-5A4A-49CD-B424-B8E02F03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B411F-A68B-4F1B-86AE-7D91635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84C3A-3C25-4BDD-89C2-60B86882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EA5CA-C924-47B7-9E32-AB803F5B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81050" y="2400300"/>
          <a:ext xmlns:a="http://schemas.openxmlformats.org/drawingml/2006/main" cx="6096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8d866130d1453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B4D2B-170C-4861-ADC3-B2DF9F89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565A"/>
                </a:solidFill>
              </a:defRPr>
            </a:pPr>
            <a:r>
              <a:rPr sz="1125" b="0">
                <a:solidFill>
                  <a:srgbClr val="53565A"/>
                </a:solidFill>
              </a:rPr>
              <a:t>상위 등장률: 컨설팅 25.3% · 전시/해외 24.1% · 마케팅 23.7% · 인증/IP 19.9% · 자금 10.1%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01F7E-EAA7-4312-83C8-B288C921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52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</a:defRPr>
            </a:pPr>
            <a:r>
              <a:rPr sz="2250" b="1">
                <a:solidFill>
                  <a:srgbClr val="080808"/>
                </a:solidFill>
              </a:rPr>
              <a:t>추천의 기준은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</a:defRPr>
            </a:pPr>
            <a:r>
              <a:rPr sz="2250" b="1">
                <a:solidFill>
                  <a:srgbClr val="080808"/>
                </a:solidFill>
              </a:rPr>
              <a:t>“얼마를 주는가”에서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</a:defRPr>
            </a:pPr>
            <a:r>
              <a:rPr sz="2250" b="1">
                <a:solidFill>
                  <a:srgbClr val="080808"/>
                </a:solidFill>
              </a:rPr>
              <a:t>“무엇을 성장시킬 수 있는가”로 이동합니다.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B2256-0706-436A-8904-594BC6E2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95E16-251B-4C6A-B813-DA8EEA5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자금과 융자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3C966-E896-4160-A3DF-72381ED3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46105-ABAD-44A4-B36D-F9D3C6BA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판로와 해외 진출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6E3AF-0235-4107-874B-11964FF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10D98-1301-46E8-9597-3A2B95B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인증과 지식재산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6E88F-6E0D-4773-A458-1FF183EB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4C9E5-0B4A-4A83-8B7D-526BE62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교육과 컨설팅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90947-A1F2-420B-8A0C-157D0C03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0F5F1-8D77-41E4-9EE3-DC91FE79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34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공간과 네트워크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4D6FB-3727-4399-B19D-96882F1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금액 미상 공고도 혜택 구조를 알면 비교 가능한 기회가 됩니다.</a:t>
            </a:r>
          </a:p>
        </p:txBody>
      </p:sp>
    </p:spTree>
    <p:extLst>
      <p:ext uri="{BB962C8B-B14F-4D97-AF65-F5344CB8AC3E}">
        <p14:creationId xmlns:p14="http://schemas.microsoft.com/office/powerpoint/2010/main" val="1465310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C51C5-C806-437C-A5B2-226F532E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B10D3-B4CF-45DA-BFF7-069373F2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AWS 운영 아키텍처: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요청 경로와 데이터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6D82-BFD8-49EB-97CE-86920B2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사용자 응답은 짧게 유지하고, 수집·변환·정규화 작업은 별도 작업 경로에서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E534C-9041-4CC3-9D43-A1985E3D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42C6A-5C00-42AE-9441-3416AC1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D84E9-FF2B-44FF-B3AA-A3C934D2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CFD98-D681-445D-A30D-75AFD081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5716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BADE4-7DB7-4A52-AF77-419A8B5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43125"/>
            <a:ext cx="25717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1EA5B-02B7-44A5-96A7-7288B45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43125"/>
            <a:ext cx="37623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7585E-0DCE-4631-A011-F1A77D59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7908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7D791-02D3-41B8-87FE-C39AF86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F4FA0-7E5F-40DF-B7D3-BFB5FA2F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Public subnets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86B10-9128-4A3B-83C7-1360B0B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76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Private subnets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43738-31CC-4F4A-B604-936133A4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76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3BD03-F56A-4629-B199-84440A8D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60FA4-2376-40F9-B676-0EFAA9F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Route 53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EA2F1-5AF2-4CC1-959D-FCF29C4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DNS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B006F-89E3-47AE-9C8B-83999949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8588C-38D6-4101-966F-78CB97F4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AWS WAF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FEAF0-52DE-45BC-B131-FD5A679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L7 방어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rate limit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6CDF7-30B7-4E46-8F30-D161FC9A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517F4-C9DA-4F9D-974A-96D4ADC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ALB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48B07-747F-4E7F-9DBD-8E30682D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Web/API 라우팅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E7A0D-027F-4274-9171-509CBA50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D5C3D-C4C0-4E89-9C9A-091F257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76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B061A-6375-462B-B1FA-88A9135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HTTPS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4C2D1-5461-454E-A644-FE6E542B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1409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A8770-1A6C-4890-8733-6FD6A9A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FF591-2C33-40E3-8D8A-349D3A7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90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Web/BFF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Next.js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F14D8-A6B6-40E5-88BD-3F7042F1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1409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FEE8D-378A-4971-95A8-68261B0E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FC1CD-BE37-4C77-BC6D-3BBD184E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Admin/API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Auth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64FBBD-59F7-4064-A290-DEC0763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A0F3A0-FF14-4125-9E25-22FE2C9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432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173B2E-2E75-473B-812B-DA556E5A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480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request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DADB68-4134-4A1B-BDD6-93F8F49C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76700"/>
            <a:ext cx="1409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BDB63C-5FD7-4EA3-86EC-7115982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Tasks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05B7A8-41BC-4B6A-84D3-F31BDBF6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196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collector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converter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FB55D1-DF3B-49C7-805F-81EBD6D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1409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1BC252-EA08-4F55-AED7-2245CDB8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719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Tasks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F3909C-2C2E-45F4-94BD-07D331EB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extractor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matcher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1C3A36-37FB-43B1-A1C6-A21CE798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A449BD-5C05-483C-B56C-844C7080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RDS PostgreSQL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F2ABE8-43D8-4420-9CE1-8B1E5FEC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공고·조건·매칭 상태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FAAD9F-D926-4FB0-B724-A25C2501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33567C-555E-4381-995C-27A4B56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671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Amazon S3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FBDBE8-005D-42FE-9BFB-143074E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147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원문·첨부·변환 산출물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763F21-830C-4C3E-8739-A6B1054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291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CC9AE8-899B-4988-92C3-E1DD38B6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243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Amazon EFS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756B09-F5F4-4015-9BBF-27C00837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720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작업 캐시·공유 볼륨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6A773B-7CC8-4D42-B0E6-5A863FE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4BAE1B-414D-4B26-A220-14C9A60D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95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5A500D-FF08-495B-8FA8-BD7E239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03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SQL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BF49D8-C139-495B-923A-692DA3F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0D6E32-52F3-4DB1-836F-4E03A528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52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ED5011-601C-4D80-9BDE-3FC3C1D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57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object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D5F745-433D-4554-B3C0-D5EA11B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56602A-F0FC-4396-9A60-3412FB20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0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BBD290-FECF-4042-BC9C-2E888B3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14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volume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7C8963-E2D6-4169-BBD6-E26F0329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77BD40-5508-447F-B6EF-000AF79F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48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53565A"/>
                </a:solidFill>
              </a:defRPr>
            </a:pPr>
            <a:r>
              <a:rPr sz="1050" b="1">
                <a:solidFill>
                  <a:srgbClr val="53565A"/>
                </a:solidFill>
              </a:rPr>
              <a:t>EventBridge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7B8239-41B1-456C-8C0D-C1FBB87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816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37DB87-89F9-49E1-BCB9-A111F5B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48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53565A"/>
                </a:solidFill>
              </a:defRPr>
            </a:pPr>
            <a:r>
              <a:rPr sz="1050" b="1">
                <a:solidFill>
                  <a:srgbClr val="53565A"/>
                </a:solidFill>
              </a:rPr>
              <a:t>CloudWatch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11A589-B77D-4BE3-8DA3-6AB1F6CB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사용자 트래픽, 배치성 수집, 정규화 저장소를 분리해 지연·비용·장애 전파를 통제합니다.</a:t>
            </a:r>
          </a:p>
        </p:txBody>
      </p:sp>
    </p:spTree>
    <p:extLst>
      <p:ext uri="{BB962C8B-B14F-4D97-AF65-F5344CB8AC3E}">
        <p14:creationId xmlns:p14="http://schemas.microsoft.com/office/powerpoint/2010/main" val="1275327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D9A42-8F78-48CD-A3D2-9FF2F34A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A310A-F43A-437C-87C9-38B00D98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수집에서 발행까지: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한 번 읽고 계속 쓰는 데이터로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9B9EF-7A90-462C-BECA-68B69130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공고 원문은 계속 바뀌지만, 서비스는 정규화된 계약 데이터만 바라보도록 설계합니다.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80EC3-1181-4795-9B6C-1360EE26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C6E4E-3D8B-44FF-A1E2-A764B19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CC557-CAF9-469D-82E4-CFD33AB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5A1F0-6772-46DC-A5E7-4C547719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E9DFF-6E54-4D8E-8EC6-C1A6BFC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EE88B-414D-4E5E-8B1D-157F8DD8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6BA36-BEBA-466F-BC75-A59305A3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공고 본문, 상세 페이지, 첨부 문서를 현재 상태와 함께 가져옵니다.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0FEAE-50F0-4C3A-906E-F9E9AB71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0FC86-B392-495C-878E-A413B6C9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14472-A21C-4054-844D-D2C2A79B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F5200-1CB8-4580-A4DA-872E58F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9E549-CF73-4844-9AFF-EB08CC3D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문서와 표를 보존해 사람이 검토 가능한 중간 산출물로 바꿉니다.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00B97-48AF-4D97-B9F5-D5A83A1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7F514-0F57-4776-BFB1-64FE3FE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645BA-9D67-4FE6-A511-77675B0B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9900"/>
                </a:solidFill>
              </a:defRPr>
            </a:pPr>
            <a:r>
              <a:rPr sz="3150" b="1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B086A-F1C9-45D9-880E-8F25B7B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구조화 추출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C450D-FEC6-4557-8E2B-1C176C58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자격, 혜택, 신청 정보를 정해진 필드와 상태값으로 추출합니다.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85EC8-6AFF-4F14-8870-3770C74A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02054-4002-4897-91C9-8198525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75FEE-7D21-4B14-9213-DA24AA83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12807-1DD0-450B-8210-C145DF62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발행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08A28-860A-4C13-B1B5-E91A592F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중복과 마감 상태를 정리해 서비스가 읽는 표준 데이터로 배포합니다.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D158A-6082-4F53-89DC-90086DA9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운영 원칙: 서비스 화면과 매칭 로직은 원문이 아니라 검증된 표준 데이터만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372181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6EC01C-4B8E-4185-9B97-7D4CFCE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MATCHING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D839D-74F9-4AFA-A77A-290A803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판정은 확률이 아니라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규칙으로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08702-E5DA-4C96-B7ED-DD0A39EC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공고를 읽는 과정은 유연하게, 추천 판정은 재현 가능하게 설계했습니다.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65265-296C-453F-91A8-0AE648F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AAE7B-339B-45AA-B5B8-26459F39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25BF3-0AB9-4E98-9CD3-61E4DE4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7C922-B1DA-44E9-906A-7FAD9096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C2630-5045-4D8A-9E6C-FD1BA03D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DB838-70B1-4E7C-AB4F-8A2EEE26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B75B7-7DC7-4598-BAAA-8397AE0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0808"/>
                </a:solidFill>
              </a:defRPr>
            </a:pPr>
            <a:r>
              <a:rPr sz="2100" b="1">
                <a:solidFill>
                  <a:srgbClr val="080808"/>
                </a:solidFill>
              </a:rPr>
              <a:t>구조화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97F37-1386-4BA5-A326-193397F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</a:defRPr>
            </a:pPr>
            <a:r>
              <a:rPr sz="1725" b="0">
                <a:solidFill>
                  <a:srgbClr val="53565A"/>
                </a:solidFill>
              </a:rPr>
              <a:t>공고마다 자격, 배제, 우대, 신청 조건을 같은 상태값으로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9BCC3-F92D-42E2-84E5-94E3245B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9900"/>
                </a:solidFill>
              </a:defRPr>
            </a:pPr>
            <a:r>
              <a:rPr sz="2100" b="1">
                <a:solidFill>
                  <a:srgbClr val="FF9900"/>
                </a:solidFill>
              </a:rPr>
              <a:t>결정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DFDC4-00C4-43CB-BE20-DFA9BFC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2895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필수 조건 불일치 → 부적격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불일치 없음 + 미확인 → 조건부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모두 충족 → 적격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47DB3-9AC9-4B65-B5B8-7767910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0808"/>
                </a:solidFill>
              </a:defRPr>
            </a:pPr>
            <a:r>
              <a:rPr sz="2100" b="1">
                <a:solidFill>
                  <a:srgbClr val="080808"/>
                </a:solidFill>
              </a:rPr>
              <a:t>설명 가능한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F7A41-E03F-4B85-B875-25CCB8F0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</a:defRPr>
            </a:pPr>
            <a:r>
              <a:rPr sz="1725" b="0">
                <a:solidFill>
                  <a:srgbClr val="53565A"/>
                </a:solidFill>
              </a:rPr>
              <a:t>왜 추천됐는지, 무엇이 부족한지, 어떤 입력이 다음 판단을 바꾸는지 함께 반환합니다.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63570-A2B2-432B-B012-48D33F0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핵심 설계: 모르는 조건은 탈락시키지 않고 조건부로 남깁니다. 이 보수적 판단이 거짓 탈락을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982992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9E2B9-BED1-41C4-A7AF-8475C60E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13F82-AAF8-4D16-80B3-FD28CCEC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핵심 매칭 로직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시퀀스 다이어그램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C4EEC-0AE6-43B7-8A4F-C737651F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사용자 요청 시에는 정규화된 데이터와 결정 규칙만 사용해 빠르게 판정하고, 설명과 다음 행동까지 반환합니다.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3CEB9-00BB-456D-8210-31FD09B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7FABA-1C8C-4949-B6D1-73115A1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912FD-B2AF-4114-A6F8-0FA8326B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61518-8C85-4B7F-9D8D-94DC5BB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3E23D-9341-4EC4-AA9C-CB18F33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User/App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DA2AA-5671-436B-9B21-A5F333D7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BBE43-ACD3-42C1-9B17-779DD2BD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API/BFF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D91D4-E4B0-487C-9A32-FC5C79F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8E8A2-AA5A-42EF-8629-935896F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Candidate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9B39F-90B7-4144-9BE9-09E4288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0975A-82AB-4638-9E30-59F03A5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Rule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784D7-7F3F-404A-B56B-F8884FF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C23F7-A392-401D-AB76-03DE32F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1D687-E559-496F-A316-157CC13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776E0-3F22-406B-B5EF-72DDEFCE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Action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692CE-4150-4550-9F94-42E62870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8267F-7F38-44B3-A769-FDA3372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CAA48-A77D-4C68-A9EC-CAA4D3B1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User/App → API/BFF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DB7EE-5C3F-4046-96FC-67F21ECC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9B9E2-B853-4788-854D-767C5C7D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회사 프로필 기준 매칭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55977-E270-42FC-9C26-1386A904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197A8-0B72-4AD7-AB20-41F299B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CFAB3-5877-4453-91F8-CB0AF2D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API/BFF → Candidate Filter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D8E64-0844-42E3-BA98-7344C66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0B758-8D91-414B-8586-6A533EE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열린 공고와 사전 색인으로 후보를 축소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4B1A2-DB0D-4B2F-9973-1995D90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9EEAD-3941-4C75-A6AC-7A5C610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DA7B86-E472-4BEE-8BF5-B1712435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Candidate Filter → Rule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3B628-306B-4A8A-9E13-09031B5D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90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A2E07-5562-456E-84AE-64B48DA3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후보 공고의 표준 조건 리스트 로드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3FA2B-B6FC-4D51-8FCE-4E4CE662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CF2C20-BB45-4D1C-B0E7-01055D0F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300089-7D26-46B8-825A-24B94DA9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Rule Engine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8F4602-E788-40B6-972D-B39B4524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D4E019-391E-463C-B93D-95F0F5F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조건별 충족, 불충족, 미확인을 평가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FB046E-1ABA-4BCE-92BE-18E639CD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3F7A24-D3FB-48F7-9FCD-B10E2AC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0FD2D6-18CF-42BB-8EBF-D62950C6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Rule Engine → 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E9FC0F-020E-4B97-BB8A-DE607D20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91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540CD4-3338-447A-8372-CCF319F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판정 상태, 점수, 설명 로그 저장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1E8F62-7F59-4330-AFAA-712D1AF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D60B00-7085-4354-AA25-FB6BBBA8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A79CA6-4B6C-420E-BBC7-133EDD35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RDS → Action UI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913AE3-F174-4548-8B04-A02B3C5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0D7069-CAA2-45C9-8C97-B2B10D98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조건부 질문과 신청 준비 행동 구성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1C1D80-71D9-4FDA-A65E-8E44CC4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252402-C0B0-4F85-B9BF-F11493C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46BDC7-3836-4C3B-AD69-37F56125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Action UI → User/App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1EE3C2-97C9-4B50-9291-AAD0CD8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DE69E7-C148-44C3-B5CD-BA04481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9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설명 가능한 추천 카드 반환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221CB0-9205-412F-A68A-E3F94E09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631FCA-1BC5-4465-9B71-622FC29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원칙: 무거운 읽기와 변환은 배치 경로에서 끝내고, 사용자 응답 경로는 저장된 표준 데이터로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698901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D0902-B057-4511-A670-95C0C57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3ABC4-1F84-4EBA-8578-7C5C5DB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실데이터에서 동작한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엔드투엔드 매칭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9229A-5CB7-487F-AF67-902B1CE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가상 기업 하나를 열린 공고 표본과 매칭해 적격, 조건부, 부적격을 분류했습니다.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78925-71B0-4BCA-8B87-DB84B8E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1B768-AA43-43B0-AD45-AD13013D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C0754-3029-418B-8F38-67D5562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05D46-0ACB-468A-AC9A-7FB74B6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A7424-4BF3-47AD-85F9-AAFD77E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B8284-360D-4D2B-9B20-22A5831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02F31-3AF7-4311-A314-1BDF792C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적격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2B126-E593-4002-AEB9-F9E1ED4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조건부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14CB9-3C9D-46C5-A7AA-6030C5E8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부적격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769FC-40D6-4B8E-A596-7C84AE0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ADF89-BEDC-438E-9721-B88E357D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2BEEF-C404-4A60-A852-AE48EE3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open 공고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81290-08EA-463A-B83B-ED0292A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21145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매칭 대상 열린 공고 표본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7FED7-66E6-446E-AA19-C332B3A7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8920F-063E-43F7-B5E2-E518101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9900"/>
                </a:solidFill>
              </a:defRPr>
            </a:pPr>
            <a:r>
              <a:rPr sz="3150" b="1">
                <a:solidFill>
                  <a:srgbClr val="FF9900"/>
                </a:solidFill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1F0A6-CC21-45E4-AA35-5EA482B2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즉시 적격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B0AC7-87DC-466D-B107-53107A9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21145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필수 조건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A29F6-3EE5-40BD-BBA8-88DE174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FB852-48C7-4A05-978F-52362EA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097F6-0C00-44E9-9454-687300BF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86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조건부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E90ADB-52B4-43A4-9AAB-D4E7D54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48300"/>
            <a:ext cx="21145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확인할 회사 정보가 남은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A47A6F-D386-4D71-BCB4-DDD2E7C9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34A0E-6B42-46BB-B5D3-FC194BAC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35B27-19EB-481F-A0B9-3EB49D1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863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부적격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9CAF0-047C-47C8-A50B-EEF2C06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48300"/>
            <a:ext cx="2133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지역, 업력, 대상 등 hard 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C8CE2-549E-43CF-996A-E8DD4A05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80808"/>
                </a:solidFill>
              </a:defRPr>
            </a:pPr>
            <a:r>
              <a:rPr sz="1425" b="1">
                <a:solidFill>
                  <a:srgbClr val="080808"/>
                </a:solidFill>
              </a:rPr>
              <a:t>조건부는 약점이 아니라 신뢰 설계입니다. 모르는 조건을 부적격으로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90086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4C7336-36E8-4A65-8CC5-D78FCA1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ACTION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18527-5936-4F73-BE8A-2896ED70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추천의 끝은 리스트가 아니라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다음 행동이다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15043-3E07-49BB-A005-2788E8F7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창업노트는 매칭 이후 조건부를 줄이고, 신청 준비로 이어지는 행동 큐를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AF7C-C427-4B87-9158-E83A1C26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25D9-D13D-4051-9C23-F8C16CB6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8B837-D819-447D-8221-DE3240BA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20D54-DC09-44EC-9530-8B7111DD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C677F-6D35-461B-9D93-C1F3EA54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NEXT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97171-B6A0-4DC1-A08F-3DBC1182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다음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9F15B-AD32-4306-8964-F32E1BC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조건부 공고를 가장 많이 확정하거나 제외할 수 있는 회사 정보를 우선 묻습니다.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23B9C-97A0-4A4F-90E5-5CB89C0B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3B30F-B99F-446A-8F03-34D167E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ACTION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E68E8-6694-4C83-BFC0-4AB829B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액션 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DDEC8-5EC1-4996-8352-0F37B1D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마감, 혜택 가치, 적합도, 준비 난도를 합산해 지금 해야 할 일을 정렬합니다.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18A0A-37BD-4BD9-90F2-0FA16F37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FED28-B16F-4D02-8583-218804CB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APPLY 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3F625-1DDA-44D1-A721-CF004C2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신청 준비 시트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26EF4-1DD6-44EE-8ED3-B6427FF1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필요 서류, 제출 링크, 담당기관, 준비 문구를 한 화면에서 이어줍니다.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FDAFD-1CB2-4014-ABE1-BB6EDFBB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공고 추천 → 조건 확인 → 신청 준비 → 결과 기록이 연결될수록, 창업노트의 데이터는 더 좋은 추천을 만드는 자산이 됩니다.</a:t>
            </a:r>
          </a:p>
        </p:txBody>
      </p:sp>
    </p:spTree>
    <p:extLst>
      <p:ext uri="{BB962C8B-B14F-4D97-AF65-F5344CB8AC3E}">
        <p14:creationId xmlns:p14="http://schemas.microsoft.com/office/powerpoint/2010/main" val="2105909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F64BC-6CB2-4D21-A2C3-F3024736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IR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BCCDF-FAE7-4A05-9A83-07F874B8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창업노트의 해자는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공고 데이터베이스가 아니라,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공고를 판단·행동·결과 데이터로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전환하는 구조입니다.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BCDA9-5050-4FBB-A5EE-7D7B0810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3381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D04E5-2D9D-4605-AD3E-92C1246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표준화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1FD43-5BE4-4582-9A6A-0845B63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962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모든 공고를 자격, 혜택, 신청 준비 데이터로 정규화합니다.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BCEE2-BAA4-43A7-81F3-1E19120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381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F8F18-7D3F-4049-862B-50F2747D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862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설명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A7305-D269-4BB0-AE81-CC7E1E1B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2962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추천과 탈락의 이유를 상태와 근거로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AA787-A4B0-41FD-9784-3C4DE8CD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3390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4E0F2-7A28-4CF4-B5AA-C056A75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확장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E0508-9AD5-4BA7-B2D8-C19A840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1960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AWS 기준으로 서비스 경로와 데이터 경로를 분리해 운영합니다.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C19EC-F5F9-4351-B9FE-605B4CF8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비전: 기업의 성장 조건, 기회, 실행 결과를 연결하는 지원사업 데이터 인프라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06E59-4B30-4018-ACF1-4844825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 |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39CA0-3A44-437A-A5B4-E7EDA2F9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6548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2026-06-27T23:52:36.0150000Z</dcterms:created>
  <dcterms:modified xsi:type="dcterms:W3CDTF">2026-06-27T23:52:36.0150000Z</dcterms:modified>
</coreProperties>
</file>