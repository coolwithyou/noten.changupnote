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d47cd305f549a3" /><Relationship Type="http://schemas.openxmlformats.org/officeDocument/2006/relationships/extended-properties" Target="/docProps/app.xml" Id="Re98beafef1d74157" /><Relationship Type="http://schemas.openxmlformats.org/officeDocument/2006/relationships/officeDocument" Target="/ppt/presentation.xml" Id="R522e3b31731141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295066e9424069"/>
  </p:sldMasterIdLst>
  <p:notesMasterIdLst>
    <p:notesMasterId xmlns:r="http://schemas.openxmlformats.org/officeDocument/2006/relationships" r:id="R47a546c181b14d29"/>
  </p:notesMasterIdLst>
  <p:sldIdLst>
    <p:sldId xmlns:r="http://schemas.openxmlformats.org/officeDocument/2006/relationships" id="256" r:id="R460cf999868e4174"/>
    <p:sldId xmlns:r="http://schemas.openxmlformats.org/officeDocument/2006/relationships" id="257" r:id="R1833014e31f1401a"/>
    <p:sldId xmlns:r="http://schemas.openxmlformats.org/officeDocument/2006/relationships" id="258" r:id="Rb2c2ce2ce93547b1"/>
    <p:sldId xmlns:r="http://schemas.openxmlformats.org/officeDocument/2006/relationships" id="259" r:id="R383def39a7eb4551"/>
    <p:sldId xmlns:r="http://schemas.openxmlformats.org/officeDocument/2006/relationships" id="260" r:id="Rd3879d106f9e476a"/>
    <p:sldId xmlns:r="http://schemas.openxmlformats.org/officeDocument/2006/relationships" id="261" r:id="Ra566ac01a63d4ac8"/>
    <p:sldId xmlns:r="http://schemas.openxmlformats.org/officeDocument/2006/relationships" id="262" r:id="R7e10a349f27b4393"/>
    <p:sldId xmlns:r="http://schemas.openxmlformats.org/officeDocument/2006/relationships" id="263" r:id="R7cbb53273b2f4c69"/>
    <p:sldId xmlns:r="http://schemas.openxmlformats.org/officeDocument/2006/relationships" id="264" r:id="Rc3884108ddc14fcc"/>
    <p:sldId xmlns:r="http://schemas.openxmlformats.org/officeDocument/2006/relationships" id="265" r:id="R4bc63a1a7417438c"/>
    <p:sldId xmlns:r="http://schemas.openxmlformats.org/officeDocument/2006/relationships" id="266" r:id="Rcdabb25b61144323"/>
    <p:sldId xmlns:r="http://schemas.openxmlformats.org/officeDocument/2006/relationships" id="267" r:id="Rc360ae0fa1914af6"/>
    <p:sldId xmlns:r="http://schemas.openxmlformats.org/officeDocument/2006/relationships" id="268" r:id="Rd4cc2c0a0c75411f"/>
    <p:sldId xmlns:r="http://schemas.openxmlformats.org/officeDocument/2006/relationships" id="269" r:id="Rf2bc40f252584ee7"/>
    <p:sldId xmlns:r="http://schemas.openxmlformats.org/officeDocument/2006/relationships" id="270" r:id="R26399faaf2e74f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1c97ff9965457e" /><Relationship Type="http://schemas.openxmlformats.org/officeDocument/2006/relationships/slideMaster" Target="/ppt/slideMasters/slideMaster1.xml" Id="Rfa295066e9424069" /><Relationship Type="http://schemas.openxmlformats.org/officeDocument/2006/relationships/notesMaster" Target="/ppt/notesMasters/notesMaster1.xml" Id="R47a546c181b14d29" /><Relationship Type="http://schemas.openxmlformats.org/officeDocument/2006/relationships/presProps" Target="/ppt/presProps.xml" Id="Rd74370c65f8d4a4d" /><Relationship Type="http://schemas.openxmlformats.org/officeDocument/2006/relationships/tableStyles" Target="/ppt/tableStyles.xml" Id="R6a5ed83591764106" /><Relationship Type="http://schemas.openxmlformats.org/officeDocument/2006/relationships/slide" Target="/ppt/slides/slide1.xml" Id="R460cf999868e4174" /><Relationship Type="http://schemas.openxmlformats.org/officeDocument/2006/relationships/slide" Target="/ppt/slides/slide2.xml" Id="R1833014e31f1401a" /><Relationship Type="http://schemas.openxmlformats.org/officeDocument/2006/relationships/slide" Target="/ppt/slides/slide3.xml" Id="Rb2c2ce2ce93547b1" /><Relationship Type="http://schemas.openxmlformats.org/officeDocument/2006/relationships/slide" Target="/ppt/slides/slide4.xml" Id="R383def39a7eb4551" /><Relationship Type="http://schemas.openxmlformats.org/officeDocument/2006/relationships/slide" Target="/ppt/slides/slide5.xml" Id="Rd3879d106f9e476a" /><Relationship Type="http://schemas.openxmlformats.org/officeDocument/2006/relationships/slide" Target="/ppt/slides/slide6.xml" Id="Ra566ac01a63d4ac8" /><Relationship Type="http://schemas.openxmlformats.org/officeDocument/2006/relationships/slide" Target="/ppt/slides/slide7.xml" Id="R7e10a349f27b4393" /><Relationship Type="http://schemas.openxmlformats.org/officeDocument/2006/relationships/slide" Target="/ppt/slides/slide8.xml" Id="R7cbb53273b2f4c69" /><Relationship Type="http://schemas.openxmlformats.org/officeDocument/2006/relationships/slide" Target="/ppt/slides/slide9.xml" Id="Rc3884108ddc14fcc" /><Relationship Type="http://schemas.openxmlformats.org/officeDocument/2006/relationships/slide" Target="/ppt/slides/slide10.xml" Id="R4bc63a1a7417438c" /><Relationship Type="http://schemas.openxmlformats.org/officeDocument/2006/relationships/slide" Target="/ppt/slides/slide11.xml" Id="Rcdabb25b61144323" /><Relationship Type="http://schemas.openxmlformats.org/officeDocument/2006/relationships/slide" Target="/ppt/slides/slide12.xml" Id="Rc360ae0fa1914af6" /><Relationship Type="http://schemas.openxmlformats.org/officeDocument/2006/relationships/slide" Target="/ppt/slides/slide13.xml" Id="Rd4cc2c0a0c75411f" /><Relationship Type="http://schemas.openxmlformats.org/officeDocument/2006/relationships/slide" Target="/ppt/slides/slide14.xml" Id="Rf2bc40f252584ee7" /><Relationship Type="http://schemas.openxmlformats.org/officeDocument/2006/relationships/slide" Target="/ppt/slides/slide15.xml" Id="R26399faaf2e74f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75e5c16a4e4f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569ebd51054fc6" /><Relationship Type="http://schemas.openxmlformats.org/officeDocument/2006/relationships/notesMaster" Target="/ppt/notesMasters/notesMaster1.xml" Id="R9d0b9ce2b4de4d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6db7be436b43ba" /><Relationship Type="http://schemas.openxmlformats.org/officeDocument/2006/relationships/notesMaster" Target="/ppt/notesMasters/notesMaster1.xml" Id="Rff6cda9fda0c4a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432191116a42fc" /><Relationship Type="http://schemas.openxmlformats.org/officeDocument/2006/relationships/notesMaster" Target="/ppt/notesMasters/notesMaster1.xml" Id="R1439e10ecf7541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5d2fb927bc4c78" /><Relationship Type="http://schemas.openxmlformats.org/officeDocument/2006/relationships/notesMaster" Target="/ppt/notesMasters/notesMaster1.xml" Id="R514835aa870343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107a048d5b47eb" /><Relationship Type="http://schemas.openxmlformats.org/officeDocument/2006/relationships/notesMaster" Target="/ppt/notesMasters/notesMaster1.xml" Id="Rb7d88501635845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eeacbbd0914fde" /><Relationship Type="http://schemas.openxmlformats.org/officeDocument/2006/relationships/notesMaster" Target="/ppt/notesMasters/notesMaster1.xml" Id="R90b0f159401845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2bc7b1b52e41d0" /><Relationship Type="http://schemas.openxmlformats.org/officeDocument/2006/relationships/notesMaster" Target="/ppt/notesMasters/notesMaster1.xml" Id="R7a5485bb8d2945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98e56610294936" /><Relationship Type="http://schemas.openxmlformats.org/officeDocument/2006/relationships/notesMaster" Target="/ppt/notesMasters/notesMaster1.xml" Id="Ra9f7dd1cb9cb40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990b6d5ae54899" /><Relationship Type="http://schemas.openxmlformats.org/officeDocument/2006/relationships/notesMaster" Target="/ppt/notesMasters/notesMaster1.xml" Id="Rb596d9f45dbf42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74aa981d714f96" /><Relationship Type="http://schemas.openxmlformats.org/officeDocument/2006/relationships/notesMaster" Target="/ppt/notesMasters/notesMaster1.xml" Id="R4aaa8e5c2eec4a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6f4e9cea6b4eda" /><Relationship Type="http://schemas.openxmlformats.org/officeDocument/2006/relationships/notesMaster" Target="/ppt/notesMasters/notesMaster1.xml" Id="Rdba76941d28e4c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a0cae4ac6d4e36" /><Relationship Type="http://schemas.openxmlformats.org/officeDocument/2006/relationships/notesMaster" Target="/ppt/notesMasters/notesMaster1.xml" Id="Ra66c7dc5677b4b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4d91b9ce6e4cf2" /><Relationship Type="http://schemas.openxmlformats.org/officeDocument/2006/relationships/notesMaster" Target="/ppt/notesMasters/notesMaster1.xml" Id="R3ca00c98a76f4d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b6bd59192649a4" /><Relationship Type="http://schemas.openxmlformats.org/officeDocument/2006/relationships/notesMaster" Target="/ppt/notesMasters/notesMaster1.xml" Id="R36302fc5765843e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a43587ad6c4e71" /><Relationship Type="http://schemas.openxmlformats.org/officeDocument/2006/relationships/notesMaster" Target="/ppt/notesMasters/notesMaster1.xml" Id="R807f1161a55144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55246dca84f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fd9d80cd234e73" /><Relationship Type="http://schemas.openxmlformats.org/officeDocument/2006/relationships/slideLayout" Target="/ppt/slideLayouts/slideLayout1.xml" Id="R82fa4e1a4b9f4a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fa4e1a4b9f4a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2bc1c0266402a" /><Relationship Type="http://schemas.openxmlformats.org/officeDocument/2006/relationships/notesSlide" Target="/ppt/notesSlides/notesSlide1.xml" Id="Rf8c3ff0042a64b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32e0ba2d64d5a" /><Relationship Type="http://schemas.openxmlformats.org/officeDocument/2006/relationships/notesSlide" Target="/ppt/notesSlides/notesSlide2.xml" Id="R0c822c4a30cb4d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6fa1e0f024e6f" /><Relationship Type="http://schemas.openxmlformats.org/officeDocument/2006/relationships/notesSlide" Target="/ppt/notesSlides/notesSlide3.xml" Id="R76c7ad63382d4a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b949193d940cc" /><Relationship Type="http://schemas.openxmlformats.org/officeDocument/2006/relationships/notesSlide" Target="/ppt/notesSlides/notesSlide4.xml" Id="R71f2106254644b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45625833e44be" /><Relationship Type="http://schemas.openxmlformats.org/officeDocument/2006/relationships/chart" Target="/ppt/slides/charts/chart1.xml" Id="R1f4039b711714564" /><Relationship Type="http://schemas.openxmlformats.org/officeDocument/2006/relationships/notesSlide" Target="/ppt/notesSlides/notesSlide5.xml" Id="Re21be348f0c446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5cb192108498e" /><Relationship Type="http://schemas.openxmlformats.org/officeDocument/2006/relationships/notesSlide" Target="/ppt/notesSlides/notesSlide6.xml" Id="R70471011c2194d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2499969fe4c25" /><Relationship Type="http://schemas.openxmlformats.org/officeDocument/2006/relationships/notesSlide" Target="/ppt/notesSlides/notesSlide7.xml" Id="Rc6320f45a4be47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5f64277434718" /><Relationship Type="http://schemas.openxmlformats.org/officeDocument/2006/relationships/notesSlide" Target="/ppt/notesSlides/notesSlide8.xml" Id="R7d9bd418c26142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276456aef4f6b" /><Relationship Type="http://schemas.openxmlformats.org/officeDocument/2006/relationships/notesSlide" Target="/ppt/notesSlides/notesSlide9.xml" Id="R9d0b6879866647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cd4bb30ec4589" /><Relationship Type="http://schemas.openxmlformats.org/officeDocument/2006/relationships/notesSlide" Target="/ppt/notesSlides/notesSlide10.xml" Id="Rc73266c423c24e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64146a56540e7" /><Relationship Type="http://schemas.openxmlformats.org/officeDocument/2006/relationships/notesSlide" Target="/ppt/notesSlides/notesSlide11.xml" Id="Ra182992daeb84d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645597e474fa9" /><Relationship Type="http://schemas.openxmlformats.org/officeDocument/2006/relationships/notesSlide" Target="/ppt/notesSlides/notesSlide12.xml" Id="R0f44efa39b2849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79a6623734719" /><Relationship Type="http://schemas.openxmlformats.org/officeDocument/2006/relationships/notesSlide" Target="/ppt/notesSlides/notesSlide13.xml" Id="R1cf28564b1ef41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7c82cd0e54aca" /><Relationship Type="http://schemas.openxmlformats.org/officeDocument/2006/relationships/notesSlide" Target="/ppt/notesSlides/notesSlide14.xml" Id="R15afc3a8fa1b49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3e25cec12403b" /><Relationship Type="http://schemas.openxmlformats.org/officeDocument/2006/relationships/notesSlide" Target="/ppt/notesSlides/notesSlide15.xml" Id="R415704263ed34ca7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등장률</c:v>
          </c:tx>
          <c:spPr>
            <a:solidFill xmlns:a="http://schemas.openxmlformats.org/drawingml/2006/main">
              <a:srgbClr val="08080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컨설팅</c:v>
              </c:pt>
              <c:pt idx="1">
                <c:v>전시·해외</c:v>
              </c:pt>
              <c:pt idx="2">
                <c:v>마케팅</c:v>
              </c:pt>
              <c:pt idx="3">
                <c:v>인증·IP</c:v>
              </c:pt>
              <c:pt idx="4">
                <c:v>융자·보증</c:v>
              </c:pt>
              <c:pt idx="5">
                <c:v>자금</c:v>
              </c:pt>
            </c:strLit>
          </c:cat>
          <c:val>
            <c:numLit>
              <c:formatCode>General</c:formatCode>
              <c:ptCount val="6"/>
              <c:pt idx="0">
                <c:v>25.3</c:v>
              </c:pt>
              <c:pt idx="1">
                <c:v>24.1</c:v>
              </c:pt>
              <c:pt idx="2">
                <c:v>23.7</c:v>
              </c:pt>
              <c:pt idx="3">
                <c:v>19.9</c:v>
              </c:pt>
              <c:pt idx="4">
                <c:v>13.9</c:v>
              </c:pt>
              <c:pt idx="5">
                <c:v>10.1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92675F-BCF3-40CE-B61E-85C7FCCD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EE9C3-4F3E-4F5D-BE20-CBA05707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905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5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공고에서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5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기회 데이터로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D25DC-C8FC-4EA5-A8CD-D475FD58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43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지원사업 검색을 넘어, 회사별 판단과 실행까지 연결합니다.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61E5E-38E7-464B-AAF4-BBCBA096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F2A0E-FD25-4D69-B51C-7514B380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6F446-C7A8-44C5-B119-21A4CEF5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지원 가능성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789AD-9B02-45EF-A61D-646BFC82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받을 수 있는 조건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AFE37-78DF-4C88-BD6C-0EA87442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5F3BF-3814-4320-95B1-0BEC7D09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101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1720D-901D-4BC8-ADBB-C1E3E481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8165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지원 내용 분류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584C4-0DA4-40AC-8589-4CADC83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886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자금·판로·교육·인증까지 정리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B67B2-C945-41E9-A848-43D9D2D7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A19B5-8777-4A40-BAA8-20196AC2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01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660EC-1531-4FE0-80D8-88F3DDD7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8165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추천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D26A7-A3A3-45E7-9BF8-F9B98393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86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바로 추천 · 확인 필요 · 제외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C33EC-C3E3-4C98-9C22-E619EA9E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AB58DA-7694-4F21-AAC5-8A28AA56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NOTEN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CUNOTE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68E33-DD5A-441A-B68B-A679FF7B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436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D9D9D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External 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9D651-FEAC-418D-AB4C-84AAE6A8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 | 2026-06-28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73D5E3-93BA-446E-8449-6F3643AE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581964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85F3B0-91EA-4974-92FC-AA9251D3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MARKET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B1740-7426-4A17-8207-92505FE0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공고 과잉,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판단 병목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B3DBF-7646-4DB3-8A46-0F69FBCC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공고 수보다 중요한 것은 자격·혜택·준비 정보가 바로 비교 가능한 형태로 정리되어 있는가입니다.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5418C-ED63-43D2-9E44-27004B4F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EA941-D2EB-401F-B2B9-4697B790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FACA6-D1DE-41AF-82E4-97BC92DE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448BF-B538-4B88-9106-85B5857E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1DF4E-86F7-4CCA-A648-026CDC09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1,588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746EB-AAD7-4DE6-9D45-C5EAC619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기업마당 활성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65CA5-3223-4973-A2BB-0B72565D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2114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본문과 첨부에 조건이 흩어져 있어 사람이 다시 읽어야 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003AD-8C65-437E-BF28-47C70077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DEF14-4561-493F-9DF7-85171D7F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050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304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09BC8-2633-4DA8-8EFE-E336C41B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908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K-Startup 접수 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CB637-CD8F-4866-9C7B-726C443C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52800"/>
            <a:ext cx="2114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 특화 공고지만 회사별 적합 여부는 별도 판단이 필요합니다.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287E5-751C-4757-8AB7-BD20601A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131125-4565-44D2-A1F3-FBA02527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29K+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A120B-3838-41DB-BF8F-4156DB41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908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K-Startup 누적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8B021-9FE5-41D8-9F48-FDB762DF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2114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마감, 지역, 대상, 분야가 시간에 따라 계속 바뀝니다.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52B12-187C-4D90-B9F7-453A373B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590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4D4FA-A7BA-4BD7-8C96-AAE1F11A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050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1,900+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532EF6-F840-4244-8285-4DBA627B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908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현재 열린 공고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D1AC5-DFE0-4D21-A3CB-0DDB0EFF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52800"/>
            <a:ext cx="2133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소스가 늘수록 중복과 마감 관리가 추천 품질을 좌우합니다.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0ED547-4C6F-4314-8669-D48A39C8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창업노트의 출발점은 공고 검색이 아니라, 공고를 회사가 바로 판단할 수 있는 데이터로 바꾸는 것입니다.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74ED98-0645-4269-A410-A3F4D189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이 전환이 되어야 추천, 설명, 신청 준비, 결과 기록이 하나의 서비스 경험으로 이어집니다.</a:t>
            </a:r>
          </a:p>
        </p:txBody>
      </p:sp>
    </p:spTree>
    <p:extLst>
      <p:ext uri="{BB962C8B-B14F-4D97-AF65-F5344CB8AC3E}">
        <p14:creationId xmlns:p14="http://schemas.microsoft.com/office/powerpoint/2010/main" val="1746241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5FE81E-C6D3-4611-BB5D-D6455657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DATA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AB9DB-F350-41B9-A74B-D74DC62C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원문 공고에서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세 가지 판단 정보로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76245-1439-430B-B114-2FF10ABB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원문을 그대로 저장하는 수준을 넘어, 받을 수 있는 조건·받을 지원·준비할 일을 서비스에서 바로 쓰는 정보로 바꿉니다.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1A549-B023-436B-BD6A-1C20A3B9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081EC-155B-480E-A9D3-94CCAA00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7696C-A385-4C72-AA96-35188D39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4A00-464A-4378-9A86-A9672F85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952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C3F80-4823-4472-99F7-39D33ACD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F1F6F-6564-4A3B-B878-2FC400A7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지원 가능성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89268-1108-4133-9935-9E4CC369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받을 수 있는 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F38F8-E74A-4C77-A6BD-5986D80B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지역, 업력, 연령, 업종, 기업 규모, 제외 대상 등 회사 프로필과 직접 비교되는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BBF0B-C7E0-48B0-84EE-56688A8E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33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33C23-0FA1-4DC4-9B54-E3DE734A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14550"/>
            <a:ext cx="2952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4236C-A2EC-46C2-83D2-A40F3FDE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431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6C77E-1A85-416C-A1D3-C904B6FF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지원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D1E3DD-974A-47E8-B85B-0A4AAA82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받을 수 있는 지원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A32830-7DA0-4F60-8C75-2F2AA9F0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3380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지원금뿐 아니라 융자, 교육, 컨설팅, 판로, 인증, 공간, 네트워크를 지원 내용별로 분리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915BE-3B0F-433A-8E51-54E16D7A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33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883AA9-C840-42FF-9F0E-B3DAE6E6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2933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CDAA6D-34AB-4EB4-B2F4-43482EBB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431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D6FAB3-84DE-41E4-80E0-40319650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신청 준비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8FDBCE-12D6-49E8-AFEC-C302956C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지금 준비할 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F68413-79B1-4811-B1C2-99EAF069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마감, 제출처, 필요 서류, 링크, 담당기관, 원문 첨부를 실행 가능한 준비 정보로 정리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91C445-878F-4A59-BDC4-915EFA2D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IR 메시지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363106-4669-4FBE-AE15-B6D0445E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673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이 세 가지가 분리되면 “받을 수 있는가”, “받으면 무엇이 좋은가”, “지금 무엇을 해야 하는가”를 각각 계산할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1687593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3A0BDD-3AA0-4255-B0EA-71C55C10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F3753-F003-4946-BC79-65B6C4D2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공고를 읽는 기준: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받을 수 있는 조건과 지원 내용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B3FB8-316F-4880-8D50-BA990441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컨설턴트가 실제 공고를 검토할 때 보는 기준으로 정리했습니다.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06761-F688-489D-9C3F-84C762DD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E0A1B-3901-4DBD-A512-1A341782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3E3D1-84D8-468A-9A08-347C50DF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5612A-31E2-4AD1-9F65-06A91AF4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429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973D6-55FF-48DF-92E6-6B7D6EA9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5429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82215-7556-47CE-B483-BB8E4F09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14가지 지원 가능성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9A547-B582-4D4E-8BFF-1474AB39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3264F-0D4C-4E45-9A9D-52E3FC77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35785-7D6E-4244-8158-9FF28424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0DF9A-1862-4DCD-B3DC-9AFFC68B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AEB3C-EC33-4BE4-BB0C-C8D7F2EE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1EAF5-E3C5-44C2-9AB1-FAA552E0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업종·산업 분야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64611-3532-46E8-81A5-310946C4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270DF-FFE7-46EC-805C-2B46870D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기업 규모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650B8-DA56-4DAC-BEDC-5A5CEBD4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1D773-B527-4437-85BA-0193CAE2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매출 규모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C224B3-F720-42FB-BBE2-81E66105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C51E4A-DE90-4ECC-9A4B-17E72F9F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고용 규모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D423CB-85DC-494C-BB9D-EABCFE1C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F8E6C-1FF3-4F1F-B7E4-E38C882D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대표자 연령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79E96E-F7BA-4D20-8F32-949365C9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90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46DA5-6744-47B3-8DCB-209CDB03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337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대표자·기업 특성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119B00-068E-4602-A17B-6DCB15D6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76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1B652B-243B-40F7-8896-CF16D41C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194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인증·자격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7E1309-08D0-4D5B-B9D9-1B0A7855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4AF975-26E8-49F0-BC93-D926CB12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052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기존 선정 이력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E6AB1E-2516-475B-8E46-4984CBCE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48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E45876-BFA0-441B-B75E-EF5A1305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909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지식재산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0FDE46-6FB7-4FF1-98E5-592896CD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33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CF65E4-5153-4394-ABCB-1BE8DE0B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767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대상 유형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F8004F-E575-4127-BB3D-954FFFCE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19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2883EB-E110-49AD-9D1C-0B50D75A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624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영업 상태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9EF1E0-2173-41AF-8622-BA6628D8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05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78AF71-E4E3-4389-9BBB-70EF1221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482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추가 확인 사항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391380-3A90-43A2-8571-2FF2674C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42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공고의 필수·우대·배제 조건을 회사 프로필과 비교하기 위한 기준입니다.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540063-1AB3-481C-B57C-5C121F92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7가지 지원 내용 분류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7B99EB-626E-499F-A526-1D113151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07E546-0593-43EB-A336-7501C7E9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사업화 자금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6D8772-DAC5-463F-B2E8-19BB73AB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현금성 보조, 바우처, 사업비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73048E-33B0-4015-BBE9-E9F63D01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67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584450-FAAF-4E1F-B2C3-C814B7DB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99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융자·보증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85AE30-D6ED-45CB-8FCA-311C500A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99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저리 융자, 보증, 금융 연계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04DF9E-166A-40C4-BAB9-0B1D89F2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EB63FA-B120-4DA1-BF3D-CB01CF0E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교육·컨설팅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51C6A8-FD34-4229-8729-E67B0AD1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052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멘토링, 진단, 전문 컨설팅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55B880-6BD2-455F-AFF2-1800F78E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880086-992E-467C-8663-70486110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004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공간·장비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A2E21A-F758-426F-A3A6-04D56A89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004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입주 공간, 테스트베드, 장비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A05B81-D453-4F74-AEA8-F33F25D3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52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CA3CA3-CE9E-42AC-A5F3-90A24851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판로·해외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15443F-5BC1-4DDA-BA8E-CD8770CA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95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전시, 수출, 마케팅, 납품처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082D5C-98E3-4BA4-B901-F8E81151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8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504ED1-30FC-4C52-A20E-E13CB1B8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910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인증·특허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F1CD22A-4B2E-4536-9BC3-CC636837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910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시험, 인증, IP 확보 지원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AD42B7-BC3D-46F2-BA69-E287F287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6ED301-DDCF-4723-9E05-6E600878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863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네트워크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A2F448C-C03A-420B-B67C-610AC09B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863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파트너, 투자자, 협업 연결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C782D5-D35E-4901-B06E-8C1C75CA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768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지원 내용은 단순 금액이 아니라, 회사가 얻는 성장 자원을 비교하기 위한 분류입니다.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027A07-0A27-41A2-9ABC-EC710296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이 기준으로 공고를 정리하면, 추천 이유와 다음 행동이 비전문가에게도 바로 이해됩니다.</a:t>
            </a:r>
          </a:p>
        </p:txBody>
      </p:sp>
    </p:spTree>
    <p:extLst>
      <p:ext uri="{BB962C8B-B14F-4D97-AF65-F5344CB8AC3E}">
        <p14:creationId xmlns:p14="http://schemas.microsoft.com/office/powerpoint/2010/main" val="1107393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D25464-6388-4C4B-9305-5342CB8C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BENEFIT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EAD0A-988A-447C-893A-57565BE1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지원금 너머의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성장 자원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75FFE-7838-4BEC-A97C-02401B31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공고를 지원 내용별로 쪼개면 사용자는 금액 외에도 판로, 인증, 교육, 공간, 네트워크 가치를 비교할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7ADD1-DD26-47C2-A704-0A392915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06083-329C-4DA8-8B27-CF691FFA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1FA9E-21FD-4FDC-B8C9-2BB69A4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55AA6-E67F-48F8-9895-31D0DD81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6858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781050" y="2400300"/>
          <a:ext xmlns:a="http://schemas.openxmlformats.org/drawingml/2006/main" cx="6096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4039b711714564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A5330-94B5-47E5-8920-49AF89A8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상위 등장률: 컨설팅 25.3% · 전시/해외 24.1% · 마케팅 23.7% · 인증/IP 19.9% · 자금 10.1%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64D09-4242-4436-9E89-40741385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524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추천의 기준은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22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“얼마를 주는가”에서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22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“무엇을 성장시킬 수 있는가”로 이동합니다.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11C10-6388-40E4-8C65-E47A3F36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3F885-A42D-4EF6-B821-B867824C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3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자금과 융자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1CBBD-1C04-45AA-8AF5-9B568E4A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19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9BEF6-AA04-482F-9C30-35722003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62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판로와 해외 진출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CB43F-EE50-4CD4-9FCE-7C83069E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0523F-880B-4526-9319-E3E7D657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인증과 지식재산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9F66B-912E-452D-9C2B-D05F6AA8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67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DE0B4-5D94-4124-B890-7C9901C4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10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교육과 컨설팅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25556-6681-4451-8EE7-E762055B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91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C87107-2C63-4B2C-8C6D-1E9C0293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334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공간과 네트워크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A023D-1B24-46A9-BC58-FCC2FB14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8102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금액 미상 공고도 혜택 구조를 알면 비교 가능한 기회가 됩니다.</a:t>
            </a:r>
          </a:p>
        </p:txBody>
      </p:sp>
    </p:spTree>
    <p:extLst>
      <p:ext uri="{BB962C8B-B14F-4D97-AF65-F5344CB8AC3E}">
        <p14:creationId xmlns:p14="http://schemas.microsoft.com/office/powerpoint/2010/main" val="16672021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B5D96D-1837-4462-AC79-53FAD7AB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AWS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7E69D-706E-4339-A0CC-C1C4A12C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공공영역 대응을 위한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AWS 운영 아키텍처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AB4ED-958A-45B4-AE7D-F711E3E6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CloudFront와 WAF를 전면에 두고, ALB·ECS·RDS·S3·EFS는 VPC 안에서 역할별로 분리합니다.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E9487-D038-44B9-B851-7280ABDE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209F1-45B0-44F4-A5D3-24C2FB6C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59010-5619-45C0-BF01-B3B2439D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8E7DA-E194-4AA8-A6CE-9B4088BE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7621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77F89-C119-4215-9908-64C9612E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2095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B74CD-D116-41CF-A5A7-AA3C52D6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95500"/>
            <a:ext cx="40481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422BC-79CC-4CF3-A40B-B81E111B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95500"/>
            <a:ext cx="27908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CDF7C-272E-4818-A53D-7A71B586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접속 보호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A2CBE-D7AE-4DBE-88C9-B992420B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47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공개 영역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AA3AF-2042-48A5-B87D-61881313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47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사설 운영 영역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1F6CD-483B-41C6-A087-5550A43A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47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데이터 저장 영역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54504-A1AE-4441-99EC-B949BA6A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A6871-7BDA-4EE8-AB53-F7FC8A35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Route 53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C5AEF-E6D3-4565-9BB8-513B8A59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028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DNS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100A7-4D6F-41F2-9E6F-4745B065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FEFB7-E410-4817-8678-0D3F7A36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CloudFront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83B2C9-BD7A-43F0-B6E9-745361A2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정적 캐시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TLS 종단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1D1A9-B8AD-4917-93C1-162A8AD0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74DEF-00F3-49B5-B6CA-D101651D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AWS WAF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4E7084-8BB2-4CF7-9159-C954A3C7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관리형 룰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rate limit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31BC66-EF13-4CBD-AB61-12CD705E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5280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9E2FFE-C10C-4EEE-B6EA-97626EA7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480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ALB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20D8B5-D5D0-4FC4-96B2-77704370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957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Web/API 연결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EA9CA-223E-4A44-A05B-418F6A6F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386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91234E-BC0C-4084-AA9B-AA3F2511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767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54AC9D-7C00-4640-B18F-1C4C9BD3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8147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HTTPS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54E510-EF0E-4EB0-ABA5-9FF422A4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52700"/>
            <a:ext cx="1466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3FD283-C280-4858-8FE8-1CBD6522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479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ECS Service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9FAED1-980B-46AF-83CE-BB8B79B1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95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Web/BFF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App API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30BCF9-8220-4101-A942-8AED8A83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52700"/>
            <a:ext cx="1466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4C8452-949B-4598-AFE9-956360E7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479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ECS Service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8D5DEE-ECBE-43DE-94A2-298FFDB4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95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Admin/API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Auth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6CA04D-9D08-4C3C-A4EE-0C3B5AEE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957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00B232-AAD8-4C46-8002-909B602C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337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9685F8-74D6-42AD-8CDE-F7D22008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385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연결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13AC1A-793B-44C2-852A-86163526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00500"/>
            <a:ext cx="1466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EE6400-BF60-48FC-8152-7672A9C1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957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ECS Tasks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906F79-AB5F-449F-B7C2-C4C9323F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434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수집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변환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CD7C22-1F61-4F6D-AC5F-371FFDA0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1466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6BC0B2-1B98-4B3B-B152-442922DC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957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ECS Tasks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D485C4-6E81-4083-9033-0AFD0F92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434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추출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추천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B0B9E4-E89A-46AB-87C8-F00CA75D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68ABF0-69E2-496D-A15D-DBBFA009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RDS PostgreSQL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40DA70-BEC3-43AC-94A1-120DD8BF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Multi-AZ · PITR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공고·매칭 상태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ADE061-2958-4D4C-B5D7-9B5522F4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956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15313A-06BE-47B5-9CF1-CDCD439F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90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Amazon S3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7DCABD-E88E-4507-9A67-1F3B2487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385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SSE-KMS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원문·첨부·산출물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8AD2D9-1C8A-4029-BEB6-0D7FEDA9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338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BFBFF5-8AB2-4403-9C2E-8E5E1B5D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291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Amazon EFS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625824-3E01-4A49-AC72-86B086B7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767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전송/저장 암호화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작업 공유 저장소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A8EFE8-3C48-4422-B4F1-6DBD1487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C1E158-D321-4AB4-BF05-34F897CD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03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2AD0F36-A135-428E-B39E-A3648DE0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050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SQL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446BAA-1973-4230-9DED-1730CB6A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2CB005-397C-4AB2-99BF-6C027A51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38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03477B-DA0F-4643-84A3-F15783ED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432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object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BAAE19-304D-456B-9745-D372E068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382F80-A9D2-4EAB-A01C-82054D84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767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5E6B09-735F-42A5-AC74-D56C0665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814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1D8836-4356-4DE1-B400-7CF266F6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81625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4E5E410-2673-4525-A5E5-C0F0E808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483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EventBridge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8B267AA-1308-401D-B356-7B26CDEA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81625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400D0D6-307D-4829-AE00-631128D1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483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CloudWatch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B63746-5378-4328-A56F-278C40ED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720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71B2CE6-1B0D-4F19-A936-FCD30844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38725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KMS · Secrets Manager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A5894F3-D4C0-4432-B078-D5F3F32C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CloudFront/WAF, private subnet, KMS 암호화, 관측·키·비밀 관리를 기본 운영 단위로 묶어 신뢰 기준을 맞춥니다.</a:t>
            </a:r>
          </a:p>
        </p:txBody>
      </p:sp>
    </p:spTree>
    <p:extLst>
      <p:ext uri="{BB962C8B-B14F-4D97-AF65-F5344CB8AC3E}">
        <p14:creationId xmlns:p14="http://schemas.microsoft.com/office/powerpoint/2010/main" val="10275382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1617F1-32EE-489C-8145-EFAB7F81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SECURITY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79139-62F4-4FC9-8D12-B73F370E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공공영역 대응 개인정보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보호체계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64CF9-FB72-44F5-BF09-227BBC12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개인정보 안전성 확보조치와 ISMS-P 수준의 관리·기술·운영 통제를 제품 운영 기준으로 삼습니다.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E56A4-700B-4373-9160-CE1F00F7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C246C-F768-4F16-871C-B26F9FFD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169A8-C487-4C75-B49B-CAFE373B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FF640-925B-43A5-B5FE-FB4EE84F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381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B6858-1821-41FA-980D-8D9F2C2B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962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GOVERNANCE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C21CA-F965-4A69-8BFD-C0A00355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관리 체계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30AB6-1090-44E3-8DB1-AE1590A1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9622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보호책임자, 관리계획, 위험평가, 위탁관리, 보관·파기 정책을 운영 기준으로 둡니다.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FD463-5922-48B9-8551-38A5999A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381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B9754-6459-4232-B39A-E7EC03B0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2962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기술 보호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33BBF-96AD-4BBA-9C02-A67369FE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기술 보호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CC08A-D43D-41A7-8C93-2A90F68C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9622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TLS, KMS 기반 저장 암호화, 민감 컬럼 암호화, 최소권한, MFA, 사설망 격리를 적용합니다.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0A440-BCF3-44AF-B4A8-B2A0A61B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33909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19938-572B-48E4-B0C5-54BBD0EE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6695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운영 관리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67D70D-4D74-40CD-A538-0EDA58B7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27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운영 통제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280E67-5338-40C5-8853-2DAF851C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28950"/>
            <a:ext cx="29718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접속기록, 관리자 작업 이력, 다운로드 추적, 이상징후 알림, 사고 대응 절차를 남깁니다.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BDCB0-1419-483C-BACB-FB26AA19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DFE20-20B3-491F-BC3B-04A6A150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암호화 레벨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491615-369E-4193-AAE4-F3D23842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전송 TLS 1.2 이상 · 저장 AES-256/KMS · refresh token 해시 저장 · 고위험 필드 컬럼 단위 암호화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C73C07-8C13-4FB6-96DF-3382C237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개인정보는 수집 목적, 동의, 보관기간, 열람·삭제·철회 권리까지 하나의 운영 흐름으로 관리합니다.</a:t>
            </a:r>
          </a:p>
        </p:txBody>
      </p:sp>
    </p:spTree>
    <p:extLst>
      <p:ext uri="{BB962C8B-B14F-4D97-AF65-F5344CB8AC3E}">
        <p14:creationId xmlns:p14="http://schemas.microsoft.com/office/powerpoint/2010/main" val="11293575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DD4162-78D7-4A8C-98BD-9A0FCE64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DATA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9C9BF-EEDA-44CD-8ACA-F032A2E0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수집부터 반영까지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재사용되는 공고 정보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1B9B9-6DFD-4310-9D16-32EC8B98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공고 원문은 계속 바뀌지만, 서비스는 정리된 공고 정보만 바라보도록 설계합니다.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03983-841E-4A4E-8769-9DDA0809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485B3-7634-4F59-92B2-7CCF4E09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A3AB1-32C3-463E-8D89-6A36E0B5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0D945-052B-47F1-BC36-0A4CF484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59EE3-66D9-4B90-9B95-974E416B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84D54-7065-4CF2-A525-CE4D391D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수집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B587C-74B1-4136-B033-62496897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공고 본문, 상세 페이지, 첨부 문서를 현재 상태와 함께 가져옵니다.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6FD08-0D27-411F-80DE-4DC91DC4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14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49C73-1A0B-4C4B-8F2E-59F03828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6A6AE-C098-4970-B595-975D8DE8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A4B6E-2812-42E3-8F24-D3474D9E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변환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7DABD-1F39-490D-AB17-28F03665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04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문서와 표를 보존해 사람이 검토 가능한 중간 산출물로 바꿉니다.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89E39-73DD-4777-A885-DF910331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14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A1263-F1BB-4E0E-8292-E2E169F2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B222A-DAA4-4964-AC66-F9A1D76F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72BB20-BB22-404C-B467-99F35931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항목별 정리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96280A-CEBA-4A9B-BAF2-B7E4CF57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지원 조건, 지원 내용, 신청 정보를 정해진 항목으로 정리합니다.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304F97-F183-4F81-B5BA-A3961EC7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6981A2-A1CE-4AC3-9B1A-81FC39A3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881BA-EB1A-4094-8CD9-48F784F7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BA0649-6766-4AD4-9A51-810B25BB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서비스 반영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818EBD-C066-46E7-82CF-33494212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004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중복과 마감 상태를 정리해 서비스가 읽는 공고 정보로 반영합니다.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710111-27AC-4094-A742-809DDB69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운영 원칙: 서비스 화면과 추천 흐름은 원문이 아니라 검증된 공고 정보만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7760327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7A5752-2E96-4E89-A9DB-2E125B2F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MATCHING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A58CC-C0A6-49A0-A244-E3A66488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조건 비교 기반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추천 로직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36B04-DE25-467B-8DB9-81E847BB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공고를 읽는 과정은 유연하게, 추천 결과는 재현 가능하게 설계했습니다.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DF9CA-F898-4C91-AE6F-EBE29754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ECC43-5531-4158-90B8-C0DBAF0C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13DCD-44CF-47FF-95B9-52D335B9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8038B-D609-4D59-B784-3455EC5B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BB962-B0ED-4479-8AE7-CA90E0DA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5C1B7-3C3E-4306-85FE-1D11282D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EE4AE-430C-4E73-9CE5-9ACBBEA3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공고 조건 정리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61042-CEC5-4D71-9717-6248119E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공고마다 필수, 제외, 우대, 신청 조건을 같은 기준으로 정리합니다.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4BEC7-16A2-474F-9C6F-CB5557A9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003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추천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1273E-50C5-4216-82E0-99A70919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2895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필수 조건 불일치 → 제외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불일치 없음 + 미확인 → 확인 필요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모두 충족 → 바로 추천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6DEB8-C892-4AA3-AA5A-83064DE8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이유가 보이는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7F6D6-F101-472F-B7F6-9126BFB4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왜 추천됐는지, 무엇이 부족한지, 어떤 입력이 다음 판단을 바꾸는지 함께 반환합니다.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E7E4C-02C3-404B-ACD6-50BF6FC6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핵심 설계: 모르는 조건은 탈락시키지 않고 확인 필요로 남깁니다. 이 보수적 판단이 거짓 탈락을 줄입니다.</a:t>
            </a:r>
          </a:p>
        </p:txBody>
      </p:sp>
    </p:spTree>
    <p:extLst>
      <p:ext uri="{BB962C8B-B14F-4D97-AF65-F5344CB8AC3E}">
        <p14:creationId xmlns:p14="http://schemas.microsoft.com/office/powerpoint/2010/main" val="16537945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8E7AB2-64CB-4C3B-A097-AA9DD97E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CF72E-01EA-4661-94CD-688F4240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회사별 추천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처리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8ED49-2B6E-4AAA-96D7-35E3FB1E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사용자 요청 시에는 정리된 공고 정보와 추천 판단 기준만 사용해 빠르게 결과와 다음 행동을 반환합니다.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F5807-50B3-48D9-BB8E-0216C741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F8A33-C25D-4E28-9FA8-7421E019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A9803-513C-478C-BF64-89A18B49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F8475-D25B-43F4-A587-0BB6A1DC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A3F36-A9AB-4FB8-9086-2E916E29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사용자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97A91-137C-44CA-B8D2-32968367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F90A5-1B85-4B43-88BB-074CAD27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서비스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52768-FDC6-4661-BBC6-239E8D91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E97D9-B599-4434-B7BA-D53B5B56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후보 공고 선별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6B91B-CB9D-4BED-ACB5-64101264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91B97-9A0E-4D3A-B908-F8A2D1CC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조건 판단 엔진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F57B8-8A83-44D0-89E3-57943BEA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B5C92-C868-4EB4-A210-5EE53CF0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0772DD-626D-43E7-B6DE-7C741EE2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DA9609-985C-4CAB-A6C6-C6870B47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추천 화면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1BA25-7E48-4AD0-8A25-D75CEBAB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A2104-419C-4288-AAA3-5E63EBBC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26B210-9FB2-44DB-84CA-6C30A2FB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194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사용자 → 서비스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094FF7-A244-4ED2-97A5-73487C53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908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1DC211-EC9E-41DE-BCEB-357E1734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194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회사 프로필 기준 추천 요청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78B409-AB78-4521-A99E-E4206660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EE374D-446A-4121-B75A-11B6C727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AC2249-1350-43A1-B8A5-53CAEFA6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19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서비스 API → 후보 공고 선별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19F89A-3C6E-453B-A13C-E4B6A15D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90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5D26D9-518E-416E-A930-A7B79280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열린 공고와 사전 색인으로 후보를 축소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FF840F-2B43-49A1-828C-A77680F7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E7038D-24BB-49B7-8902-D482A73F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0FA92F-4E25-4C87-BF68-363B34BB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19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후보 공고 선별 → 조건 판단 엔진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8E31C0-6DA4-4A89-B036-91695F2A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590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4F6082-7E63-4E26-83AD-75437FDC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후보 공고의 기준별 조건을 불러옴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CB6FE7-319D-40FA-A378-D7CF281B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9DA693-3C44-4D16-AEE5-5539C0D7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F8DA41-8D54-446B-BD70-B9CDF6A8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95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조건 판단 엔진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02A744-11E4-45C4-83D4-8B000C33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90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6012CF-9A6A-45E4-95F5-631EF601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195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조건별 충족, 불충족, 미확인을 평가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BA0CE2-1D39-40A8-98A4-D7F455C6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B477B5-DE2E-46AC-B645-7E7A0219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7D2408-B92F-4BEB-803F-C309033C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19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조건 판단 엔진 → DB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9405A6-CCD4-48F2-9475-B8ABE250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910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1484ED-A6C6-408A-B051-1D474F27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96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추천 결과, 점수, 설명 기록 저장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07E682-9121-473A-975E-20E89204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5FBC76-D2E0-4515-8DD1-EFFC5B22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1241B4-87D1-4485-846D-F4B01538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9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DB → 추천 화면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AB6F5B-1566-4364-BAA3-FB1B6DED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910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40A6D6-1F2D-46E5-B8C4-EA75C454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19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확인 질문과 신청 준비 행동 구성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57B411-D244-4391-A4DE-5524FD97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C24449-7672-4B01-B414-CB5A474F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291ED6-E8BA-4BA9-8B2F-5F4B702A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19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추천 화면 → 사용자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8A624B-55A5-4286-8E0A-E99DC309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911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A9DD61-5F3F-4297-B5DC-DE125AB8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19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이유가 보이는 추천 카드 반환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2F6277-CD65-40E9-AC52-0E7607FD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84DA61-A719-4608-8A0D-711199A7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원칙: 무거운 읽기와 변환은 미리 끝내고, 사용자 응답은 저장된 공고 정보로 빠르게 처리합니다.</a:t>
            </a:r>
          </a:p>
        </p:txBody>
      </p:sp>
    </p:spTree>
    <p:extLst>
      <p:ext uri="{BB962C8B-B14F-4D97-AF65-F5344CB8AC3E}">
        <p14:creationId xmlns:p14="http://schemas.microsoft.com/office/powerpoint/2010/main" val="6633454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1B1E18-09EA-4B1D-8FF4-6C9A7C7B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7BA07-322E-4D92-BDE3-B1F1F07B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실데이터 기반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엔드투엔드 매칭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64A63-82B1-4AE2-A109-39DAC17F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가상 기업 하나를 열린 공고 표본과 매칭해 바로 추천, 확인 필요, 제외로 분류했습니다.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5C040-3562-4371-89E2-8397F09B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8A55B-9C8F-4FD4-87DB-643997D6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202C9-E282-47E9-848A-135302BA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E09E3-02B6-49DD-B50D-A8FA30D6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FCC3E-A76F-497F-9D91-4C70C60D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90750"/>
            <a:ext cx="466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C6BEB-F19F-406A-AD6D-F548C251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3390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BA8F4-88F1-4BEA-A050-B3992B5E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바로 추천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0F983-1195-44D1-9E5C-FA193C25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384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확인 필요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6FF12-456A-4E04-96DD-BD12277C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제외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64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8BC85-7C00-4693-ACFA-FF500608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62DBD-1DCD-4A56-AC40-7C78E567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215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64B75-93CD-4AC5-B2B2-8793401C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접수 중 공고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F3561-7894-4498-8DCF-C366AC0A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추천 대상 열린 공고 표본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7A671-6BB0-444E-81BC-B6508331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F9AF3-A35B-43F4-985A-8B5F30CB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815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63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24114-B2DD-4111-8FF8-89B63A30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339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바로 추천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D05995-E177-4BF1-8000-FD5FB33A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578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필수 조건 통과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69F86-614C-4711-8F30-C3111510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55BB0E-E88E-4B3A-806E-E7F07375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815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88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CD924-15C8-47E4-9B9A-A57211F4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확인 필요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1DEA18-0719-4D04-A1C9-FE818531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578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확인할 회사 정보가 남은 상태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666509-6885-4EA9-9E60-D2DA484F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91000"/>
            <a:ext cx="2590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05AA2C-29E5-4C08-999B-21B1F363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8150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64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4A8CED-C18C-4FBB-AAE2-2359E763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339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제외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F759DB-498C-416F-BCF0-E0F47359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578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지역, 업력, 대상 등 명확한 제외 사유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99A2DD-BAA5-49E7-BC4B-E4A466CB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확인 필요는 약점이 아니라 신뢰 설계입니다. 모르는 조건을 제외로 단정하지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7280331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FF8099-0EC1-4964-9D4A-91EB65AB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ACTION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2E38C-42A4-4CCE-B859-26C388B4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추천 이후의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신청 준비 동선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401F7-B454-4628-8F89-165186AD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창업노트는 매칭 이후 확인이 필요한 부분을 줄이고, 지원 준비와 초안 작성까지 이어지는 행동 큐를 만듭니다.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0E20B-B529-4EB1-99AB-C40B49C3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7D39B-00D4-4908-961A-00442EC0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46399-6122-44B8-801E-D1024609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E5779-FFCB-49E5-B66C-33A87761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381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AA318-2421-4D84-972B-5F819EFC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962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NEXT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9663B-8BBA-486C-8D69-884332A0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다음 질문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E1B99-AC91-4C4C-96F0-211D0F70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9622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확인 필요 공고를 가장 많이 확정하거나 제외할 수 있는 회사 정보를 우선 묻습니다.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1A0F4-784F-4D65-8DC1-F106486F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381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BEA9F-E83A-442C-9105-7BC9C547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2962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ACTION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4DAE9-4608-4844-B1F5-0FA9DCF6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액션 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A4C13-3F2D-468B-9628-AD8322A8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9622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마감, 혜택 가치, 적합도, 준비 난도를 합산해 지금 해야 할 일을 정렬합니다.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E05E48-92E6-4252-8185-E812461C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3390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07EB6F-3C0B-4B90-A633-20F642BB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6695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PREPARATION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036FF-7DEB-46D1-ABA5-1E065CC2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27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지원 준비 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80317-0F16-4F3B-90E5-A5B452A5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28950"/>
            <a:ext cx="29718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필요 서류를 AI 작성 가능, 발급 필요, 첨부 필요, 원문 확인으로 묶고 초안·검토·완료 상태를 이어줍니다.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78FED-20FE-4265-BCE2-A6223C95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공고 추천 → 조건 확인 → 지원 준비 → 초안 작성/자동채움 → 결과 기록이 연결될수록, 더 좋은 추천을 만드는 자산이 쌓입니다.</a:t>
            </a:r>
          </a:p>
        </p:txBody>
      </p:sp>
    </p:spTree>
    <p:extLst>
      <p:ext uri="{BB962C8B-B14F-4D97-AF65-F5344CB8AC3E}">
        <p14:creationId xmlns:p14="http://schemas.microsoft.com/office/powerpoint/2010/main" val="5810935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D7859E-AE21-4BBA-BFCB-82FCD3F2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AI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DF81F-61EB-4BA5-9475-AC99F801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지원 준비에서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초안 자동작성까지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851AC-BECA-46C4-84BB-B81252BE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정규화된 제출서류와 첨부 문맥을 기반으로 필요한 서류, 초안, 자동채움, 문서 내보내기까지 연결합니다.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0D6ED-E472-4ADC-9FCF-30E8124D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A0045-6CC5-45AE-B32E-2A0EDFCD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F8010-EF4B-4590-BD5C-A3B5F5E1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2B975-26C6-4F2C-92AB-5CB7FB25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68B40-079C-4478-AC1E-2BAC842F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E4C7E-F5DD-4166-9161-0899AA9A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지원 준비 체크리스트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DDC1C-DCB0-45D1-9EB4-97A91180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1526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제출서류를 AI 작성 가능, 발급 필요, 첨부 필요, 원문 확인으로 나누고 준비 전부터 완료까지 상태를 관리합니다.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1FF13-4785-456C-8774-26E0A039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1455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9B3C7-75F5-4351-8288-371233A9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860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A8AC6-7481-4191-8EC4-4D76F815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AI 초안 작성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5A9AA-A3CF-42B8-B474-B980852C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21526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신청서, 사업계획서, 제안서, 예산안 등 작성형 문서를 회사 프로필과 공고/첨부 문맥으로 생성합니다.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BEB9D-5768-466A-8791-25E4D85D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1455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F0005-4109-4878-B463-299D3FC8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4BCB7-5489-49BD-B5E9-7F951902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문항 자동채움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744550-126C-40DA-B5F9-762484AC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1526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첨부 문맥에서 문항과 빈칸을 추출하고 값 복사, 요약, 생성, 사용자 질문, 수동 입력으로 채웁니다.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E8514-6A93-4C29-81E3-EE04C86F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14550"/>
            <a:ext cx="2876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B4D1C-4B2C-4F3F-B6B6-7E075414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8600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227B3C-B760-4B91-B425-99A62161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수정·내보내기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26C9DF-6599-4FBD-AF99-E98C9D7D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24574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초안 수정, 섹션 재생성, 검토 완료, 문서 내보내기를 먼저 제공하고 PDF/DOCX로 확장합니다.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2DD560-9CA9-4167-8A03-A3CFCB38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현재 기반: 열린 공고 948건 중 제출서류 정규화 576건, 작성형 문서 514건, 작성형 문서와 첨부 문맥 결합 305건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2FCC5F-B3D3-45E3-93DE-520C1083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초기 제공 범위는 웹 기반 초안과 문서 내보내기 중심, 원본 HWP 직접 편집은 후속 고도화 영역입니다.</a:t>
            </a:r>
          </a:p>
        </p:txBody>
      </p:sp>
    </p:spTree>
    <p:extLst>
      <p:ext uri="{BB962C8B-B14F-4D97-AF65-F5344CB8AC3E}">
        <p14:creationId xmlns:p14="http://schemas.microsoft.com/office/powerpoint/2010/main" val="13735942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EAF2CE-5437-4224-9471-2E8A8110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ASSISTANT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D8F20-8C02-42AD-96BF-22C0C29D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문항 추출과 자동채움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엔진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A5EB7-70A6-4D04-BEFE-82E34B5D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초안 작성은 원문 복제가 아니라 공고 문맥, 회사 프로필, 제출서류 필드, 확인 필요 항목을 분리해 처리하는 흐름입니다.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3E869-D209-441C-8CDA-52ED682F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84C89-47E8-4A99-AA0C-0F12DCC9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3096C-9ECA-4EE4-9FCD-575DBC25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6296E-3D89-4672-A984-F3C1C014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68882-14DF-4EAF-8C87-8ACDB449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35533-3902-4794-8923-2C5190A3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47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문항 추출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963CE-955A-4870-A70C-786013CF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표, 번호 문항, 빈칸, 체크박스에서 필드명, 문항명, 섹션, 필수 여부, 근거 위치를 구조화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68791-5C02-486A-9BE4-4A19AFE1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7645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9D10D-EB39-49FC-8532-EFFC6696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47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5EF3E-B388-402E-9931-D4AE29D8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247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초안 컨텍스트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34988-858D-4D29-8E29-5454A64E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6670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공고, 추천 근거, 제출서류, 첨부 문맥, 회사 프로필을 필요한 범위로 구성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ACDC64-F711-4339-BD0A-AE378C85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09069-5A8E-409F-8DB4-7CFE546F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46082-0357-494C-BBA9-43C3E222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47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채움 전략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21F837-F385-4589-8234-F9216125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값 복사, 요약, 생성, 사용자 질문, 수동 입력으로 자동채움 가능 영역과 확인 영역을 분리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932A46-9AAA-4465-9B4A-95493D8E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582E0-FA11-42F8-8151-225CF7E4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BC0D12-3F92-495B-B62E-A38E357C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초안 생성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B5BD7-EC49-4DCF-A46A-E67C92A0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243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문서 유형별 양식으로 신청서, 사업계획서, 제안서, 예산안 초안을 생성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B696A-8586-4C33-A4A3-44EB6BF6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3380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6C15DC-9452-494C-9D6E-0FFFE377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05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15A70E-D4E1-45C6-A69B-5C90AB8C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905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검토 장치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6BCAC6-C6C9-4B11-A784-03DBAD61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3243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사용한 회사 정보, 부족한 입력, 가정, 경고, 근거 첨부를 초안과 함께 저장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28094-4322-4EFF-8E3F-1CF50683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3380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48E810-8E24-4FAC-A6DD-5B4BD970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940B56-4EC3-464E-B794-E69B7F1B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이력·내보내기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5110E8-0E34-4ED8-BA72-9B3BEF6E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243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수정, 재생성, 검토 완료 상태, 내보내기 이벤트를 감사 로그와 품질 지표로 축적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A054DD-040C-4273-8D71-7A5AEFDC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안전 기준: 없는 매출·인증·실적은 생성하지 않고 부족한 입력으로 돌립니다. 서명·동의·서약은 사용자 확인 전 완료 처리하지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8133676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AB46C1-CAA4-4231-81A7-3B39C505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IR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3D1F6-C011-4551-A7B5-7687496B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1028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6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창업노트의 해자: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6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공고 데이터베이스를 넘어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6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판단·행동·결과 데이터로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6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이어지는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4ABDF-7EDE-4676-A79A-E708D3BC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33813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A03D2-D408-4C14-86BF-5826797A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공고 정리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234FE-0767-4BE2-A601-75A68EA4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2962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모든 공고를 조건, 지원 내용, 신청 준비 정보로 정리합니다.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3680C-AE0F-4CEC-948C-CC6C12A3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33813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D889B-DD22-435D-889C-381AF14F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862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이유가 보이는 추천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7B2C9-50D5-49A3-878A-A934DFA8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19600"/>
            <a:ext cx="2962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바로 추천, 확인 필요, 제외의 이유를 근거와 함께 남깁니다.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8B298-2935-4263-90C6-9FB91102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76650"/>
            <a:ext cx="33909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AC295-6759-4FC8-8B6E-2B93E128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862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운영 신뢰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D9DBD-BBA5-4A7A-8123-DE651046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19600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AWS 보안 구조와 지원 준비/초안 작성 기능으로 공공영역 신뢰와 실행 가치를 함께 키웁니다.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3CA45-B37A-4AF8-9069-1372337F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비전: 성장 조건, 기회, 신청 실행, 결과 기록을 연결하는 지원사업 데이터 인프라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C5F0B-D246-4DD6-BC37-9B9BBB1D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 | 요약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37378-3B15-4958-8614-469FAA99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61605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2026-06-28T06:14:31.1050000Z</dcterms:created>
  <dcterms:modified xsi:type="dcterms:W3CDTF">2026-06-28T06:14:31.1050000Z</dcterms:modified>
</coreProperties>
</file>