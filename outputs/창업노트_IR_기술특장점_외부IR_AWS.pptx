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8f53d4c3f4260" /><Relationship Type="http://schemas.openxmlformats.org/officeDocument/2006/relationships/extended-properties" Target="/docProps/app.xml" Id="R1ceae7ab1a6347f6" /><Relationship Type="http://schemas.openxmlformats.org/officeDocument/2006/relationships/officeDocument" Target="/ppt/presentation.xml" Id="R0b23603442a849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b97c34d1a648d0"/>
  </p:sldMasterIdLst>
  <p:notesMasterIdLst>
    <p:notesMasterId xmlns:r="http://schemas.openxmlformats.org/officeDocument/2006/relationships" r:id="R924a4a0c226045a5"/>
  </p:notesMasterIdLst>
  <p:sldIdLst>
    <p:sldId xmlns:r="http://schemas.openxmlformats.org/officeDocument/2006/relationships" id="256" r:id="R87e7a123b62943ea"/>
    <p:sldId xmlns:r="http://schemas.openxmlformats.org/officeDocument/2006/relationships" id="257" r:id="Ra88e19bb73914033"/>
    <p:sldId xmlns:r="http://schemas.openxmlformats.org/officeDocument/2006/relationships" id="258" r:id="Rfc7d791d200f40ef"/>
    <p:sldId xmlns:r="http://schemas.openxmlformats.org/officeDocument/2006/relationships" id="259" r:id="Rea24252f4bc44b00"/>
    <p:sldId xmlns:r="http://schemas.openxmlformats.org/officeDocument/2006/relationships" id="260" r:id="Rc2a2dba82e134cc0"/>
    <p:sldId xmlns:r="http://schemas.openxmlformats.org/officeDocument/2006/relationships" id="261" r:id="Rc3afe27b76984e76"/>
    <p:sldId xmlns:r="http://schemas.openxmlformats.org/officeDocument/2006/relationships" id="262" r:id="R5561ecfb4f624431"/>
    <p:sldId xmlns:r="http://schemas.openxmlformats.org/officeDocument/2006/relationships" id="263" r:id="R3ad8ac6b2f76472d"/>
    <p:sldId xmlns:r="http://schemas.openxmlformats.org/officeDocument/2006/relationships" id="264" r:id="R0d4c55b7e9a643a8"/>
    <p:sldId xmlns:r="http://schemas.openxmlformats.org/officeDocument/2006/relationships" id="265" r:id="R211276927b374e1d"/>
    <p:sldId xmlns:r="http://schemas.openxmlformats.org/officeDocument/2006/relationships" id="266" r:id="Rcc88098c11454513"/>
    <p:sldId xmlns:r="http://schemas.openxmlformats.org/officeDocument/2006/relationships" id="267" r:id="Re54d075271cb4e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06cfa3be54bf6" /><Relationship Type="http://schemas.openxmlformats.org/officeDocument/2006/relationships/slideMaster" Target="/ppt/slideMasters/slideMaster1.xml" Id="R2bb97c34d1a648d0" /><Relationship Type="http://schemas.openxmlformats.org/officeDocument/2006/relationships/notesMaster" Target="/ppt/notesMasters/notesMaster1.xml" Id="R924a4a0c226045a5" /><Relationship Type="http://schemas.openxmlformats.org/officeDocument/2006/relationships/presProps" Target="/ppt/presProps.xml" Id="R72ca537176c843d1" /><Relationship Type="http://schemas.openxmlformats.org/officeDocument/2006/relationships/tableStyles" Target="/ppt/tableStyles.xml" Id="R555bd6a38983408d" /><Relationship Type="http://schemas.openxmlformats.org/officeDocument/2006/relationships/slide" Target="/ppt/slides/slide1.xml" Id="R87e7a123b62943ea" /><Relationship Type="http://schemas.openxmlformats.org/officeDocument/2006/relationships/slide" Target="/ppt/slides/slide2.xml" Id="Ra88e19bb73914033" /><Relationship Type="http://schemas.openxmlformats.org/officeDocument/2006/relationships/slide" Target="/ppt/slides/slide3.xml" Id="Rfc7d791d200f40ef" /><Relationship Type="http://schemas.openxmlformats.org/officeDocument/2006/relationships/slide" Target="/ppt/slides/slide4.xml" Id="Rea24252f4bc44b00" /><Relationship Type="http://schemas.openxmlformats.org/officeDocument/2006/relationships/slide" Target="/ppt/slides/slide5.xml" Id="Rc2a2dba82e134cc0" /><Relationship Type="http://schemas.openxmlformats.org/officeDocument/2006/relationships/slide" Target="/ppt/slides/slide6.xml" Id="Rc3afe27b76984e76" /><Relationship Type="http://schemas.openxmlformats.org/officeDocument/2006/relationships/slide" Target="/ppt/slides/slide7.xml" Id="R5561ecfb4f624431" /><Relationship Type="http://schemas.openxmlformats.org/officeDocument/2006/relationships/slide" Target="/ppt/slides/slide8.xml" Id="R3ad8ac6b2f76472d" /><Relationship Type="http://schemas.openxmlformats.org/officeDocument/2006/relationships/slide" Target="/ppt/slides/slide9.xml" Id="R0d4c55b7e9a643a8" /><Relationship Type="http://schemas.openxmlformats.org/officeDocument/2006/relationships/slide" Target="/ppt/slides/slide10.xml" Id="R211276927b374e1d" /><Relationship Type="http://schemas.openxmlformats.org/officeDocument/2006/relationships/slide" Target="/ppt/slides/slide11.xml" Id="Rcc88098c11454513" /><Relationship Type="http://schemas.openxmlformats.org/officeDocument/2006/relationships/slide" Target="/ppt/slides/slide12.xml" Id="Re54d075271cb4e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dee259942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720ce51f9406c" /><Relationship Type="http://schemas.openxmlformats.org/officeDocument/2006/relationships/notesMaster" Target="/ppt/notesMasters/notesMaster1.xml" Id="R330dd49c690d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25fb1d3514427" /><Relationship Type="http://schemas.openxmlformats.org/officeDocument/2006/relationships/notesMaster" Target="/ppt/notesMasters/notesMaster1.xml" Id="Rdae89a5d7e5a4f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f1af6be2f44ba8" /><Relationship Type="http://schemas.openxmlformats.org/officeDocument/2006/relationships/notesMaster" Target="/ppt/notesMasters/notesMaster1.xml" Id="R28650dbcde40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a1c8a5d17487d" /><Relationship Type="http://schemas.openxmlformats.org/officeDocument/2006/relationships/notesMaster" Target="/ppt/notesMasters/notesMaster1.xml" Id="Raffea0eae1274b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d3fae3f3654cb4" /><Relationship Type="http://schemas.openxmlformats.org/officeDocument/2006/relationships/notesMaster" Target="/ppt/notesMasters/notesMaster1.xml" Id="R16406c489f0f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e162e7991b4b80" /><Relationship Type="http://schemas.openxmlformats.org/officeDocument/2006/relationships/notesMaster" Target="/ppt/notesMasters/notesMaster1.xml" Id="R64321a262c0847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69215d5cb44be" /><Relationship Type="http://schemas.openxmlformats.org/officeDocument/2006/relationships/notesMaster" Target="/ppt/notesMasters/notesMaster1.xml" Id="Raa1b992761cc46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88b2a106064e29" /><Relationship Type="http://schemas.openxmlformats.org/officeDocument/2006/relationships/notesMaster" Target="/ppt/notesMasters/notesMaster1.xml" Id="R241a687515d7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79d98d4f364755" /><Relationship Type="http://schemas.openxmlformats.org/officeDocument/2006/relationships/notesMaster" Target="/ppt/notesMasters/notesMaster1.xml" Id="R7fa916478e414b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92dfe1d52b4456" /><Relationship Type="http://schemas.openxmlformats.org/officeDocument/2006/relationships/notesMaster" Target="/ppt/notesMasters/notesMaster1.xml" Id="Rbc3dbf7ea1d046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951dfe2d354c86" /><Relationship Type="http://schemas.openxmlformats.org/officeDocument/2006/relationships/notesMaster" Target="/ppt/notesMasters/notesMaster1.xml" Id="Rbde59cd286914b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4bd668d73f437c" /><Relationship Type="http://schemas.openxmlformats.org/officeDocument/2006/relationships/notesMaster" Target="/ppt/notesMasters/notesMaster1.xml" Id="R5737ca3435b7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7236c97ef46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755af9257471d" /><Relationship Type="http://schemas.openxmlformats.org/officeDocument/2006/relationships/slideLayout" Target="/ppt/slideLayouts/slideLayout1.xml" Id="R37dcbef78ad74a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cbef78ad74a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3aaabf76b4263" /><Relationship Type="http://schemas.openxmlformats.org/officeDocument/2006/relationships/notesSlide" Target="/ppt/notesSlides/notesSlide1.xml" Id="Rec3a768acfef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86d51fe314e65" /><Relationship Type="http://schemas.openxmlformats.org/officeDocument/2006/relationships/notesSlide" Target="/ppt/notesSlides/notesSlide2.xml" Id="R7cf75060926b48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1f7219ac44c24" /><Relationship Type="http://schemas.openxmlformats.org/officeDocument/2006/relationships/notesSlide" Target="/ppt/notesSlides/notesSlide3.xml" Id="Rce4a5dcbf6c443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4dcca6fe4ddc" /><Relationship Type="http://schemas.openxmlformats.org/officeDocument/2006/relationships/chart" Target="/ppt/slides/charts/chart1.xml" Id="R7789defd95934630" /><Relationship Type="http://schemas.openxmlformats.org/officeDocument/2006/relationships/notesSlide" Target="/ppt/notesSlides/notesSlide4.xml" Id="R467257fb915a4a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8adf3ba6e4577" /><Relationship Type="http://schemas.openxmlformats.org/officeDocument/2006/relationships/notesSlide" Target="/ppt/notesSlides/notesSlide5.xml" Id="R14ae215583054e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5533dfbb42bb" /><Relationship Type="http://schemas.openxmlformats.org/officeDocument/2006/relationships/notesSlide" Target="/ppt/notesSlides/notesSlide6.xml" Id="Rd5953d68c5314c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5f83d0d2b4114" /><Relationship Type="http://schemas.openxmlformats.org/officeDocument/2006/relationships/notesSlide" Target="/ppt/notesSlides/notesSlide7.xml" Id="R09d8d7ce31364a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d7b76dd624972" /><Relationship Type="http://schemas.openxmlformats.org/officeDocument/2006/relationships/notesSlide" Target="/ppt/notesSlides/notesSlide8.xml" Id="R48c53a172bcb47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57e72756d454a" /><Relationship Type="http://schemas.openxmlformats.org/officeDocument/2006/relationships/notesSlide" Target="/ppt/notesSlides/notesSlide9.xml" Id="R617e21fb9ac34b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116bd654d47ca" /><Relationship Type="http://schemas.openxmlformats.org/officeDocument/2006/relationships/notesSlide" Target="/ppt/notesSlides/notesSlide10.xml" Id="R1fe5daa59c1e4a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6d38d0df04548" /><Relationship Type="http://schemas.openxmlformats.org/officeDocument/2006/relationships/notesSlide" Target="/ppt/notesSlides/notesSlide11.xml" Id="Rb3eb308ca6ce43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9e9ab375e4bab" /><Relationship Type="http://schemas.openxmlformats.org/officeDocument/2006/relationships/notesSlide" Target="/ppt/notesSlides/notesSlide12.xml" Id="R5d769e9022c0482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등장률</c:v>
          </c:tx>
          <c:spPr>
            <a:solidFill xmlns:a="http://schemas.openxmlformats.org/drawingml/2006/main">
              <a:srgbClr val="05050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컨설팅</c:v>
              </c:pt>
              <c:pt idx="1">
                <c:v>전시·해외</c:v>
              </c:pt>
              <c:pt idx="2">
                <c:v>마케팅</c:v>
              </c:pt>
              <c:pt idx="3">
                <c:v>인증·IP</c:v>
              </c:pt>
              <c:pt idx="4">
                <c:v>융자·보증</c:v>
              </c:pt>
              <c:pt idx="5">
                <c:v>자금</c:v>
              </c:pt>
            </c:strLit>
          </c:cat>
          <c:val>
            <c:numLit>
              <c:formatCode>General</c:formatCode>
              <c:ptCount val="6"/>
              <c:pt idx="0">
                <c:v>25.3</c:v>
              </c:pt>
              <c:pt idx="1">
                <c:v>24.1</c:v>
              </c:pt>
              <c:pt idx="2">
                <c:v>23.7</c:v>
              </c:pt>
              <c:pt idx="3">
                <c:v>19.9</c:v>
              </c:pt>
              <c:pt idx="4">
                <c:v>13.9</c:v>
              </c:pt>
              <c:pt idx="5">
                <c:v>10.1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D571E-B470-401A-B4B6-F8677E2A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창업노트 기술 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DAF9A-B2BF-4E51-9A9E-32BB153C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50505"/>
                </a:solidFill>
              </a:defRPr>
            </a:pPr>
            <a:r>
              <a:rPr sz="4350" b="1">
                <a:solidFill>
                  <a:srgbClr val="050505"/>
                </a:solidFill>
              </a:rPr>
              <a:t>공고를 판정 가능한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50505"/>
                </a:solidFill>
              </a:defRPr>
            </a:pPr>
            <a:r>
              <a:rPr sz="4350" b="1">
                <a:solidFill>
                  <a:srgbClr val="050505"/>
                </a:solidFill>
              </a:rPr>
              <a:t>성장 데이터로 바꾸는 엔진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42336-6511-42C2-92FA-122E2FC3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정부지원사업 표준화 · 설명 가능한 매칭 · AWS 기반 확장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1ED2C-E584-4FC1-94D0-7933686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72F2-84A3-44DD-AD58-8E9A25D3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050505"/>
                </a:solidFill>
              </a:defRPr>
            </a:pPr>
            <a:r>
              <a:rPr sz="3000" b="1">
                <a:solidFill>
                  <a:srgbClr val="05050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8A75-8BD1-48FF-BDB0-881AAB66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자격요건 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DB84-75C4-4B3C-84A0-CC7916E0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회사와 공고를 같은 좌표계로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22B9-018B-4475-93FA-0B0CC26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5E9BA-AA3B-4E1A-8794-E1159E4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292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050505"/>
                </a:solidFill>
              </a:defRPr>
            </a:pPr>
            <a:r>
              <a:rPr sz="3000" b="1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F302D-E489-467E-81EA-9619E2E3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00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혜택 패밀리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593EB-5D1A-43E8-B093-685B234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05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지원금을 넘어 보상 아이템화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F360F-B2CB-45ED-911C-32C2F436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19286-BB96-4502-880E-78FA80F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292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050505"/>
                </a:solidFill>
              </a:defRPr>
            </a:pPr>
            <a:r>
              <a:rPr sz="3000" b="1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678E6-DB82-4CD7-97B0-B460485F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00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판정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4781C-E952-47F0-9C82-85287E24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적격 · 조건부 · 부적격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5025E-7C32-4C60-B868-95B291E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2882C-3C54-41CD-96CE-AA340204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NOTEN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CUNOTE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1B7F5-A803-4A2A-978F-FB6FB82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436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9D9D9"/>
                </a:solidFill>
              </a:defRPr>
            </a:pPr>
            <a:r>
              <a:rPr sz="1200" b="0">
                <a:solidFill>
                  <a:srgbClr val="D9D9D9"/>
                </a:solidFill>
              </a:rPr>
              <a:t>External 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165C2-9C92-4DF7-9B46-BA5C041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5BF6F-4E4F-4742-A90E-36EDAF02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0932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84F2F-3FD3-4003-9778-9BE6D01B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FED26-2E0C-404C-957A-5248F62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공고는 많지만,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판정 가능한 데이터는 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8DD94-EBC3-4D59-A075-6CE9CC79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현재 열린 공고 유니버스는 크지만, 공고 원문·첨부·신청 링크가 각기 다른 형식으로 흩어져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C39C0-66A1-4719-8511-0D0BB9A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4D372-5C92-4E59-8714-974DAB48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DE173-0489-4F8B-8459-5E4482E6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04629-E714-4753-B8FD-2CDD6696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90EA1-48DF-4CBD-B265-7B00324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050505"/>
                </a:solidFill>
              </a:defRPr>
            </a:pPr>
            <a:r>
              <a:rPr sz="3750" b="1">
                <a:solidFill>
                  <a:srgbClr val="050505"/>
                </a:solidFill>
              </a:rPr>
              <a:t>1,588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25E1-3215-46D8-B755-9D2B1B6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기업마당 활성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FBA46-ED39-4BF0-8CEF-C6059F6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본문과 HWP 첨부의 비정형 조건이 핵심 난도.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E998D-8B3A-4F94-92FE-9354AED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81D75-B23F-4801-800D-48419D57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050505"/>
                </a:solidFill>
              </a:defRPr>
            </a:pPr>
            <a:r>
              <a:rPr sz="3750" b="1">
                <a:solidFill>
                  <a:srgbClr val="050505"/>
                </a:solidFill>
              </a:rPr>
              <a:t>304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9AD2A-B8F4-4F99-BF24-0B80CB00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K-Startup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3056C-D0E1-400B-872F-17FDC62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창업 특화 소스. 구조화 필드가 풍부.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962CB-B88F-4447-9342-523E7A0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6EB76-4C75-41FD-A83F-307E304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050505"/>
                </a:solidFill>
              </a:defRPr>
            </a:pPr>
            <a:r>
              <a:rPr sz="3750" b="1">
                <a:solidFill>
                  <a:srgbClr val="050505"/>
                </a:solidFill>
              </a:rPr>
              <a:t>29K+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46100-48A7-409E-924C-17173008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K-Startup 누적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BE1E7-33A0-495F-BA1B-D47D6EF8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누적 공고는 마감 포함. 상태 수명주기가 필요.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FE506-10F4-4EB5-8CF1-F7D5FD23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9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34DB2-A2C8-4403-B201-60625D4A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050505"/>
                </a:solidFill>
              </a:defRPr>
            </a:pPr>
            <a:r>
              <a:rPr sz="3750" b="1">
                <a:solidFill>
                  <a:srgbClr val="050505"/>
                </a:solidFill>
              </a:rPr>
              <a:t>1,900+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BB418-8CC6-449B-9B9A-C2A1B11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활성 유니버스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F9E2E-B76E-4DCD-8547-988002FA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중복 제외 전 기준. 같은 좌표계로 정리해야 개인화 가능.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380F4-490B-4A0A-AF35-E38A9B87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핵심 난제: 사람이 읽는 산문을 회사 데이터와 비교 가능한 계약으로 바꾸는 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0978A-37E2-4989-8405-03370773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HWP 표, 상세 페이지, 외부 폼, 지역/업력/업종 예외가 섞여 있어 단순 검색이나 LLM 답변만으로는 신뢰 가능한 판정이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418316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19920-A55C-4869-B063-6FCDFD9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9BA44-678F-48AA-8257-9CE9954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모든 공고를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하나의 표준 계약으로 환원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B6162-8A24-477E-908E-F99B120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공고와 회사를 같은 좌표계에 올려야 매칭, 설명, 다음 행동을 자동화할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BA512-0AA2-4B59-857D-0E736E6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1E462-BBA4-4260-A2EB-EF69053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24F16-E916-4C49-B549-6B592AA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25BE8-D36E-4691-A01B-68AA730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B5D38-91E1-41B4-AFF0-57A168F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4E0FE-8891-4899-92DB-7FAB581B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933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D443F-519D-43D4-A760-9C02A89C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비정형 원문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03A35-5382-439D-9120-9D97F2A6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공고 본문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HWP 표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상세 페이지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신청 안내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제외대상 문구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9DE13-5E59-4440-B504-E78DA42F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57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300" b="1">
                <a:solidFill>
                  <a:srgbClr val="FF9900"/>
                </a:solidFill>
              </a:defRPr>
            </a:pPr>
            <a:r>
              <a:rPr sz="33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0D97F-D9D7-4764-BFC7-8619D1E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정규화 계약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68FA0-30A5-4745-BADB-E5E3F78C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14개 자격요건 차원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7개 혜택 패밀리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필수 / 우대 / 배제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원문 위치 + 신뢰도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ED131-2641-4633-A60C-4C27A5B6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57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300" b="1">
                <a:solidFill>
                  <a:srgbClr val="FF9900"/>
                </a:solidFill>
              </a:defRPr>
            </a:pPr>
            <a:r>
              <a:rPr sz="33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F9710-6E61-4486-9502-86928B8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서비스 데이터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C8A08-3C45-47CF-AA24-1DAA7480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공고 조건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혜택 아이템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신청 준비 정보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매칭 상태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설명 로그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D1019-9A97-4919-8263-518DF206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IR 메시지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44E61-E8A5-4201-A037-5B113D33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673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창업노트의 기술 핵심은 공고를 보여주는 것이 아니라, 판정 가능한 공통 데이터 모델로 바꾸는 데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40002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BB94AD-3EC3-4B0E-B86F-6D6EAD15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BENEFIT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0B09B-D156-45BE-9429-7A2FC49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지원사업은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지원금만이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200BD-88C3-45A4-9FC1-D4E642E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기업마당 활성 공고 전수 분석에서 비금전 혜택이 자금만큼 자주 등장합니다.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135A9-ED33-4841-AEB8-3A70D6D3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29EC5-A662-4A0C-B268-535174A0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AB805-1783-4CE8-A7A2-C80F5E75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B13B0-7DC7-4DE4-9EBE-001D5B64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81050" y="2400300"/>
          <a:ext xmlns:a="http://schemas.openxmlformats.org/drawingml/2006/main" cx="6096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89defd9593463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C69DA-1347-4CB3-937E-C1C1B7AC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상위 등장률: 컨설팅 25.3% · 전시/해외 24.1% · 마케팅 23.7% · 인증/IP 19.9% · 자금 10.1%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ED378-8F36-4605-8244-876F97C3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52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카드의 보상은 금액 하나가 아니라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돈 + 역량 + 시장 + 공간 + 인증 + 연결로 표현되어야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D2BC5-CCC1-4D58-B6EF-A6D33B44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funding / loan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capability / space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market / certification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9C5DB-DBBA-4325-8920-29A43E5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E1C36-9D1B-4268-8059-B95FEBF0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90808-7709-47D5-A579-5E4AD94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24953-41F1-4176-97C0-5B0A7616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금액 미명시 공고는 '금액 미상, 혜택 N종'으로 정직하게 보여주는 것이 신뢰 설계입니다.</a:t>
            </a:r>
          </a:p>
        </p:txBody>
      </p:sp>
    </p:spTree>
    <p:extLst>
      <p:ext uri="{BB962C8B-B14F-4D97-AF65-F5344CB8AC3E}">
        <p14:creationId xmlns:p14="http://schemas.microsoft.com/office/powerpoint/2010/main" val="1659983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0A326-D304-4C5C-993B-D628B6A0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DC9A1-32F6-43FD-9F64-804EC9FD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AWS 기준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5A109-28AE-4F37-92CE-3AAC2F5B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서비스 경로는 WAF/ALB/ECS로 받고, 정규화 데이터는 RDS와 S3/EFS를 중심으로 분리합니다.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74AC8-501F-4D4B-BE1E-F81988F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D851A-6575-4F99-B2B8-C0CB81D7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F5644-EA4C-4330-BC6C-33991BF1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39E51-D150-467E-BAA2-8BE4CE35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52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0297B-AC53-4750-B306-94CCDB11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2714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5A55A-8800-4E95-80B5-FB542FF0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52650"/>
            <a:ext cx="3619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CB39F-B272-4AEE-9B98-6EC123E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52650"/>
            <a:ext cx="2695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6E5A6-3142-4DBB-B421-9C58469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56870-DD20-4D59-BF09-65E82898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Public subnets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09A8D-A81D-4302-BBA6-668D7D3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86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Private 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4B107-EEE9-40E0-9C99-3466EDC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86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A3A17-6B69-4EEC-9948-5DC55AB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1DA02-5079-43A1-A6B2-6FD2D94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WAF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CFD0C-0A14-42FE-AB19-F14D463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L7 방어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2F1B9-C895-40EB-BFA7-3507948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19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49C1A-69D3-40F1-B34F-31E4D45C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33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ALB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3F5BA-1452-4166-A1D3-A868D46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Web/API 라우팅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465FF-238C-49F7-B84D-04C8012C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D214A-E8F5-440E-8A6D-15D99165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9900"/>
                </a:solidFill>
              </a:defRPr>
            </a:pPr>
            <a:r>
              <a:rPr sz="172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CFCBF-2B53-40F7-8B29-6A76C7EC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HTTPS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8061B-7850-4AE0-A986-94740FBE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289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C147F-161F-405C-A6B9-1CE17D9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432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ECS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1F3E3-BC91-411D-ACEE-B99BE2F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289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Web/BFF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Next.js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5CE5B-1243-40D0-98C3-D839CD93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98D3B-E0EA-4716-8EB0-884120F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ECS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84D2F-8F19-451E-A703-3402D75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Admin API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Auth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E5E9B-A66C-425B-8B09-D54CC71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09C86-74E0-4D14-A48F-0AE1401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9900"/>
                </a:solidFill>
              </a:defRPr>
            </a:pPr>
            <a:r>
              <a:rPr sz="172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4B689-8BC2-4E2E-80C6-F7000BD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386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2788B-10A7-4275-92CF-36563D9C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ECS Tasks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388FBB-0A94-4921-A2E8-D035DB8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Ingestion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workers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23C679-401D-434E-9A2C-DC171D48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8711B4-A256-4173-B527-F0408ABB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529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ECS Tasks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FB2F31-E3D3-4466-B054-72F1FF9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Matching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refresh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A2C20F-F375-4B83-82B8-93A6B8B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139514-A26B-463A-8B9D-787753E0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RDS PostgreSQL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DE2B55-461F-4BC4-A3D4-57C139B9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grants / criteria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match_state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F4CC56-615F-41F4-90A9-8077D13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62541D-6E73-4648-AD12-720A5EB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Amazon S3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E78535-1060-4B9F-97D6-30CF481A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raw 공고 / 첨부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변환 산출물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C6877D-0BAE-428D-B2CC-5E3E6155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07019D-6C2E-4E2B-B491-224E8C5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Amazon EFS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B2369F-8496-4365-9707-DD8B790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worker cache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shared volume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73B83F-A585-41A6-977F-1720931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14DED1-43E0-4069-9414-8EEA505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9900"/>
                </a:solidFill>
              </a:defRPr>
            </a:pPr>
            <a:r>
              <a:rPr sz="172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D001A5-D19F-406C-A19E-48824FBB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SQL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4192D3-3FCC-4E03-BF11-2B3DC8CE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ADF693-21EE-4587-84D3-EE7AE2A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91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9900"/>
                </a:solidFill>
              </a:defRPr>
            </a:pPr>
            <a:r>
              <a:rPr sz="172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141150-FE59-4445-A56E-BDEED984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objects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8EFE9C-0805-415A-BA2A-60DB4CB1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76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External APIs / LLM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F82D7D-1FC3-4463-A97F-7FB8924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K-Startup · 기업마당 · Popbill · Claude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5A98D0-7087-4323-98CD-9F26C691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구조: 사용자 요청 경로와 무거운 수집/추출 경로를 분리해 응답 지연과 비용을 통제합니다.</a:t>
            </a:r>
          </a:p>
        </p:txBody>
      </p:sp>
    </p:spTree>
    <p:extLst>
      <p:ext uri="{BB962C8B-B14F-4D97-AF65-F5344CB8AC3E}">
        <p14:creationId xmlns:p14="http://schemas.microsoft.com/office/powerpoint/2010/main" val="1943825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8D0CB-549D-490E-BEF6-85E0188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AE726-34D8-400A-A7D0-E1F31DF8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소스별 난도를 다르게 푸는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수집·정규화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C6F69-C19B-400D-A43A-BA5DD98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구조화된 소스는 파서로, 비정형 첨부는 변환과 tool-use 추출로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A2AB9-250A-4576-80CE-00914BDB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16E1B-FC02-41EC-8BF8-877AFE78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51BD2-5DBC-4150-87F4-5C84DE8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34C3E-32C7-4C06-BD3B-F286667B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40C40-F2A8-466D-B8A2-0AFEF7C6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CC410-D54B-4664-896B-78D1AC9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K-Startup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EAE5B-44FE-4B95-A28B-E99B442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지역·업력·연령·분야·대상·일정은 구조화 필드로 산출. LLM 없이 1차 매칭.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766E4-E0F1-4459-9838-C89360FB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C298B-34F5-46FA-BC55-A84FBAF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84DA2-34F4-4F78-A2AA-DE22F8A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8166B-1B8D-4A83-B567-DEB1CB9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기업마당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900A3-6805-401F-A120-76323646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본문·HWP·첨부에 자격요건이 흩어짐. 표를 보존해 Markdown으로 변환.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D2E52-54F5-4D5F-A4E1-0F30EF0B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75022-19FA-4BAD-B32E-B0C89BC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E3129-2888-4E6A-B229-42CD884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9900"/>
                </a:solidFill>
              </a:defRPr>
            </a:pPr>
            <a:r>
              <a:rPr sz="3150" b="1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C8646-47D0-4BBD-941E-CF3C58CE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LLM tool-use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3C507-1C66-40B6-A451-6CCEAD35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자유 출력 대신 구조화 출력 계약으로 조건과 신청 메타를 추출.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0F2E7-4D65-44BA-8047-10896906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3F842-5F26-4820-94D8-FA942A7A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E9836-9CA2-4733-8527-1668E5D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66C62-6676-4454-86F2-4A3DBCBB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발행·중복·상태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FC158-18CE-4420-95F7-476292A6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중복 후보, active filter, 발행 검증으로 현재 열린 공고를 관리.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9C958-2137-4614-ADD2-5818250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핵심: 공고별 난도에 맞게 파서·변환·LLM 추출을 조합하고, 최종 결과는 같은 정규화 계약으로 발행합니다.</a:t>
            </a:r>
          </a:p>
        </p:txBody>
      </p:sp>
    </p:spTree>
    <p:extLst>
      <p:ext uri="{BB962C8B-B14F-4D97-AF65-F5344CB8AC3E}">
        <p14:creationId xmlns:p14="http://schemas.microsoft.com/office/powerpoint/2010/main" val="1714893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3C67C-9EE9-4CA0-98B7-414F311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MATCHING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61F23-2562-46A2-BBAE-23593040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AI는 읽고,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규칙이 판정한다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E8F07-A5F6-4FAF-A739-C73A7FAC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LLM은 추출 품질을 높이지만, 추천/탈락 판정은 재현 가능한 규칙엔진이 수행합니다.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3B6F3-E97E-4A6E-A109-E3E87A54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F3363-825E-44AF-8F81-5066444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5857E-E7F0-4E69-8B17-4D46A34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ED615-2A3C-4AA9-8B21-FDD0A5A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BDF35-08FD-44F8-98DC-459DFD4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E3C55-6ED0-4D59-8F07-430D0B5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B9C8B-DAE2-4737-8A74-C4895C14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LLM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BE6DD-7266-48E5-8CE0-0A052166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57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비정형 공고 → 조건 리스트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원문 위치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신뢰도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검토 필요 플래그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70240-8C1C-43FC-9842-18DCB941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9900"/>
                </a:solidFill>
              </a:defRPr>
            </a:pPr>
            <a:r>
              <a:rPr sz="2100" b="1">
                <a:solidFill>
                  <a:srgbClr val="FF9900"/>
                </a:solidFill>
              </a:rPr>
              <a:t>결정론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585AD-F8CE-498C-9BC4-C47BE61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861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필수/배제 fail → 부적격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fail 없음 + unknown → 조건부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모두 pass → 적격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AF80-DE9A-4E36-AFFB-EBD92D7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설명 가능한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60617-F670-44D3-B4A7-E7616D60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판정 근거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회사 값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스코어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다음 질문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상태 업데이트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430B0-BB20-45C6-9A1C-FCCA76B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차별점: 모르는 조건은 탈락시키지 않고 조건부로 남긴다. 이것이 거짓 탈락을 막는 핵심 설계입니다.</a:t>
            </a:r>
          </a:p>
        </p:txBody>
      </p:sp>
    </p:spTree>
    <p:extLst>
      <p:ext uri="{BB962C8B-B14F-4D97-AF65-F5344CB8AC3E}">
        <p14:creationId xmlns:p14="http://schemas.microsoft.com/office/powerpoint/2010/main" val="860498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29F9D-E6A6-4752-95E1-15C5EFA4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2DEBE-2CD8-40A2-A7DC-0499E58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핵심 매칭 로직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시퀀스 다이어그램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BA37D-054C-40DF-8DD8-74A90F2B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사용자 요청 시 LLM을 호출하지 않고, 정규화된 데이터와 규칙엔진으로 빠르게 판정합니다.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6EA17-362E-4809-9CDA-2D4733F3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C555B-4D54-4FF9-AE43-4D219DD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E2B0C-DB60-4C08-8AF0-5052577C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CE3E5-D0A5-4216-9ACE-FE5F515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178C5-F4A9-450E-B95F-D3BBF25D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User/App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98B2E-8762-443E-B383-D8D6DCF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BEB61-7447-46CE-84EC-432D0170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API/BFF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88A20-44AA-4AB6-8898-4DA4B86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BDD75-3C6A-4CE7-9D71-5C01768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Candidate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8AED2-240F-433A-92D2-3B91148E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F2A88-4167-4681-8852-CA8799DD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Rule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8F61F-F4F3-4BDF-8FE3-95392C58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5142B-97A0-4B1B-81A2-B2BAE0CF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EB96D-4F12-42E6-BCC6-9F6A4360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3B392-5E25-48A5-B13D-AE93647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UI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23DC3-EEC6-4955-8AC4-B1A5ECA2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80795-4B59-4301-8560-FC035DC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267AB-D20B-48D8-80AE-06766491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User/App → API/BFF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95E68-FB8B-47F3-9330-B2C58E55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7D659-27F1-4096-952F-DF1A6E6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회사 프로필 기준 매칭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9B9F4-B521-4F72-A38A-FB1F52FD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44AF2-647F-4274-BD58-C6E7877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F3ACB-4206-4B67-A5DE-B0AD0C85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API/BFF → Candidate Filter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1F639-436B-4962-B6B5-2DBDBD5A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64DD7-6197-4E38-BAEF-B3A3A3C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열린 공고와 사전 색인으로 후보 공고 축소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03146-A1AE-418F-B374-E50B0374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E9BA82-9A9C-4266-A9FE-5F4AE6E2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B7544-58AF-4C84-80B6-6281E2FB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Candidate Filter → Rule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F683D-A4B1-40BC-8D09-1BF70D52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90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8CCAF-9CF5-43C4-82AF-F23C808B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후보 공고의 정규화 조건 리스트 로드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532C5B-76B7-4321-BF66-1A06B15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34D54-80D6-4CD5-8842-7F58BB66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C785A8-52C8-4298-8C98-E4FD9639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Rule Engine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964E0D-8F1F-4F9F-95F2-D18FEFBE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6CC4DC-39A3-47DC-B354-08DB0B00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criterion별 pass / fail / unknown 평가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92281-5453-4AA6-B1DE-8FED2E87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6EA99A-6E6E-42B8-8C1A-6196CEF6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9E6AA1-B86D-4FEC-BDB8-F9E6D3B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Rule Engine → 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6630A7-5650-4719-9423-D5935B0A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91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144E8-D3B0-4D38-8B27-D0C0B8CE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적격 상태, 점수, 설명 로그를 매칭 상태에 저장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7F672B-48F0-45E1-9C5A-7920671E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49C28B-AC70-4993-9764-D0060995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BD8AA4-855D-44E9-BF24-3F1B794D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RDS → UI Action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6F2C44-16E2-47D8-8BC1-63F0ED46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15777-E242-4160-8726-A167D16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조건부 next question과 action queue 구성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0C9A3A-B7EB-4C27-879F-DCF96D05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8ACF7C-75FD-40A7-AB73-D9C201F5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D42216-7347-411B-AF14-8CA799CE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UI Action → User/App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E86C15-5115-4A09-8CCF-F6B807B1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72B1C9-D7DD-451D-B98C-F5A8C28D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9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설명 가능한 추천 카드와 다음 행동 반환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EDDE43-8AC5-414B-AE58-F078DF1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560E91-D8C6-42B9-BC92-A6689C0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핫패스 원칙: LLM은 수집/추출 단계에서만 사용하고, 사용자 요청 경로는 RDS 정규화 데이터 + 규칙엔진으로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41627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93FEF-92DD-44E3-981C-3CF93211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45E2-03E8-46B3-AF35-0D9230DF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실데이터에서 동작한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엔드투엔드 매칭 데모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C6E13-9C0C-4B67-839D-9EB6BB93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가상 기업 하나를 K-Startup open 215건과 매칭해 적격·조건부·부적격을 분류했습니다.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8AABF-8666-4E1A-9263-AB79109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3C11F-DB85-40E6-814B-D8D72CF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41DA4-D725-46B9-9393-A1CA71F6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F4230-AFE0-494A-9A51-D74873C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D3850-4D42-441C-B6E1-9D903C4E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9F7EB-B06C-44A2-8C1F-96C71613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32453-DDB7-48DF-91B6-B020319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적격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71361-6474-41C3-8C2A-B590BBC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조건부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96357-6C9D-4E6E-BF15-265E31DB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부적격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4CEA7-7E92-4BFA-97EA-C3929941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6B693-C6E2-4F9D-9546-2F04498E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2742E-2A9A-4A88-8EE8-14185909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open 공고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2D24C-64BE-4870-B222-75DF6964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21145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실제 공고 표본 기반 매칭 대상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D8567-274F-462D-910B-FE9FB686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C3EB9-84CB-4C99-B962-4379C967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FF9900"/>
                </a:solidFill>
              </a:defRPr>
            </a:pPr>
            <a:r>
              <a:rPr sz="3300" b="1">
                <a:solidFill>
                  <a:srgbClr val="FF9900"/>
                </a:solidFill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45B71-2B1D-484E-88D2-E7DBB7C8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즉시 적격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7A768-59E3-4D1C-AB12-0FE9499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86400"/>
            <a:ext cx="21145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지역·업력·연령 등 필수조건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E92C1-29AC-4A03-9292-31BE572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6654B-49B8-45C3-A51A-F66D61A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0831D-B08A-4B2A-9545-8C368993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조건부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746B1-9889-4499-86FD-269B600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86400"/>
            <a:ext cx="21145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업종·규모 확인 필요. 탈락 단정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B8023-401D-4D89-BE00-28CBF77E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D0B3F-B4F8-4B4D-A71E-7041116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1B973-181F-4FC9-BCC7-17E5A88E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054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부적격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7DF83-9679-4A4C-BEFB-8C990D8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86400"/>
            <a:ext cx="21336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서울 대상, 수도권 제외 등 hard 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6A524-4727-4362-A931-70D951B7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조건부는 약점이 아니라 신뢰 설계입니다. 모르는 조건을 부적격으로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69666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5243A-FE2D-4CBE-80D2-E7BEE88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ACTION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4AEDD-5B91-4B04-A1A7-7B6EC93E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매칭 이후에는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다음 행동을 계산한다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986AC-78AB-4E41-A27D-46CCEE8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창업노트는 공고 목록에서 끝나지 않고, 조건부를 줄이고 신청 준비로 이어지는 행동 큐를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000F-9B51-4BCB-AF95-3E5C061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94C07-5D9C-4101-9914-9C9AA276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2588B-E12D-490B-8351-19588F69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E7029-07BA-4C4B-B88B-9F813B07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1AF5C-7BFF-42EB-97E8-EFA5E289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NEXT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CE0B0-3ECD-4FCF-A10F-D5053ECE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다음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1D76D-FD5F-4A97-AFEF-34AEC1F2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9622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unknown 필드 중 조건부 공고를 가장 많이 확정 또는 제외할 수 있는 입력을 우선 노출합니다.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E6087-23CE-400A-86F1-0E3D0C9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23DDE-32A5-4AE9-A6FE-FE6753B6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ACTION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2A411-0518-4234-BFDF-22B964F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액션 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83DAD-42F5-407B-AD06-7239068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622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지원금·마감·영향 공고 수·노력도를 합산해 지금 해야 할 일을 전역 정렬합니다.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20DEE-B704-484F-A6D4-2C6B1512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82BAB-724E-4575-9D4D-96B0EC1F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APPLY 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E5229-BA00-42D1-8F3E-BBDBC95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신청 준비 시트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282D1-6706-4CC9-904C-48B6B55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971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필요 서류, 원문 첨부, 프로필 복사 필드, 사업계획서 초안 프롬프트를 한 화면으로 구성합니다.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3C751-ED71-460A-81B5-491339E6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추천 목록에서 끝나지 않고, 사용자의 다음 입력과 신청 준비 행동까지 이어지는 운영 레이어입니다.</a:t>
            </a:r>
          </a:p>
        </p:txBody>
      </p:sp>
    </p:spTree>
    <p:extLst>
      <p:ext uri="{BB962C8B-B14F-4D97-AF65-F5344CB8AC3E}">
        <p14:creationId xmlns:p14="http://schemas.microsoft.com/office/powerpoint/2010/main" val="706371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8A4BE-6502-4EC3-ACE7-671E7CE4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FLYWHEEL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49402-B2EA-41A8-B4A3-B5B5AC8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장기 해자는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기업 성장 데이터 플라이휠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AA4BE-9371-4EC7-9A77-995670D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공고 데이터 자체보다 중요한 것은 매칭, 피드백, 신청 outcome이 쌓이며 개선되는 구조입니다.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0D24E-9F8D-46CD-BAA5-7A52252F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181D6-B768-477F-92D6-A67A982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외부 공유용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AB7B6-23C3-4EC4-A2AF-F43D28B5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F5247-5FDE-4F36-8026-CF069D5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3CA58-C3FB-4BA0-95A5-70B5BE12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72EC6-16CF-44E3-9185-426B619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공고 수집·정규화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8BEA8-07EC-4C75-A309-D0179E9E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K-Startup, 기업마당, HWP 첨부를 표준 계약으로 발행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D2437-A1D4-4D4A-8D3C-C93394C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1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9900"/>
                </a:solidFill>
              </a:defRPr>
            </a:pPr>
            <a:r>
              <a:rPr sz="19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2789B-4D77-4E80-88B1-FC37FF2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2B5B8-A7BF-4B93-A078-8F50E85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923AA-9CEF-4AD0-8341-96F76B9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회사별 매칭·설명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47B55-4636-4FB0-B422-E6E2291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판정 근거와 신뢰도로 적격·조건부·부적격 산출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987A1-D422-4E1E-B88C-580DB69D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9900"/>
                </a:solidFill>
              </a:defRPr>
            </a:pPr>
            <a:r>
              <a:rPr sz="19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0DC3B-45BF-4C48-9914-502D890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556DB-83B5-48A4-A332-878C3144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A253C-86AE-45F5-B031-E9579B4D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입력·신청 행동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A3EAE-C3B0-447F-9595-7B4503FD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다음 질문, 액션 큐, 신청 준비 시트로 행동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4BB0E-DE68-4AF6-B860-95C62671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6AEAB-2CF9-4EBC-81D4-84DA1EE7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0BCE8-C2D1-4271-9D90-F76DF240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outcome 라벨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5F1DB-55B2-428E-972C-49D6C49C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저장, 클릭, 신청, 선정 결과를 피드백 데이터로 축적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13084-4718-4B6C-9D64-D7413E3E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19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9900"/>
                </a:solidFill>
              </a:defRPr>
            </a:pPr>
            <a:r>
              <a:rPr sz="19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D79F7-2C06-4EC1-9C33-6295144E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4D3E1-C3C7-45D7-BD35-547784EB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F7338-1BFF-4CE1-BDA1-D6C0D2BC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golden set 평가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A3AFF-A446-4763-981D-AFE4756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29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추출과 매칭을 사람 정답 기준으로 회귀 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73744-EF94-4645-9CFA-93B35CC8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9900"/>
                </a:solidFill>
              </a:defRPr>
            </a:pPr>
            <a:r>
              <a:rPr sz="19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CB110-FEE9-44F5-9B33-FCB2FFBE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4292F-BDB8-4011-999D-34FB43DE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DB0B9D-1175-4BFB-84E7-666F747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추출·매핑·랭킹 개선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B859B-56B2-4F79-A654-28773847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29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프롬프트, taxonomy, ranking 가중치를 버전업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1A2FD-1BE3-431B-AA4A-1F208700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모든 산출물에는 버전이 붙습니다. 회귀가 있으면 새 버전을 활성화하지 않습니다.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B90F41-C301-4408-BAE7-74FE7397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9900"/>
                </a:solidFill>
              </a:defRPr>
            </a:pPr>
            <a:r>
              <a:rPr sz="1650" b="1">
                <a:solidFill>
                  <a:srgbClr val="FF9900"/>
                </a:solidFill>
              </a:rPr>
              <a:t>비전: 성장 조건·기회·행동을 구조화하는 AI 데이터 인프라</a:t>
            </a:r>
          </a:p>
        </p:txBody>
      </p:sp>
    </p:spTree>
    <p:extLst>
      <p:ext uri="{BB962C8B-B14F-4D97-AF65-F5344CB8AC3E}">
        <p14:creationId xmlns:p14="http://schemas.microsoft.com/office/powerpoint/2010/main" val="1962763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132D7-D220-44B1-BAB1-72A36B73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IR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9FD8B-0554-474B-AA2B-FA08DFA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09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창업노트의 기술력은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공고를 잘 보여주는 것이 아니라,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판정 가능한 계약으로 바꾸는 데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FBD65-D888-4311-A017-21D15E57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BB1F0-1558-4B80-B9C4-DB6F3174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표준화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CC2D-B5F9-44B3-99F8-1DB0A83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962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모든 공고를 자격요건과 혜택 패밀리로 정규화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A87EE-8314-4CBE-978A-DE89B44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7ED82-AC5C-4955-85DA-D831DC5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설명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7C753-CB20-4CA3-AF01-6F42264A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24350"/>
            <a:ext cx="2962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AI는 추출, 규칙은 판정. 결과는 근거와 상태로 설명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C64A4-1CFA-4662-93A6-20BF3F43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2917E-2A2B-4FE2-9847-0098B1C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확장 인프라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469E1-9EBC-4E92-ABBE-6482EF61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AWS 기반으로 서비스 경로와 수집/추출 경로를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E965D-23BF-4A7B-8016-B361526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현재 실증된 것은 작동성, 구조화 커버리지, 실패모드, 서비스화된 검증 경로입니다. 엄밀 정확도는 골든셋 평가로 고도화합니다.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91421-71C4-4AA4-B1B0-C6565DE8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2CB97-22D3-43AB-B8C9-CC9072F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3872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2026-06-27T23:26:56.7850000Z</dcterms:created>
  <dcterms:modified xsi:type="dcterms:W3CDTF">2026-06-27T23:26:56.7850000Z</dcterms:modified>
</coreProperties>
</file>