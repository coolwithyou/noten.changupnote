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등장률</c:v>
          </c:tx>
          <c:spPr>
            <a:solidFill>
              <a:srgbClr val="080808"/>
            </a:solidFill>
          </c:spPr>
          <c:invertIfNegative val="1"/>
          <c:dLbls>
            <c:delete val="1"/>
          </c:dLbls>
          <c:cat>
            <c:strLit>
              <c:ptCount val="6"/>
              <c:pt idx="0">
                <c:v>컨설팅</c:v>
              </c:pt>
              <c:pt idx="1">
                <c:v>전시·해외</c:v>
              </c:pt>
              <c:pt idx="2">
                <c:v>마케팅</c:v>
              </c:pt>
              <c:pt idx="3">
                <c:v>인증·IP</c:v>
              </c:pt>
              <c:pt idx="4">
                <c:v>융자·보증</c:v>
              </c:pt>
              <c:pt idx="5">
                <c:v>자금</c:v>
              </c:pt>
            </c:strLit>
          </c:cat>
          <c:val>
            <c:numLit>
              <c:formatCode>General</c:formatCode>
              <c:ptCount val="6"/>
              <c:pt idx="0">
                <c:v>25.3</c:v>
              </c:pt>
              <c:pt idx="1">
                <c:v>24.1</c:v>
              </c:pt>
              <c:pt idx="2">
                <c:v>23.7</c:v>
              </c:pt>
              <c:pt idx="3">
                <c:v>19.899999999999999</c:v>
              </c:pt>
              <c:pt idx="4">
                <c:v>13.9</c:v>
              </c:pt>
              <c:pt idx="5">
                <c:v>10.1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EAE-8A4F-9B4E-D967F52BFE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ore-K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2675F-BCF3-40CE-B61E-85C7FCCDE9BE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3EE9C3-4F3E-4F5D-BE20-CBA057070D79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790575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2000"/>
              </a:lnSpc>
              <a:buNone/>
              <a:defRPr sz="4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공고에서</a:t>
            </a:r>
          </a:p>
          <a:p>
            <a:pPr algn="l">
              <a:lnSpc>
                <a:spcPct val="102000"/>
              </a:lnSpc>
              <a:buNone/>
              <a:defRPr sz="4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기회 데이터로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AD25DC-C8FC-4EA5-A8CD-D475FD58997A}"/>
              </a:ext>
            </a:extLst>
          </p:cNvPr>
          <p:cNvSpPr>
            <a:spLocks noGrp="1"/>
          </p:cNvSpPr>
          <p:nvPr/>
        </p:nvSpPr>
        <p:spPr>
          <a:xfrm>
            <a:off x="419100" y="35433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지원사업 검색을 넘어, 회사별 판단과 실행까지 연결합니다.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761E5E-38E7-464B-AAF4-BBCBA0967D4F}"/>
              </a:ext>
            </a:extLst>
          </p:cNvPr>
          <p:cNvSpPr>
            <a:spLocks noGrp="1"/>
          </p:cNvSpPr>
          <p:nvPr/>
        </p:nvSpPr>
        <p:spPr>
          <a:xfrm>
            <a:off x="400050" y="4810125"/>
            <a:ext cx="2571750" cy="11811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BF2A0E-FD25-4D69-B51C-7514B380D6E4}"/>
              </a:ext>
            </a:extLst>
          </p:cNvPr>
          <p:cNvSpPr>
            <a:spLocks noGrp="1"/>
          </p:cNvSpPr>
          <p:nvPr/>
        </p:nvSpPr>
        <p:spPr>
          <a:xfrm>
            <a:off x="704850" y="50101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76F446-C7A8-44C5-B119-21A4CEF58FC7}"/>
              </a:ext>
            </a:extLst>
          </p:cNvPr>
          <p:cNvSpPr>
            <a:spLocks noGrp="1"/>
          </p:cNvSpPr>
          <p:nvPr/>
        </p:nvSpPr>
        <p:spPr>
          <a:xfrm>
            <a:off x="704850" y="5581650"/>
            <a:ext cx="1857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 가능성 기준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E789AD-9B02-45EF-A61D-646BFC82EC67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받을 수 있는 조건 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DAFE37-78DF-4C88-BD6C-0EA87442FD25}"/>
              </a:ext>
            </a:extLst>
          </p:cNvPr>
          <p:cNvSpPr>
            <a:spLocks noGrp="1"/>
          </p:cNvSpPr>
          <p:nvPr/>
        </p:nvSpPr>
        <p:spPr>
          <a:xfrm>
            <a:off x="3333750" y="4810125"/>
            <a:ext cx="2571750" cy="11811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C5F3BF-3814-4320-95B1-0BEC7D0945C0}"/>
              </a:ext>
            </a:extLst>
          </p:cNvPr>
          <p:cNvSpPr>
            <a:spLocks noGrp="1"/>
          </p:cNvSpPr>
          <p:nvPr/>
        </p:nvSpPr>
        <p:spPr>
          <a:xfrm>
            <a:off x="3638550" y="50101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21720D-901D-4BC8-ADBB-C1E3E481C1AA}"/>
              </a:ext>
            </a:extLst>
          </p:cNvPr>
          <p:cNvSpPr>
            <a:spLocks noGrp="1"/>
          </p:cNvSpPr>
          <p:nvPr/>
        </p:nvSpPr>
        <p:spPr>
          <a:xfrm>
            <a:off x="3638550" y="5581650"/>
            <a:ext cx="1857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 내용 분류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9584C4-0DA4-40AC-8589-4CADC83087C9}"/>
              </a:ext>
            </a:extLst>
          </p:cNvPr>
          <p:cNvSpPr>
            <a:spLocks noGrp="1"/>
          </p:cNvSpPr>
          <p:nvPr/>
        </p:nvSpPr>
        <p:spPr>
          <a:xfrm>
            <a:off x="3638550" y="58864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자금·판로·교육·인증까지 정리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5B67B2-C945-41E9-A848-43D9D2D74954}"/>
              </a:ext>
            </a:extLst>
          </p:cNvPr>
          <p:cNvSpPr>
            <a:spLocks noGrp="1"/>
          </p:cNvSpPr>
          <p:nvPr/>
        </p:nvSpPr>
        <p:spPr>
          <a:xfrm>
            <a:off x="6267450" y="4810125"/>
            <a:ext cx="2571750" cy="11811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6A19B5-8777-4A40-BAA8-20196AC283EF}"/>
              </a:ext>
            </a:extLst>
          </p:cNvPr>
          <p:cNvSpPr>
            <a:spLocks noGrp="1"/>
          </p:cNvSpPr>
          <p:nvPr/>
        </p:nvSpPr>
        <p:spPr>
          <a:xfrm>
            <a:off x="6572250" y="50101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8660EC-1531-4FE0-80D8-88F3DDD7F18B}"/>
              </a:ext>
            </a:extLst>
          </p:cNvPr>
          <p:cNvSpPr>
            <a:spLocks noGrp="1"/>
          </p:cNvSpPr>
          <p:nvPr/>
        </p:nvSpPr>
        <p:spPr>
          <a:xfrm>
            <a:off x="6572250" y="5581650"/>
            <a:ext cx="1857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 결과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CD26A7-A3A3-45E7-9BF8-F9B98393C92C}"/>
              </a:ext>
            </a:extLst>
          </p:cNvPr>
          <p:cNvSpPr>
            <a:spLocks noGrp="1"/>
          </p:cNvSpPr>
          <p:nvPr/>
        </p:nvSpPr>
        <p:spPr>
          <a:xfrm>
            <a:off x="6572250" y="58864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바로 추천 · 확인 필요 · 제외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E0C33EC-C3E3-4C98-9C22-E619EA9E4EF5}"/>
              </a:ext>
            </a:extLst>
          </p:cNvPr>
          <p:cNvSpPr>
            <a:spLocks noGrp="1"/>
          </p:cNvSpPr>
          <p:nvPr/>
        </p:nvSpPr>
        <p:spPr>
          <a:xfrm>
            <a:off x="9982200" y="0"/>
            <a:ext cx="1809750" cy="6858000"/>
          </a:xfrm>
          <a:prstGeom prst="rect">
            <a:avLst/>
          </a:prstGeom>
          <a:solidFill>
            <a:srgbClr val="10101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AB58DA-7694-4F21-AAC5-8A28AA560936}"/>
              </a:ext>
            </a:extLst>
          </p:cNvPr>
          <p:cNvSpPr>
            <a:spLocks noGrp="1"/>
          </p:cNvSpPr>
          <p:nvPr/>
        </p:nvSpPr>
        <p:spPr>
          <a:xfrm>
            <a:off x="10287000" y="514350"/>
            <a:ext cx="1200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NOTEN</a:t>
            </a:r>
          </a:p>
          <a:p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CUNOTE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B68E33-DD5A-441A-B68B-A679FF7BC570}"/>
              </a:ext>
            </a:extLst>
          </p:cNvPr>
          <p:cNvSpPr>
            <a:spLocks noGrp="1"/>
          </p:cNvSpPr>
          <p:nvPr/>
        </p:nvSpPr>
        <p:spPr>
          <a:xfrm>
            <a:off x="10287000" y="59436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D9D9D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External IR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F89D651-FEAC-418D-AB4C-84AAE6A8BB73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 | 2026-06-28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873D5E3-93BA-446E-8449-6F3643AEE3AF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58196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A085F3B0-91EA-4974-92FC-AA9251D33BC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MARKET PROBLEM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8B1740-7426-4A17-8207-92505FE0F1EF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 과잉,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판단 병목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BB3DBF-7646-4DB3-8A46-0F69FBCC6979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 수보다 중요한 것은 자격·혜택·준비 정보가 바로 비교 가능한 형태로 정리되어 있는가입니다.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85418C-ED63-43D2-9E44-27004B4F80E1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2EA941-D2EB-401F-B2B9-4697B790C88F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7FACA6-D1DE-41AF-82E4-97BC92DEE2B1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2448BF-B538-4B88-9106-85B5857E94B2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2571750" cy="238125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11DF4E-86F7-4CCA-A648-026CDC09B3DE}"/>
              </a:ext>
            </a:extLst>
          </p:cNvPr>
          <p:cNvSpPr>
            <a:spLocks noGrp="1"/>
          </p:cNvSpPr>
          <p:nvPr/>
        </p:nvSpPr>
        <p:spPr>
          <a:xfrm>
            <a:off x="628650" y="2305050"/>
            <a:ext cx="2114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1,588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1746EB-AAD7-4DE6-9D45-C5EAC6195B3A}"/>
              </a:ext>
            </a:extLst>
          </p:cNvPr>
          <p:cNvSpPr>
            <a:spLocks noGrp="1"/>
          </p:cNvSpPr>
          <p:nvPr/>
        </p:nvSpPr>
        <p:spPr>
          <a:xfrm>
            <a:off x="628650" y="29908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기업마당 활성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B65CA5-3223-4973-A2BB-0B72565DB689}"/>
              </a:ext>
            </a:extLst>
          </p:cNvPr>
          <p:cNvSpPr>
            <a:spLocks noGrp="1"/>
          </p:cNvSpPr>
          <p:nvPr/>
        </p:nvSpPr>
        <p:spPr>
          <a:xfrm>
            <a:off x="628650" y="3352800"/>
            <a:ext cx="21145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본문과 첨부에 조건이 흩어져 있어 사람이 다시 읽어야 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18003AD-8C65-437E-BF28-47C700777D7D}"/>
              </a:ext>
            </a:extLst>
          </p:cNvPr>
          <p:cNvSpPr>
            <a:spLocks noGrp="1"/>
          </p:cNvSpPr>
          <p:nvPr/>
        </p:nvSpPr>
        <p:spPr>
          <a:xfrm>
            <a:off x="3333750" y="2095500"/>
            <a:ext cx="2571750" cy="238125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BDEF14-4561-493F-9DF7-85171D7FC426}"/>
              </a:ext>
            </a:extLst>
          </p:cNvPr>
          <p:cNvSpPr>
            <a:spLocks noGrp="1"/>
          </p:cNvSpPr>
          <p:nvPr/>
        </p:nvSpPr>
        <p:spPr>
          <a:xfrm>
            <a:off x="3562350" y="2305050"/>
            <a:ext cx="2114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304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509BC8-2633-4DA8-8EFE-E336C41B6D70}"/>
              </a:ext>
            </a:extLst>
          </p:cNvPr>
          <p:cNvSpPr>
            <a:spLocks noGrp="1"/>
          </p:cNvSpPr>
          <p:nvPr/>
        </p:nvSpPr>
        <p:spPr>
          <a:xfrm>
            <a:off x="3562350" y="29908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K-Startup 접수 중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9CB637-CD8F-4866-9C7B-726C443CEFC3}"/>
              </a:ext>
            </a:extLst>
          </p:cNvPr>
          <p:cNvSpPr>
            <a:spLocks noGrp="1"/>
          </p:cNvSpPr>
          <p:nvPr/>
        </p:nvSpPr>
        <p:spPr>
          <a:xfrm>
            <a:off x="3562350" y="3352800"/>
            <a:ext cx="21145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 특화 공고지만 회사별 적합 여부는 별도 판단이 필요합니다.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1287E5-751C-4757-8AB7-BD20601A36FB}"/>
              </a:ext>
            </a:extLst>
          </p:cNvPr>
          <p:cNvSpPr>
            <a:spLocks noGrp="1"/>
          </p:cNvSpPr>
          <p:nvPr/>
        </p:nvSpPr>
        <p:spPr>
          <a:xfrm>
            <a:off x="6267450" y="2095500"/>
            <a:ext cx="2571750" cy="238125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131125-4565-44D2-A1F3-FBA025272EDC}"/>
              </a:ext>
            </a:extLst>
          </p:cNvPr>
          <p:cNvSpPr>
            <a:spLocks noGrp="1"/>
          </p:cNvSpPr>
          <p:nvPr/>
        </p:nvSpPr>
        <p:spPr>
          <a:xfrm>
            <a:off x="6496050" y="2305050"/>
            <a:ext cx="2114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29K+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9A120B-3838-41DB-BF8F-4156DB41D059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K-Startup 누적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FB8B021-9FE5-41D8-9F48-FDB762DFFD3F}"/>
              </a:ext>
            </a:extLst>
          </p:cNvPr>
          <p:cNvSpPr>
            <a:spLocks noGrp="1"/>
          </p:cNvSpPr>
          <p:nvPr/>
        </p:nvSpPr>
        <p:spPr>
          <a:xfrm>
            <a:off x="6496050" y="3352800"/>
            <a:ext cx="21145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마감, 지역, 대상, 분야가 시간에 따라 계속 바뀝니다.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1452B12-187C-4D90-B9F7-453A373B8AA6}"/>
              </a:ext>
            </a:extLst>
          </p:cNvPr>
          <p:cNvSpPr>
            <a:spLocks noGrp="1"/>
          </p:cNvSpPr>
          <p:nvPr/>
        </p:nvSpPr>
        <p:spPr>
          <a:xfrm>
            <a:off x="9201150" y="2095500"/>
            <a:ext cx="2590800" cy="238125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D44D4FA-A7BA-4BD7-8C96-AAE1F11AEF0D}"/>
              </a:ext>
            </a:extLst>
          </p:cNvPr>
          <p:cNvSpPr>
            <a:spLocks noGrp="1"/>
          </p:cNvSpPr>
          <p:nvPr/>
        </p:nvSpPr>
        <p:spPr>
          <a:xfrm>
            <a:off x="9429750" y="2305050"/>
            <a:ext cx="2133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1,900+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7532EF6-F840-4244-8285-4DBA627BCA77}"/>
              </a:ext>
            </a:extLst>
          </p:cNvPr>
          <p:cNvSpPr>
            <a:spLocks noGrp="1"/>
          </p:cNvSpPr>
          <p:nvPr/>
        </p:nvSpPr>
        <p:spPr>
          <a:xfrm>
            <a:off x="9429750" y="29908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현재 열린 공고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9D1AC5-DFE0-4D21-A3CB-0DDB0EFFBFED}"/>
              </a:ext>
            </a:extLst>
          </p:cNvPr>
          <p:cNvSpPr>
            <a:spLocks noGrp="1"/>
          </p:cNvSpPr>
          <p:nvPr/>
        </p:nvSpPr>
        <p:spPr>
          <a:xfrm>
            <a:off x="9429750" y="3352800"/>
            <a:ext cx="21336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소스가 늘수록 중복과 마감 관리가 추천 품질을 좌우합니다.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10ED547-4C6F-4314-8669-D48A39C87703}"/>
              </a:ext>
            </a:extLst>
          </p:cNvPr>
          <p:cNvSpPr>
            <a:spLocks noGrp="1"/>
          </p:cNvSpPr>
          <p:nvPr/>
        </p:nvSpPr>
        <p:spPr>
          <a:xfrm>
            <a:off x="400050" y="5095875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창업노트의 출발점은 공고 검색이 아니라, 공고를 회사가 바로 판단할 수 있는 데이터로 바꾸는 것입니다.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74ED98-0645-4269-A410-A3F4D189EB4F}"/>
              </a:ext>
            </a:extLst>
          </p:cNvPr>
          <p:cNvSpPr>
            <a:spLocks noGrp="1"/>
          </p:cNvSpPr>
          <p:nvPr/>
        </p:nvSpPr>
        <p:spPr>
          <a:xfrm>
            <a:off x="400050" y="574357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이 전환이 되어야 추천, 설명, 신청 준비, 결과 기록이 하나의 서비스 경험으로 이어집니다.</a:t>
            </a:r>
          </a:p>
        </p:txBody>
      </p:sp>
    </p:spTree>
    <p:extLst>
      <p:ext uri="{BB962C8B-B14F-4D97-AF65-F5344CB8AC3E}">
        <p14:creationId xmlns:p14="http://schemas.microsoft.com/office/powerpoint/2010/main" val="174624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975FE81E-C6D3-4611-BB5D-D6455657443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DATA STRATEGY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DAB9DB-F350-41B9-A74B-D74DC62CDC14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원문 공고에서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세 가지 판단 정보로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E76245-1439-430B-B114-2FF10ABB26BC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원문을 그대로 저장하는 수준을 넘어, 받을 수 있는 조건·받을 지원·준비할 일을 서비스에서 바로 쓰는 정보로 바꿉니다.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71A549-B023-436B-BD6A-1C20A3B9EC92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2081EC-155B-480E-A9D3-94CCAA009163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37696C-A385-4C72-AA96-35188D396E72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3F4A00-464A-4378-9A86-A9672F8553E5}"/>
              </a:ext>
            </a:extLst>
          </p:cNvPr>
          <p:cNvSpPr>
            <a:spLocks noGrp="1"/>
          </p:cNvSpPr>
          <p:nvPr/>
        </p:nvSpPr>
        <p:spPr>
          <a:xfrm>
            <a:off x="400050" y="2114550"/>
            <a:ext cx="2952750" cy="28575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6C3F80-4823-4472-99F7-39D33ACDCAA8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8F1F6F-6564-4A3B-B878-2FC400A78E74}"/>
              </a:ext>
            </a:extLst>
          </p:cNvPr>
          <p:cNvSpPr>
            <a:spLocks noGrp="1"/>
          </p:cNvSpPr>
          <p:nvPr/>
        </p:nvSpPr>
        <p:spPr>
          <a:xfrm>
            <a:off x="628650" y="2781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 가능성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D89268-1108-4133-9935-9E4CC3694141}"/>
              </a:ext>
            </a:extLst>
          </p:cNvPr>
          <p:cNvSpPr>
            <a:spLocks noGrp="1"/>
          </p:cNvSpPr>
          <p:nvPr/>
        </p:nvSpPr>
        <p:spPr>
          <a:xfrm>
            <a:off x="628650" y="31432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받을 수 있는 조건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6F38F8-E74A-4C77-A6BD-5986D80BE5B6}"/>
              </a:ext>
            </a:extLst>
          </p:cNvPr>
          <p:cNvSpPr>
            <a:spLocks noGrp="1"/>
          </p:cNvSpPr>
          <p:nvPr/>
        </p:nvSpPr>
        <p:spPr>
          <a:xfrm>
            <a:off x="628650" y="3733800"/>
            <a:ext cx="228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지역, 업력, 연령, 업종, 기업 규모, 제외 대상 등 회사 프로필과 직접 비교되는 조건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87BBF0B-C7E0-48B0-84EE-56688A8E0E86}"/>
              </a:ext>
            </a:extLst>
          </p:cNvPr>
          <p:cNvSpPr>
            <a:spLocks noGrp="1"/>
          </p:cNvSpPr>
          <p:nvPr/>
        </p:nvSpPr>
        <p:spPr>
          <a:xfrm>
            <a:off x="3638550" y="3333750"/>
            <a:ext cx="57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A33C23-0FA1-4DC4-9B54-E3DE734AC85C}"/>
              </a:ext>
            </a:extLst>
          </p:cNvPr>
          <p:cNvSpPr>
            <a:spLocks noGrp="1"/>
          </p:cNvSpPr>
          <p:nvPr/>
        </p:nvSpPr>
        <p:spPr>
          <a:xfrm>
            <a:off x="4629150" y="2114550"/>
            <a:ext cx="2952750" cy="28575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04236C-A2EC-46C2-83D2-A40F3FDE84F1}"/>
              </a:ext>
            </a:extLst>
          </p:cNvPr>
          <p:cNvSpPr>
            <a:spLocks noGrp="1"/>
          </p:cNvSpPr>
          <p:nvPr/>
        </p:nvSpPr>
        <p:spPr>
          <a:xfrm>
            <a:off x="4857750" y="23431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C6C77E-1A85-416C-A1D3-C904B6FF9C9C}"/>
              </a:ext>
            </a:extLst>
          </p:cNvPr>
          <p:cNvSpPr>
            <a:spLocks noGrp="1"/>
          </p:cNvSpPr>
          <p:nvPr/>
        </p:nvSpPr>
        <p:spPr>
          <a:xfrm>
            <a:off x="4857750" y="2781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 내용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D1E3DD-974A-47E8-B85B-0A4AAA82397E}"/>
              </a:ext>
            </a:extLst>
          </p:cNvPr>
          <p:cNvSpPr>
            <a:spLocks noGrp="1"/>
          </p:cNvSpPr>
          <p:nvPr/>
        </p:nvSpPr>
        <p:spPr>
          <a:xfrm>
            <a:off x="4857750" y="31432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받을 수 있는 지원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A32830-7DA0-4F60-8C75-2F2AA9F0C1F9}"/>
              </a:ext>
            </a:extLst>
          </p:cNvPr>
          <p:cNvSpPr>
            <a:spLocks noGrp="1"/>
          </p:cNvSpPr>
          <p:nvPr/>
        </p:nvSpPr>
        <p:spPr>
          <a:xfrm>
            <a:off x="4857750" y="3733800"/>
            <a:ext cx="228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지원금뿐 아니라 융자, 교육, 컨설팅, 판로, 인증, 공간, 네트워크를 지원 내용별로 분리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9915BE-3B0F-433A-8E51-54E16D7AEFA7}"/>
              </a:ext>
            </a:extLst>
          </p:cNvPr>
          <p:cNvSpPr>
            <a:spLocks noGrp="1"/>
          </p:cNvSpPr>
          <p:nvPr/>
        </p:nvSpPr>
        <p:spPr>
          <a:xfrm>
            <a:off x="7867650" y="3333750"/>
            <a:ext cx="57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8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883AA9-C840-42FF-9F0E-B3DAE6E6C0C7}"/>
              </a:ext>
            </a:extLst>
          </p:cNvPr>
          <p:cNvSpPr>
            <a:spLocks noGrp="1"/>
          </p:cNvSpPr>
          <p:nvPr/>
        </p:nvSpPr>
        <p:spPr>
          <a:xfrm>
            <a:off x="8858250" y="2114550"/>
            <a:ext cx="2933700" cy="28575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CDAA6D-34AB-4EB4-B2F4-43482EBBC67B}"/>
              </a:ext>
            </a:extLst>
          </p:cNvPr>
          <p:cNvSpPr>
            <a:spLocks noGrp="1"/>
          </p:cNvSpPr>
          <p:nvPr/>
        </p:nvSpPr>
        <p:spPr>
          <a:xfrm>
            <a:off x="9086850" y="23431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0D6FAB3-84DE-41E4-80E0-40319650DB5D}"/>
              </a:ext>
            </a:extLst>
          </p:cNvPr>
          <p:cNvSpPr>
            <a:spLocks noGrp="1"/>
          </p:cNvSpPr>
          <p:nvPr/>
        </p:nvSpPr>
        <p:spPr>
          <a:xfrm>
            <a:off x="9086850" y="2781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신청 준비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8FDBCE-12D6-49E8-AFEC-C302956C7109}"/>
              </a:ext>
            </a:extLst>
          </p:cNvPr>
          <p:cNvSpPr>
            <a:spLocks noGrp="1"/>
          </p:cNvSpPr>
          <p:nvPr/>
        </p:nvSpPr>
        <p:spPr>
          <a:xfrm>
            <a:off x="9086850" y="31432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지금 준비할 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F68413-79B1-4811-B1C2-99EAF0692C99}"/>
              </a:ext>
            </a:extLst>
          </p:cNvPr>
          <p:cNvSpPr>
            <a:spLocks noGrp="1"/>
          </p:cNvSpPr>
          <p:nvPr/>
        </p:nvSpPr>
        <p:spPr>
          <a:xfrm>
            <a:off x="9086850" y="3733800"/>
            <a:ext cx="228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마감, 제출처, 필요 서류, 링크, 담당기관, 원문 첨부를 실행 가능한 준비 정보로 정리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891C445-878F-4A59-BDC4-915EFA2DEF47}"/>
              </a:ext>
            </a:extLst>
          </p:cNvPr>
          <p:cNvSpPr>
            <a:spLocks noGrp="1"/>
          </p:cNvSpPr>
          <p:nvPr/>
        </p:nvSpPr>
        <p:spPr>
          <a:xfrm>
            <a:off x="400050" y="52863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IR 메시지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9363106-4669-4FBE-AE15-B6D0445E04FA}"/>
              </a:ext>
            </a:extLst>
          </p:cNvPr>
          <p:cNvSpPr>
            <a:spLocks noGrp="1"/>
          </p:cNvSpPr>
          <p:nvPr/>
        </p:nvSpPr>
        <p:spPr>
          <a:xfrm>
            <a:off x="1562100" y="5267325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이 세 가지가 분리되면 “받을 수 있는가”, “받으면 무엇이 좋은가”, “지금 무엇을 해야 하는가”를 각각 계산할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6875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A33A0BDD-3AA0-4255-B0EA-71C55C10B8B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CLASSIFICATION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9F3753-F003-4946-BC79-65B6C4D219E8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공고를 읽는 기준: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받을 수 있는 조건과 지원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EAB3FB8-316F-4880-8D50-BA990441A3E7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컨설턴트가 실제 공고를 검토할 때 보는 기준으로 정리했습니다.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806761-F688-489D-9C3F-84C762DD2A1B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0E0A1B-3901-4DBD-A512-1A341782196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63E3D1-84D8-468A-9A08-347C50DF31CA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95612A-31E2-4AD1-9F65-06A91AF4FBAA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5429250" cy="314325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3973D6-55FF-48DF-92E6-6B7D6EA97E23}"/>
              </a:ext>
            </a:extLst>
          </p:cNvPr>
          <p:cNvSpPr>
            <a:spLocks noGrp="1"/>
          </p:cNvSpPr>
          <p:nvPr/>
        </p:nvSpPr>
        <p:spPr>
          <a:xfrm>
            <a:off x="6362700" y="2095500"/>
            <a:ext cx="5429250" cy="314325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982215-7556-47CE-B483-BB8E4F0963E5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14가지 지원 가능성 기준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889A547-B582-4D4E-8BFF-1474AB39B43F}"/>
              </a:ext>
            </a:extLst>
          </p:cNvPr>
          <p:cNvSpPr>
            <a:spLocks noGrp="1"/>
          </p:cNvSpPr>
          <p:nvPr/>
        </p:nvSpPr>
        <p:spPr>
          <a:xfrm>
            <a:off x="704850" y="299085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F53264F-0D4C-4E45-9A9D-52E3FC775A07}"/>
              </a:ext>
            </a:extLst>
          </p:cNvPr>
          <p:cNvSpPr>
            <a:spLocks noGrp="1"/>
          </p:cNvSpPr>
          <p:nvPr/>
        </p:nvSpPr>
        <p:spPr>
          <a:xfrm>
            <a:off x="895350" y="293370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E35785-7D6E-4244-8158-9FF2842494B0}"/>
              </a:ext>
            </a:extLst>
          </p:cNvPr>
          <p:cNvSpPr>
            <a:spLocks noGrp="1"/>
          </p:cNvSpPr>
          <p:nvPr/>
        </p:nvSpPr>
        <p:spPr>
          <a:xfrm>
            <a:off x="704850" y="327660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B0DF9A-1862-4DCD-B3DC-9AFFC68B3D2D}"/>
              </a:ext>
            </a:extLst>
          </p:cNvPr>
          <p:cNvSpPr>
            <a:spLocks noGrp="1"/>
          </p:cNvSpPr>
          <p:nvPr/>
        </p:nvSpPr>
        <p:spPr>
          <a:xfrm>
            <a:off x="895350" y="32194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업력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DAEB3C-EC33-4BE4-BB0C-C8D7F2EEE1D2}"/>
              </a:ext>
            </a:extLst>
          </p:cNvPr>
          <p:cNvSpPr>
            <a:spLocks noGrp="1"/>
          </p:cNvSpPr>
          <p:nvPr/>
        </p:nvSpPr>
        <p:spPr>
          <a:xfrm>
            <a:off x="704850" y="356235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91EAF5-E3C5-44C2-9AB1-FAA552E0E710}"/>
              </a:ext>
            </a:extLst>
          </p:cNvPr>
          <p:cNvSpPr>
            <a:spLocks noGrp="1"/>
          </p:cNvSpPr>
          <p:nvPr/>
        </p:nvSpPr>
        <p:spPr>
          <a:xfrm>
            <a:off x="895350" y="350520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업종·산업 분야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CC64611-3532-46E8-81A5-310946C438C1}"/>
              </a:ext>
            </a:extLst>
          </p:cNvPr>
          <p:cNvSpPr>
            <a:spLocks noGrp="1"/>
          </p:cNvSpPr>
          <p:nvPr/>
        </p:nvSpPr>
        <p:spPr>
          <a:xfrm>
            <a:off x="704850" y="384810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C270DF-FFE7-46EC-805C-2B46870D5EF2}"/>
              </a:ext>
            </a:extLst>
          </p:cNvPr>
          <p:cNvSpPr>
            <a:spLocks noGrp="1"/>
          </p:cNvSpPr>
          <p:nvPr/>
        </p:nvSpPr>
        <p:spPr>
          <a:xfrm>
            <a:off x="895350" y="37909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기업 규모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C650B8-DA56-4DAC-BEDC-5A5CEBD424B6}"/>
              </a:ext>
            </a:extLst>
          </p:cNvPr>
          <p:cNvSpPr>
            <a:spLocks noGrp="1"/>
          </p:cNvSpPr>
          <p:nvPr/>
        </p:nvSpPr>
        <p:spPr>
          <a:xfrm>
            <a:off x="704850" y="413385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B81D773-B527-4437-85BA-0193CAE26A5E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매출 규모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C224B3-F720-42FB-BBE2-81E661057DA6}"/>
              </a:ext>
            </a:extLst>
          </p:cNvPr>
          <p:cNvSpPr>
            <a:spLocks noGrp="1"/>
          </p:cNvSpPr>
          <p:nvPr/>
        </p:nvSpPr>
        <p:spPr>
          <a:xfrm>
            <a:off x="704850" y="441960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C51E4A-DE90-4ECC-9A4B-17E72F9FE030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고용 규모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D423CB-85DC-494C-BB9D-EABCFE1C9314}"/>
              </a:ext>
            </a:extLst>
          </p:cNvPr>
          <p:cNvSpPr>
            <a:spLocks noGrp="1"/>
          </p:cNvSpPr>
          <p:nvPr/>
        </p:nvSpPr>
        <p:spPr>
          <a:xfrm>
            <a:off x="704850" y="470535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17F8E6C-1FF3-4F1F-B7E4-E38C882D7ED4}"/>
              </a:ext>
            </a:extLst>
          </p:cNvPr>
          <p:cNvSpPr>
            <a:spLocks noGrp="1"/>
          </p:cNvSpPr>
          <p:nvPr/>
        </p:nvSpPr>
        <p:spPr>
          <a:xfrm>
            <a:off x="895350" y="464820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대표자 연령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A79E96E-F7BA-4D20-8F32-949365C9F548}"/>
              </a:ext>
            </a:extLst>
          </p:cNvPr>
          <p:cNvSpPr>
            <a:spLocks noGrp="1"/>
          </p:cNvSpPr>
          <p:nvPr/>
        </p:nvSpPr>
        <p:spPr>
          <a:xfrm>
            <a:off x="3086100" y="299085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D46DA5-6744-47B3-8DCB-209CDB03C9DF}"/>
              </a:ext>
            </a:extLst>
          </p:cNvPr>
          <p:cNvSpPr>
            <a:spLocks noGrp="1"/>
          </p:cNvSpPr>
          <p:nvPr/>
        </p:nvSpPr>
        <p:spPr>
          <a:xfrm>
            <a:off x="3276600" y="293370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대표자·기업 특성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1119B00-068E-4602-A17B-6DCB15D6C0CA}"/>
              </a:ext>
            </a:extLst>
          </p:cNvPr>
          <p:cNvSpPr>
            <a:spLocks noGrp="1"/>
          </p:cNvSpPr>
          <p:nvPr/>
        </p:nvSpPr>
        <p:spPr>
          <a:xfrm>
            <a:off x="3086100" y="327660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B652B-243B-40F7-8896-CF16D41C33B5}"/>
              </a:ext>
            </a:extLst>
          </p:cNvPr>
          <p:cNvSpPr>
            <a:spLocks noGrp="1"/>
          </p:cNvSpPr>
          <p:nvPr/>
        </p:nvSpPr>
        <p:spPr>
          <a:xfrm>
            <a:off x="3276600" y="32194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인증·자격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87E1309-08D0-4D5B-B9D9-1B0A7855C914}"/>
              </a:ext>
            </a:extLst>
          </p:cNvPr>
          <p:cNvSpPr>
            <a:spLocks noGrp="1"/>
          </p:cNvSpPr>
          <p:nvPr/>
        </p:nvSpPr>
        <p:spPr>
          <a:xfrm>
            <a:off x="3086100" y="356235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4AF975-26E8-49F0-BC93-D926CB121B54}"/>
              </a:ext>
            </a:extLst>
          </p:cNvPr>
          <p:cNvSpPr>
            <a:spLocks noGrp="1"/>
          </p:cNvSpPr>
          <p:nvPr/>
        </p:nvSpPr>
        <p:spPr>
          <a:xfrm>
            <a:off x="3276600" y="350520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기존 선정 이력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FE6AB1E-2516-475B-8E46-4984CBCE43F4}"/>
              </a:ext>
            </a:extLst>
          </p:cNvPr>
          <p:cNvSpPr>
            <a:spLocks noGrp="1"/>
          </p:cNvSpPr>
          <p:nvPr/>
        </p:nvSpPr>
        <p:spPr>
          <a:xfrm>
            <a:off x="3086100" y="384810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AE45876-BFA0-441B-B75E-EF5A1305F6CD}"/>
              </a:ext>
            </a:extLst>
          </p:cNvPr>
          <p:cNvSpPr>
            <a:spLocks noGrp="1"/>
          </p:cNvSpPr>
          <p:nvPr/>
        </p:nvSpPr>
        <p:spPr>
          <a:xfrm>
            <a:off x="3276600" y="37909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지식재산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D0FDE46-6FB7-4FF1-98E5-592896CDC996}"/>
              </a:ext>
            </a:extLst>
          </p:cNvPr>
          <p:cNvSpPr>
            <a:spLocks noGrp="1"/>
          </p:cNvSpPr>
          <p:nvPr/>
        </p:nvSpPr>
        <p:spPr>
          <a:xfrm>
            <a:off x="3086100" y="413385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9CF65E4-5153-4394-ABCB-1BE8DE0BE514}"/>
              </a:ext>
            </a:extLst>
          </p:cNvPr>
          <p:cNvSpPr>
            <a:spLocks noGrp="1"/>
          </p:cNvSpPr>
          <p:nvPr/>
        </p:nvSpPr>
        <p:spPr>
          <a:xfrm>
            <a:off x="3276600" y="407670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대상 유형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3F8004F-E575-4127-BB3D-954FFFCE8AE7}"/>
              </a:ext>
            </a:extLst>
          </p:cNvPr>
          <p:cNvSpPr>
            <a:spLocks noGrp="1"/>
          </p:cNvSpPr>
          <p:nvPr/>
        </p:nvSpPr>
        <p:spPr>
          <a:xfrm>
            <a:off x="3086100" y="441960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C2883EB-E110-49AD-9D1C-0B50D75A4F38}"/>
              </a:ext>
            </a:extLst>
          </p:cNvPr>
          <p:cNvSpPr>
            <a:spLocks noGrp="1"/>
          </p:cNvSpPr>
          <p:nvPr/>
        </p:nvSpPr>
        <p:spPr>
          <a:xfrm>
            <a:off x="3276600" y="43624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영업 상태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29EF1E0-2173-41AF-8622-BA6628D8D7E8}"/>
              </a:ext>
            </a:extLst>
          </p:cNvPr>
          <p:cNvSpPr>
            <a:spLocks noGrp="1"/>
          </p:cNvSpPr>
          <p:nvPr/>
        </p:nvSpPr>
        <p:spPr>
          <a:xfrm>
            <a:off x="3086100" y="4705350"/>
            <a:ext cx="66675" cy="66675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C78AF71-E4E3-4389-9BBB-70EF1221927B}"/>
              </a:ext>
            </a:extLst>
          </p:cNvPr>
          <p:cNvSpPr>
            <a:spLocks noGrp="1"/>
          </p:cNvSpPr>
          <p:nvPr/>
        </p:nvSpPr>
        <p:spPr>
          <a:xfrm>
            <a:off x="3276600" y="464820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추가 확인 사항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5391380-3A90-43A2-8571-2FF2674C6450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공고의 필수·우대·배제 조건을 회사 프로필과 비교하기 위한 기준입니다.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7540063-1AB3-481C-B57C-5C121F9238E4}"/>
              </a:ext>
            </a:extLst>
          </p:cNvPr>
          <p:cNvSpPr>
            <a:spLocks noGrp="1"/>
          </p:cNvSpPr>
          <p:nvPr/>
        </p:nvSpPr>
        <p:spPr>
          <a:xfrm>
            <a:off x="6648450" y="23622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7가지 지원 내용 분류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7B99EB-626E-499F-A526-1D113151237C}"/>
              </a:ext>
            </a:extLst>
          </p:cNvPr>
          <p:cNvSpPr>
            <a:spLocks noGrp="1"/>
          </p:cNvSpPr>
          <p:nvPr/>
        </p:nvSpPr>
        <p:spPr>
          <a:xfrm>
            <a:off x="6667500" y="2971800"/>
            <a:ext cx="66675" cy="66675"/>
          </a:xfrm>
          <a:prstGeom prst="rect">
            <a:avLst/>
          </a:prstGeom>
          <a:solidFill>
            <a:srgbClr val="080808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B07E546-0593-43EB-A336-7501C7E90EB6}"/>
              </a:ext>
            </a:extLst>
          </p:cNvPr>
          <p:cNvSpPr>
            <a:spLocks noGrp="1"/>
          </p:cNvSpPr>
          <p:nvPr/>
        </p:nvSpPr>
        <p:spPr>
          <a:xfrm>
            <a:off x="6858000" y="29146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사업화 자금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06D8772-DAC5-463F-B2E8-19BB73ABF418}"/>
              </a:ext>
            </a:extLst>
          </p:cNvPr>
          <p:cNvSpPr>
            <a:spLocks noGrp="1"/>
          </p:cNvSpPr>
          <p:nvPr/>
        </p:nvSpPr>
        <p:spPr>
          <a:xfrm>
            <a:off x="8362950" y="29146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현금성 보조, 바우처, 사업비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73048E-33B0-4015-BBE9-E9F63D016223}"/>
              </a:ext>
            </a:extLst>
          </p:cNvPr>
          <p:cNvSpPr>
            <a:spLocks noGrp="1"/>
          </p:cNvSpPr>
          <p:nvPr/>
        </p:nvSpPr>
        <p:spPr>
          <a:xfrm>
            <a:off x="6667500" y="3267075"/>
            <a:ext cx="66675" cy="66675"/>
          </a:xfrm>
          <a:prstGeom prst="rect">
            <a:avLst/>
          </a:prstGeom>
          <a:solidFill>
            <a:srgbClr val="080808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6584450-FAAF-4E1F-B2C3-C814B7DB4006}"/>
              </a:ext>
            </a:extLst>
          </p:cNvPr>
          <p:cNvSpPr>
            <a:spLocks noGrp="1"/>
          </p:cNvSpPr>
          <p:nvPr/>
        </p:nvSpPr>
        <p:spPr>
          <a:xfrm>
            <a:off x="6858000" y="32099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융자·보증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485AE30-D6ED-45CB-8FCA-311C500AA351}"/>
              </a:ext>
            </a:extLst>
          </p:cNvPr>
          <p:cNvSpPr>
            <a:spLocks noGrp="1"/>
          </p:cNvSpPr>
          <p:nvPr/>
        </p:nvSpPr>
        <p:spPr>
          <a:xfrm>
            <a:off x="8362950" y="320992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저리 융자, 보증, 금융 연계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004DF9E-166A-40C4-BAB9-0B1D89F2A144}"/>
              </a:ext>
            </a:extLst>
          </p:cNvPr>
          <p:cNvSpPr>
            <a:spLocks noGrp="1"/>
          </p:cNvSpPr>
          <p:nvPr/>
        </p:nvSpPr>
        <p:spPr>
          <a:xfrm>
            <a:off x="6667500" y="3562350"/>
            <a:ext cx="66675" cy="66675"/>
          </a:xfrm>
          <a:prstGeom prst="rect">
            <a:avLst/>
          </a:prstGeom>
          <a:solidFill>
            <a:srgbClr val="080808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BEB63FA-B120-4DA1-BF3D-CB01CF0E4BE5}"/>
              </a:ext>
            </a:extLst>
          </p:cNvPr>
          <p:cNvSpPr>
            <a:spLocks noGrp="1"/>
          </p:cNvSpPr>
          <p:nvPr/>
        </p:nvSpPr>
        <p:spPr>
          <a:xfrm>
            <a:off x="6858000" y="35052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교육·컨설팅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51C6A8-FD34-4229-8729-E67B0AD12CFD}"/>
              </a:ext>
            </a:extLst>
          </p:cNvPr>
          <p:cNvSpPr>
            <a:spLocks noGrp="1"/>
          </p:cNvSpPr>
          <p:nvPr/>
        </p:nvSpPr>
        <p:spPr>
          <a:xfrm>
            <a:off x="8362950" y="350520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멘토링, 진단, 전문 컨설팅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055B880-6BD2-455F-AFF2-1800F78E1027}"/>
              </a:ext>
            </a:extLst>
          </p:cNvPr>
          <p:cNvSpPr>
            <a:spLocks noGrp="1"/>
          </p:cNvSpPr>
          <p:nvPr/>
        </p:nvSpPr>
        <p:spPr>
          <a:xfrm>
            <a:off x="6667500" y="3857625"/>
            <a:ext cx="66675" cy="66675"/>
          </a:xfrm>
          <a:prstGeom prst="rect">
            <a:avLst/>
          </a:prstGeom>
          <a:solidFill>
            <a:srgbClr val="080808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7880086-992E-467C-8663-70486110FB25}"/>
              </a:ext>
            </a:extLst>
          </p:cNvPr>
          <p:cNvSpPr>
            <a:spLocks noGrp="1"/>
          </p:cNvSpPr>
          <p:nvPr/>
        </p:nvSpPr>
        <p:spPr>
          <a:xfrm>
            <a:off x="6858000" y="380047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공간·장비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DA2E21A-F758-426F-A3A6-04D56A897EFC}"/>
              </a:ext>
            </a:extLst>
          </p:cNvPr>
          <p:cNvSpPr>
            <a:spLocks noGrp="1"/>
          </p:cNvSpPr>
          <p:nvPr/>
        </p:nvSpPr>
        <p:spPr>
          <a:xfrm>
            <a:off x="8362950" y="38004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입주 공간, 테스트베드, 장비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AA05B81-D453-4F74-AEA8-F33F25D3BEDD}"/>
              </a:ext>
            </a:extLst>
          </p:cNvPr>
          <p:cNvSpPr>
            <a:spLocks noGrp="1"/>
          </p:cNvSpPr>
          <p:nvPr/>
        </p:nvSpPr>
        <p:spPr>
          <a:xfrm>
            <a:off x="6667500" y="4152900"/>
            <a:ext cx="66675" cy="66675"/>
          </a:xfrm>
          <a:prstGeom prst="rect">
            <a:avLst/>
          </a:prstGeom>
          <a:solidFill>
            <a:srgbClr val="080808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FCA3CA3-CE9E-42AC-A5F3-90A248516E0C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판로·해외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D15443F-5BC1-4DDA-BA8E-CD8770CA5F6E}"/>
              </a:ext>
            </a:extLst>
          </p:cNvPr>
          <p:cNvSpPr>
            <a:spLocks noGrp="1"/>
          </p:cNvSpPr>
          <p:nvPr/>
        </p:nvSpPr>
        <p:spPr>
          <a:xfrm>
            <a:off x="8362950" y="40957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전시, 수출, 마케팅, 납품처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7082D5C-98E3-4BA4-B901-F8E81151BE6B}"/>
              </a:ext>
            </a:extLst>
          </p:cNvPr>
          <p:cNvSpPr>
            <a:spLocks noGrp="1"/>
          </p:cNvSpPr>
          <p:nvPr/>
        </p:nvSpPr>
        <p:spPr>
          <a:xfrm>
            <a:off x="6667500" y="4448175"/>
            <a:ext cx="66675" cy="66675"/>
          </a:xfrm>
          <a:prstGeom prst="rect">
            <a:avLst/>
          </a:prstGeom>
          <a:solidFill>
            <a:srgbClr val="080808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1504ED1-30FC-4C52-A20E-E13CB1B89AD5}"/>
              </a:ext>
            </a:extLst>
          </p:cNvPr>
          <p:cNvSpPr>
            <a:spLocks noGrp="1"/>
          </p:cNvSpPr>
          <p:nvPr/>
        </p:nvSpPr>
        <p:spPr>
          <a:xfrm>
            <a:off x="6858000" y="43910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인증·특허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F1CD22A-4B2E-4536-9BC3-CC6368378328}"/>
              </a:ext>
            </a:extLst>
          </p:cNvPr>
          <p:cNvSpPr>
            <a:spLocks noGrp="1"/>
          </p:cNvSpPr>
          <p:nvPr/>
        </p:nvSpPr>
        <p:spPr>
          <a:xfrm>
            <a:off x="8362950" y="439102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시험, 인증, IP 확보 지원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8AD42B7-BC3D-46F2-BA69-E287F2877D49}"/>
              </a:ext>
            </a:extLst>
          </p:cNvPr>
          <p:cNvSpPr>
            <a:spLocks noGrp="1"/>
          </p:cNvSpPr>
          <p:nvPr/>
        </p:nvSpPr>
        <p:spPr>
          <a:xfrm>
            <a:off x="6667500" y="4743450"/>
            <a:ext cx="66675" cy="66675"/>
          </a:xfrm>
          <a:prstGeom prst="rect">
            <a:avLst/>
          </a:prstGeom>
          <a:solidFill>
            <a:srgbClr val="080808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A6ED301-DDCF-4723-9E05-6E600878308F}"/>
              </a:ext>
            </a:extLst>
          </p:cNvPr>
          <p:cNvSpPr>
            <a:spLocks noGrp="1"/>
          </p:cNvSpPr>
          <p:nvPr/>
        </p:nvSpPr>
        <p:spPr>
          <a:xfrm>
            <a:off x="6858000" y="46863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네트워크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A2F448C-C03A-420B-B67C-610AC09B009A}"/>
              </a:ext>
            </a:extLst>
          </p:cNvPr>
          <p:cNvSpPr>
            <a:spLocks noGrp="1"/>
          </p:cNvSpPr>
          <p:nvPr/>
        </p:nvSpPr>
        <p:spPr>
          <a:xfrm>
            <a:off x="8362950" y="468630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파트너, 투자자, 협업 연결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CC782D5-D35E-4901-B06E-8C1C75CA19B8}"/>
              </a:ext>
            </a:extLst>
          </p:cNvPr>
          <p:cNvSpPr>
            <a:spLocks noGrp="1"/>
          </p:cNvSpPr>
          <p:nvPr/>
        </p:nvSpPr>
        <p:spPr>
          <a:xfrm>
            <a:off x="6648450" y="4876800"/>
            <a:ext cx="433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 내용은 단순 금액이 아니라, 회사가 얻는 성장 자원을 비교하기 위한 분류입니다.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A027A07-0A27-41A2-9ABC-EC71029676F3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 기준으로 공고를 정리하면, 추천 이유와 다음 행동이 비전문가에게도 바로 이해됩니다.</a:t>
            </a:r>
          </a:p>
        </p:txBody>
      </p:sp>
    </p:spTree>
    <p:extLst>
      <p:ext uri="{BB962C8B-B14F-4D97-AF65-F5344CB8AC3E}">
        <p14:creationId xmlns:p14="http://schemas.microsoft.com/office/powerpoint/2010/main" val="1107393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2D25464-6388-4C4B-9305-5342CB8C2BF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BENEFIT INSIGHT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9EAD0A-988A-447C-893A-57565BE18482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지원금 너머의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성장 자원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575FFE-7838-4BEC-A97C-02401B319483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공고를 지원 내용별로 쪼개면 사용자는 금액 외에도 판로, 인증, 교육, 공간, 네트워크 가치를 비교할 수 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57ADD1-DD26-47C2-A704-0A3929155E8C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F06083-329C-4DA8-8B27-CF691FFA2CE0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31FA9E-21FD-4FDC-B8C9-2BB69A46A779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3855AA6-E67F-48F8-9895-31D0DD81B698}"/>
              </a:ext>
            </a:extLst>
          </p:cNvPr>
          <p:cNvSpPr>
            <a:spLocks noGrp="1"/>
          </p:cNvSpPr>
          <p:nvPr/>
        </p:nvSpPr>
        <p:spPr>
          <a:xfrm>
            <a:off x="400050" y="2047875"/>
            <a:ext cx="6858000" cy="3857625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graphicFrame>
        <p:nvGraphicFramePr>
          <p:cNvPr id="29" name="Chart"/>
          <p:cNvGraphicFramePr/>
          <p:nvPr/>
        </p:nvGraphicFramePr>
        <p:xfrm>
          <a:off x="781050" y="2400300"/>
          <a:ext cx="6096000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68AA5330-94B5-47E5-8920-49AF89A87CC7}"/>
              </a:ext>
            </a:extLst>
          </p:cNvPr>
          <p:cNvSpPr>
            <a:spLocks noGrp="1"/>
          </p:cNvSpPr>
          <p:nvPr/>
        </p:nvSpPr>
        <p:spPr>
          <a:xfrm>
            <a:off x="781050" y="5600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상위 등장률: 컨설팅 25.3% · 전시/해외 24.1% · 마케팅 23.7% · 인증/IP 19.9% · 자금 10.1%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D64D09-4242-4436-9E89-40741385CDB9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3524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추천의 기준은</a:t>
            </a:r>
          </a:p>
          <a:p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“얼마를 주는가”에서</a:t>
            </a:r>
          </a:p>
          <a:p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“무엇을 성장시킬 수 있는가”로 이동합니다.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011C10-6388-40E4-8C65-E47A3F3674F5}"/>
              </a:ext>
            </a:extLst>
          </p:cNvPr>
          <p:cNvSpPr>
            <a:spLocks noGrp="1"/>
          </p:cNvSpPr>
          <p:nvPr/>
        </p:nvSpPr>
        <p:spPr>
          <a:xfrm>
            <a:off x="7905750" y="4095750"/>
            <a:ext cx="76200" cy="76200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93F885-A42D-4EF6-B821-B867824C276F}"/>
              </a:ext>
            </a:extLst>
          </p:cNvPr>
          <p:cNvSpPr>
            <a:spLocks noGrp="1"/>
          </p:cNvSpPr>
          <p:nvPr/>
        </p:nvSpPr>
        <p:spPr>
          <a:xfrm>
            <a:off x="8153400" y="40386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자금과 융자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51CBBD-1C04-45AA-8AF5-9B568E4ACB51}"/>
              </a:ext>
            </a:extLst>
          </p:cNvPr>
          <p:cNvSpPr>
            <a:spLocks noGrp="1"/>
          </p:cNvSpPr>
          <p:nvPr/>
        </p:nvSpPr>
        <p:spPr>
          <a:xfrm>
            <a:off x="7905750" y="4419600"/>
            <a:ext cx="76200" cy="76200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D9BEF6-AA04-482F-9C30-357220035C3E}"/>
              </a:ext>
            </a:extLst>
          </p:cNvPr>
          <p:cNvSpPr>
            <a:spLocks noGrp="1"/>
          </p:cNvSpPr>
          <p:nvPr/>
        </p:nvSpPr>
        <p:spPr>
          <a:xfrm>
            <a:off x="8153400" y="43624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판로와 해외 진출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FCB43F-EE50-4CD4-9FCE-7C83069EC222}"/>
              </a:ext>
            </a:extLst>
          </p:cNvPr>
          <p:cNvSpPr>
            <a:spLocks noGrp="1"/>
          </p:cNvSpPr>
          <p:nvPr/>
        </p:nvSpPr>
        <p:spPr>
          <a:xfrm>
            <a:off x="7905750" y="4743450"/>
            <a:ext cx="76200" cy="76200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8C0523F-880B-4526-9319-E3E7D657D7A4}"/>
              </a:ext>
            </a:extLst>
          </p:cNvPr>
          <p:cNvSpPr>
            <a:spLocks noGrp="1"/>
          </p:cNvSpPr>
          <p:nvPr/>
        </p:nvSpPr>
        <p:spPr>
          <a:xfrm>
            <a:off x="8153400" y="46863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인증과 지식재산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0B9F66B-912E-452D-9C2B-D05F6AA8CE4B}"/>
              </a:ext>
            </a:extLst>
          </p:cNvPr>
          <p:cNvSpPr>
            <a:spLocks noGrp="1"/>
          </p:cNvSpPr>
          <p:nvPr/>
        </p:nvSpPr>
        <p:spPr>
          <a:xfrm>
            <a:off x="7905750" y="5067300"/>
            <a:ext cx="76200" cy="76200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FDE0B4-5D94-4124-B890-7C9901C48240}"/>
              </a:ext>
            </a:extLst>
          </p:cNvPr>
          <p:cNvSpPr>
            <a:spLocks noGrp="1"/>
          </p:cNvSpPr>
          <p:nvPr/>
        </p:nvSpPr>
        <p:spPr>
          <a:xfrm>
            <a:off x="8153400" y="5010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교육과 컨설팅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125556-6681-4451-8EE7-E762055BBF8B}"/>
              </a:ext>
            </a:extLst>
          </p:cNvPr>
          <p:cNvSpPr>
            <a:spLocks noGrp="1"/>
          </p:cNvSpPr>
          <p:nvPr/>
        </p:nvSpPr>
        <p:spPr>
          <a:xfrm>
            <a:off x="7905750" y="5391150"/>
            <a:ext cx="76200" cy="76200"/>
          </a:xfrm>
          <a:prstGeom prst="rect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3C87107-2C63-4B2C-8C6D-1E9C02938260}"/>
              </a:ext>
            </a:extLst>
          </p:cNvPr>
          <p:cNvSpPr>
            <a:spLocks noGrp="1"/>
          </p:cNvSpPr>
          <p:nvPr/>
        </p:nvSpPr>
        <p:spPr>
          <a:xfrm>
            <a:off x="8153400" y="53340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공간과 네트워크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ADA023D-1B24-46A9-BC58-FCC2FB148A03}"/>
              </a:ext>
            </a:extLst>
          </p:cNvPr>
          <p:cNvSpPr>
            <a:spLocks noGrp="1"/>
          </p:cNvSpPr>
          <p:nvPr/>
        </p:nvSpPr>
        <p:spPr>
          <a:xfrm>
            <a:off x="7810500" y="58102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금액 미상 공고도 혜택 구조를 알면 비교 가능한 기회가 됩니다.</a:t>
            </a:r>
          </a:p>
        </p:txBody>
      </p:sp>
    </p:spTree>
    <p:extLst>
      <p:ext uri="{BB962C8B-B14F-4D97-AF65-F5344CB8AC3E}">
        <p14:creationId xmlns:p14="http://schemas.microsoft.com/office/powerpoint/2010/main" val="1667202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>
            <a:extLst>
              <a:ext uri="{FF2B5EF4-FFF2-40B4-BE49-F238E27FC236}">
                <a16:creationId xmlns:a16="http://schemas.microsoft.com/office/drawing/2014/main" id="{77B5D96D-1837-4462-AC79-53FAD7ABC4C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AWS ARCHITECTURE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E7E69D-706E-4339-A0CC-C1C4A12C96B9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공공영역 대응을 위한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AWS 운영 아키텍처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BAB4ED-958A-45B4-AE7D-F711E3E68304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CloudFront와 WAF를 전면에 두고, ALB·ECS·RDS·S3·EFS는 VPC 안에서 역할별로 분리합니다.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BE9487-D038-44B9-B851-7280ABDE4089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3209F1-45B0-44F4-A5D3-24C2FB6C3794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459010-5619-45C0-BF01-B3B2439D2008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08E7DA-E194-4AA8-A6CE-9B4088BEABF9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1762125" cy="323850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277F89-C119-4215-9908-64C9612EE256}"/>
              </a:ext>
            </a:extLst>
          </p:cNvPr>
          <p:cNvSpPr>
            <a:spLocks noGrp="1"/>
          </p:cNvSpPr>
          <p:nvPr/>
        </p:nvSpPr>
        <p:spPr>
          <a:xfrm>
            <a:off x="2381250" y="2095500"/>
            <a:ext cx="2095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AB74CD-D116-41CF-A5A7-AA3C52D6BD62}"/>
              </a:ext>
            </a:extLst>
          </p:cNvPr>
          <p:cNvSpPr>
            <a:spLocks noGrp="1"/>
          </p:cNvSpPr>
          <p:nvPr/>
        </p:nvSpPr>
        <p:spPr>
          <a:xfrm>
            <a:off x="4714875" y="2095500"/>
            <a:ext cx="4048125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4422BC-79CC-4CF3-A40B-B81E111BF35B}"/>
              </a:ext>
            </a:extLst>
          </p:cNvPr>
          <p:cNvSpPr>
            <a:spLocks noGrp="1"/>
          </p:cNvSpPr>
          <p:nvPr/>
        </p:nvSpPr>
        <p:spPr>
          <a:xfrm>
            <a:off x="9001125" y="2095500"/>
            <a:ext cx="2790825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7CDF7C-272E-4818-A53D-7A71B5865E5E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접속 보호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3A2CBE-D7AE-4DBE-88C9-B992420BEE9D}"/>
              </a:ext>
            </a:extLst>
          </p:cNvPr>
          <p:cNvSpPr>
            <a:spLocks noGrp="1"/>
          </p:cNvSpPr>
          <p:nvPr/>
        </p:nvSpPr>
        <p:spPr>
          <a:xfrm>
            <a:off x="2571750" y="22479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공개 영역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AAA3AF-2042-48A5-B87D-61881313FAA5}"/>
              </a:ext>
            </a:extLst>
          </p:cNvPr>
          <p:cNvSpPr>
            <a:spLocks noGrp="1"/>
          </p:cNvSpPr>
          <p:nvPr/>
        </p:nvSpPr>
        <p:spPr>
          <a:xfrm>
            <a:off x="4905375" y="22479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사설 운영 영역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01F6CD-483B-41C6-A087-5550A43AD4D9}"/>
              </a:ext>
            </a:extLst>
          </p:cNvPr>
          <p:cNvSpPr>
            <a:spLocks noGrp="1"/>
          </p:cNvSpPr>
          <p:nvPr/>
        </p:nvSpPr>
        <p:spPr>
          <a:xfrm>
            <a:off x="9191625" y="22479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데이터 저장 영역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954504-A1AE-4441-99EC-B949BA6AC36F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2573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8A6871-7BDA-4EE8-AB53-F7FC8A35440B}"/>
              </a:ext>
            </a:extLst>
          </p:cNvPr>
          <p:cNvSpPr>
            <a:spLocks noGrp="1"/>
          </p:cNvSpPr>
          <p:nvPr/>
        </p:nvSpPr>
        <p:spPr>
          <a:xfrm>
            <a:off x="742950" y="2743200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Route 53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BC5AEF-E6D3-4565-9BB8-513B8A596A4D}"/>
              </a:ext>
            </a:extLst>
          </p:cNvPr>
          <p:cNvSpPr>
            <a:spLocks noGrp="1"/>
          </p:cNvSpPr>
          <p:nvPr/>
        </p:nvSpPr>
        <p:spPr>
          <a:xfrm>
            <a:off x="742950" y="2990850"/>
            <a:ext cx="10287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DNS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F100A7-4D6F-41F2-9E6F-4745B065F25D}"/>
              </a:ext>
            </a:extLst>
          </p:cNvPr>
          <p:cNvSpPr>
            <a:spLocks noGrp="1"/>
          </p:cNvSpPr>
          <p:nvPr/>
        </p:nvSpPr>
        <p:spPr>
          <a:xfrm>
            <a:off x="628650" y="3352800"/>
            <a:ext cx="1257300" cy="6096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28FEFB7-E410-4817-8678-0D3F7A3685EE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CloudFront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F83B2C9-BD7A-43F0-B6E9-745361A27A82}"/>
              </a:ext>
            </a:extLst>
          </p:cNvPr>
          <p:cNvSpPr>
            <a:spLocks noGrp="1"/>
          </p:cNvSpPr>
          <p:nvPr/>
        </p:nvSpPr>
        <p:spPr>
          <a:xfrm>
            <a:off x="742950" y="3695700"/>
            <a:ext cx="102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정적 캐시</a:t>
            </a:r>
          </a:p>
          <a:p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TLS 종단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01D1A9-B8AD-4917-93C1-162A8AD0BAED}"/>
              </a:ext>
            </a:extLst>
          </p:cNvPr>
          <p:cNvSpPr>
            <a:spLocks noGrp="1"/>
          </p:cNvSpPr>
          <p:nvPr/>
        </p:nvSpPr>
        <p:spPr>
          <a:xfrm>
            <a:off x="628650" y="4152900"/>
            <a:ext cx="1257300" cy="6096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474DEF-00F3-49B5-B6CA-D101651D4BC0}"/>
              </a:ext>
            </a:extLst>
          </p:cNvPr>
          <p:cNvSpPr>
            <a:spLocks noGrp="1"/>
          </p:cNvSpPr>
          <p:nvPr/>
        </p:nvSpPr>
        <p:spPr>
          <a:xfrm>
            <a:off x="742950" y="4248150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AWS WAF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94E7084-8BB2-4CF7-9159-C954A3C72575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102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관리형 룰</a:t>
            </a:r>
          </a:p>
          <a:p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rate limit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E31BC66-EF13-4CBD-AB61-12CD705E9615}"/>
              </a:ext>
            </a:extLst>
          </p:cNvPr>
          <p:cNvSpPr>
            <a:spLocks noGrp="1"/>
          </p:cNvSpPr>
          <p:nvPr/>
        </p:nvSpPr>
        <p:spPr>
          <a:xfrm>
            <a:off x="2628900" y="3352800"/>
            <a:ext cx="1581150" cy="70485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9E2FFE-C10C-4EEE-B6EA-97626EA722CB}"/>
              </a:ext>
            </a:extLst>
          </p:cNvPr>
          <p:cNvSpPr>
            <a:spLocks noGrp="1"/>
          </p:cNvSpPr>
          <p:nvPr/>
        </p:nvSpPr>
        <p:spPr>
          <a:xfrm>
            <a:off x="2743200" y="3448050"/>
            <a:ext cx="1352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ALB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720D8B5-D5D0-4FC4-96B2-7770437074E3}"/>
              </a:ext>
            </a:extLst>
          </p:cNvPr>
          <p:cNvSpPr>
            <a:spLocks noGrp="1"/>
          </p:cNvSpPr>
          <p:nvPr/>
        </p:nvSpPr>
        <p:spPr>
          <a:xfrm>
            <a:off x="2743200" y="3695700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Web/API 연결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3BEA9CA-223E-4A44-A05B-418F6A6FC55C}"/>
              </a:ext>
            </a:extLst>
          </p:cNvPr>
          <p:cNvSpPr>
            <a:spLocks noGrp="1"/>
          </p:cNvSpPr>
          <p:nvPr/>
        </p:nvSpPr>
        <p:spPr>
          <a:xfrm>
            <a:off x="1885950" y="4438650"/>
            <a:ext cx="5143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791234E-BC0C-4084-AA9B-AA3F251111E1}"/>
              </a:ext>
            </a:extLst>
          </p:cNvPr>
          <p:cNvSpPr>
            <a:spLocks noGrp="1"/>
          </p:cNvSpPr>
          <p:nvPr/>
        </p:nvSpPr>
        <p:spPr>
          <a:xfrm>
            <a:off x="2362200" y="42767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54AC9D-7C00-4640-B18F-1C4C9BD36833}"/>
              </a:ext>
            </a:extLst>
          </p:cNvPr>
          <p:cNvSpPr>
            <a:spLocks noGrp="1"/>
          </p:cNvSpPr>
          <p:nvPr/>
        </p:nvSpPr>
        <p:spPr>
          <a:xfrm>
            <a:off x="1885950" y="4181475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HTTPS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654E510-EF0E-4EB0-ABA5-9FF422A4EEEC}"/>
              </a:ext>
            </a:extLst>
          </p:cNvPr>
          <p:cNvSpPr>
            <a:spLocks noGrp="1"/>
          </p:cNvSpPr>
          <p:nvPr/>
        </p:nvSpPr>
        <p:spPr>
          <a:xfrm>
            <a:off x="5048250" y="2552700"/>
            <a:ext cx="1466850" cy="72390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63FD283-C280-4858-8FE8-1CBD65224BF0}"/>
              </a:ext>
            </a:extLst>
          </p:cNvPr>
          <p:cNvSpPr>
            <a:spLocks noGrp="1"/>
          </p:cNvSpPr>
          <p:nvPr/>
        </p:nvSpPr>
        <p:spPr>
          <a:xfrm>
            <a:off x="5162550" y="26479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ECS Service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29FAED1-980B-46AF-83CE-BB8B79B14212}"/>
              </a:ext>
            </a:extLst>
          </p:cNvPr>
          <p:cNvSpPr>
            <a:spLocks noGrp="1"/>
          </p:cNvSpPr>
          <p:nvPr/>
        </p:nvSpPr>
        <p:spPr>
          <a:xfrm>
            <a:off x="5162550" y="28956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Web/BFF</a:t>
            </a: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App API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430BCF9-8220-4101-A942-8AED8A83B498}"/>
              </a:ext>
            </a:extLst>
          </p:cNvPr>
          <p:cNvSpPr>
            <a:spLocks noGrp="1"/>
          </p:cNvSpPr>
          <p:nvPr/>
        </p:nvSpPr>
        <p:spPr>
          <a:xfrm>
            <a:off x="6705600" y="2552700"/>
            <a:ext cx="1466850" cy="72390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4C8452-949B-4598-AFE9-956360E7772B}"/>
              </a:ext>
            </a:extLst>
          </p:cNvPr>
          <p:cNvSpPr>
            <a:spLocks noGrp="1"/>
          </p:cNvSpPr>
          <p:nvPr/>
        </p:nvSpPr>
        <p:spPr>
          <a:xfrm>
            <a:off x="6819900" y="26479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ECS Service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8D5DEE-ECBE-43DE-94A2-298FFDB4ED4D}"/>
              </a:ext>
            </a:extLst>
          </p:cNvPr>
          <p:cNvSpPr>
            <a:spLocks noGrp="1"/>
          </p:cNvSpPr>
          <p:nvPr/>
        </p:nvSpPr>
        <p:spPr>
          <a:xfrm>
            <a:off x="6819900" y="28956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Admin/API</a:t>
            </a: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Auth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66CA04D-9D08-4C3C-A4EE-0C3B5AEEC2F3}"/>
              </a:ext>
            </a:extLst>
          </p:cNvPr>
          <p:cNvSpPr>
            <a:spLocks noGrp="1"/>
          </p:cNvSpPr>
          <p:nvPr/>
        </p:nvSpPr>
        <p:spPr>
          <a:xfrm>
            <a:off x="4210050" y="3695700"/>
            <a:ext cx="609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800B232-AAD8-4C46-8002-909B602CD2BA}"/>
              </a:ext>
            </a:extLst>
          </p:cNvPr>
          <p:cNvSpPr>
            <a:spLocks noGrp="1"/>
          </p:cNvSpPr>
          <p:nvPr/>
        </p:nvSpPr>
        <p:spPr>
          <a:xfrm>
            <a:off x="4781550" y="35337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A9685F8-74D6-42AD-8CDE-F7D22008049B}"/>
              </a:ext>
            </a:extLst>
          </p:cNvPr>
          <p:cNvSpPr>
            <a:spLocks noGrp="1"/>
          </p:cNvSpPr>
          <p:nvPr/>
        </p:nvSpPr>
        <p:spPr>
          <a:xfrm>
            <a:off x="4210050" y="3438525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연결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713AC1A-793B-44C2-852A-861635265E4B}"/>
              </a:ext>
            </a:extLst>
          </p:cNvPr>
          <p:cNvSpPr>
            <a:spLocks noGrp="1"/>
          </p:cNvSpPr>
          <p:nvPr/>
        </p:nvSpPr>
        <p:spPr>
          <a:xfrm>
            <a:off x="5048250" y="4000500"/>
            <a:ext cx="1466850" cy="72390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6EE6400-BF60-48FC-8152-7672A9C1B802}"/>
              </a:ext>
            </a:extLst>
          </p:cNvPr>
          <p:cNvSpPr>
            <a:spLocks noGrp="1"/>
          </p:cNvSpPr>
          <p:nvPr/>
        </p:nvSpPr>
        <p:spPr>
          <a:xfrm>
            <a:off x="5162550" y="4095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ECS Tasks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2906F79-AB5F-449F-B7C2-C4C9323FD7AB}"/>
              </a:ext>
            </a:extLst>
          </p:cNvPr>
          <p:cNvSpPr>
            <a:spLocks noGrp="1"/>
          </p:cNvSpPr>
          <p:nvPr/>
        </p:nvSpPr>
        <p:spPr>
          <a:xfrm>
            <a:off x="5162550" y="43434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수집</a:t>
            </a: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변환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5CD7C22-1F61-4F6D-AC5F-371FFDA0790E}"/>
              </a:ext>
            </a:extLst>
          </p:cNvPr>
          <p:cNvSpPr>
            <a:spLocks noGrp="1"/>
          </p:cNvSpPr>
          <p:nvPr/>
        </p:nvSpPr>
        <p:spPr>
          <a:xfrm>
            <a:off x="6705600" y="4000500"/>
            <a:ext cx="1466850" cy="72390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B6BC0B2-1B98-4B3B-B152-442922DCAA05}"/>
              </a:ext>
            </a:extLst>
          </p:cNvPr>
          <p:cNvSpPr>
            <a:spLocks noGrp="1"/>
          </p:cNvSpPr>
          <p:nvPr/>
        </p:nvSpPr>
        <p:spPr>
          <a:xfrm>
            <a:off x="6819900" y="4095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ECS Tasks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6D485C4-6E81-4083-9033-0AFD0F925F5F}"/>
              </a:ext>
            </a:extLst>
          </p:cNvPr>
          <p:cNvSpPr>
            <a:spLocks noGrp="1"/>
          </p:cNvSpPr>
          <p:nvPr/>
        </p:nvSpPr>
        <p:spPr>
          <a:xfrm>
            <a:off x="6819900" y="43434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추출</a:t>
            </a: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BB0B9E4-E89A-46AB-87C8-F00CA75DF86D}"/>
              </a:ext>
            </a:extLst>
          </p:cNvPr>
          <p:cNvSpPr>
            <a:spLocks noGrp="1"/>
          </p:cNvSpPr>
          <p:nvPr/>
        </p:nvSpPr>
        <p:spPr>
          <a:xfrm>
            <a:off x="9315450" y="2457450"/>
            <a:ext cx="2095500" cy="62865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668ABF0-69E2-496D-A15D-DBBFA009EE48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RDS PostgreSQL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140DA70-BEC3-43AC-94A1-120DD8BF93B7}"/>
              </a:ext>
            </a:extLst>
          </p:cNvPr>
          <p:cNvSpPr>
            <a:spLocks noGrp="1"/>
          </p:cNvSpPr>
          <p:nvPr/>
        </p:nvSpPr>
        <p:spPr>
          <a:xfrm>
            <a:off x="9429750" y="28003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Multi-AZ · PITR</a:t>
            </a:r>
          </a:p>
          <a:p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공고·매칭 상태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6ADE061-2958-4D4C-B5D7-9B5522F47801}"/>
              </a:ext>
            </a:extLst>
          </p:cNvPr>
          <p:cNvSpPr>
            <a:spLocks noGrp="1"/>
          </p:cNvSpPr>
          <p:nvPr/>
        </p:nvSpPr>
        <p:spPr>
          <a:xfrm>
            <a:off x="9315450" y="3295650"/>
            <a:ext cx="2095500" cy="62865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515313A-06BE-47B5-9CF1-CDCD439F4C56}"/>
              </a:ext>
            </a:extLst>
          </p:cNvPr>
          <p:cNvSpPr>
            <a:spLocks noGrp="1"/>
          </p:cNvSpPr>
          <p:nvPr/>
        </p:nvSpPr>
        <p:spPr>
          <a:xfrm>
            <a:off x="9429750" y="339090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Amazon S3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37DCABD-E88E-4507-9A67-1F3B2487F1CF}"/>
              </a:ext>
            </a:extLst>
          </p:cNvPr>
          <p:cNvSpPr>
            <a:spLocks noGrp="1"/>
          </p:cNvSpPr>
          <p:nvPr/>
        </p:nvSpPr>
        <p:spPr>
          <a:xfrm>
            <a:off x="9429750" y="36385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SSE-KMS</a:t>
            </a:r>
          </a:p>
          <a:p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원문·첨부·산출물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B8AD2D9-1C8A-4029-BEB6-0D7FEDA93E1A}"/>
              </a:ext>
            </a:extLst>
          </p:cNvPr>
          <p:cNvSpPr>
            <a:spLocks noGrp="1"/>
          </p:cNvSpPr>
          <p:nvPr/>
        </p:nvSpPr>
        <p:spPr>
          <a:xfrm>
            <a:off x="9315450" y="4133850"/>
            <a:ext cx="2095500" cy="62865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6BFBFF5-8AB2-4403-9C2E-8E5E1B5D400E}"/>
              </a:ext>
            </a:extLst>
          </p:cNvPr>
          <p:cNvSpPr>
            <a:spLocks noGrp="1"/>
          </p:cNvSpPr>
          <p:nvPr/>
        </p:nvSpPr>
        <p:spPr>
          <a:xfrm>
            <a:off x="9429750" y="422910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Amazon EFS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1625824-3E01-4A49-AC72-86B086B77771}"/>
              </a:ext>
            </a:extLst>
          </p:cNvPr>
          <p:cNvSpPr>
            <a:spLocks noGrp="1"/>
          </p:cNvSpPr>
          <p:nvPr/>
        </p:nvSpPr>
        <p:spPr>
          <a:xfrm>
            <a:off x="9429750" y="44767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전송/저장 암호화</a:t>
            </a:r>
          </a:p>
          <a:p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작업 공유 저장소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5A8EFE8-3C48-4422-B4F1-6DBD1487735F}"/>
              </a:ext>
            </a:extLst>
          </p:cNvPr>
          <p:cNvSpPr>
            <a:spLocks noGrp="1"/>
          </p:cNvSpPr>
          <p:nvPr/>
        </p:nvSpPr>
        <p:spPr>
          <a:xfrm>
            <a:off x="8172450" y="2762250"/>
            <a:ext cx="914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3C1E158-D321-4AB4-BF05-34F897CD7E26}"/>
              </a:ext>
            </a:extLst>
          </p:cNvPr>
          <p:cNvSpPr>
            <a:spLocks noGrp="1"/>
          </p:cNvSpPr>
          <p:nvPr/>
        </p:nvSpPr>
        <p:spPr>
          <a:xfrm>
            <a:off x="9048750" y="26003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2AD0F36-A135-428E-B39E-A3648DE05F18}"/>
              </a:ext>
            </a:extLst>
          </p:cNvPr>
          <p:cNvSpPr>
            <a:spLocks noGrp="1"/>
          </p:cNvSpPr>
          <p:nvPr/>
        </p:nvSpPr>
        <p:spPr>
          <a:xfrm>
            <a:off x="8172450" y="250507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0446BAA-1973-4230-9DED-1730CB6AF157}"/>
              </a:ext>
            </a:extLst>
          </p:cNvPr>
          <p:cNvSpPr>
            <a:spLocks noGrp="1"/>
          </p:cNvSpPr>
          <p:nvPr/>
        </p:nvSpPr>
        <p:spPr>
          <a:xfrm>
            <a:off x="8172450" y="3600450"/>
            <a:ext cx="914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42CB005-397C-4AB2-99BF-6C027A5136DA}"/>
              </a:ext>
            </a:extLst>
          </p:cNvPr>
          <p:cNvSpPr>
            <a:spLocks noGrp="1"/>
          </p:cNvSpPr>
          <p:nvPr/>
        </p:nvSpPr>
        <p:spPr>
          <a:xfrm>
            <a:off x="9048750" y="34385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F03477B-DA0F-4643-84A3-F15783EDF121}"/>
              </a:ext>
            </a:extLst>
          </p:cNvPr>
          <p:cNvSpPr>
            <a:spLocks noGrp="1"/>
          </p:cNvSpPr>
          <p:nvPr/>
        </p:nvSpPr>
        <p:spPr>
          <a:xfrm>
            <a:off x="8172450" y="334327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object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8BAAE19-304D-456B-9745-D372E0687AF3}"/>
              </a:ext>
            </a:extLst>
          </p:cNvPr>
          <p:cNvSpPr>
            <a:spLocks noGrp="1"/>
          </p:cNvSpPr>
          <p:nvPr/>
        </p:nvSpPr>
        <p:spPr>
          <a:xfrm>
            <a:off x="8172450" y="4438650"/>
            <a:ext cx="914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1382F80-A9D2-4EAB-A01C-82054D84F13B}"/>
              </a:ext>
            </a:extLst>
          </p:cNvPr>
          <p:cNvSpPr>
            <a:spLocks noGrp="1"/>
          </p:cNvSpPr>
          <p:nvPr/>
        </p:nvSpPr>
        <p:spPr>
          <a:xfrm>
            <a:off x="9048750" y="42767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D5E6B09-735F-42A5-AC74-D56C0665BD8F}"/>
              </a:ext>
            </a:extLst>
          </p:cNvPr>
          <p:cNvSpPr>
            <a:spLocks noGrp="1"/>
          </p:cNvSpPr>
          <p:nvPr/>
        </p:nvSpPr>
        <p:spPr>
          <a:xfrm>
            <a:off x="8172450" y="418147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91D8836-4356-4DE1-B400-7CF266F62456}"/>
              </a:ext>
            </a:extLst>
          </p:cNvPr>
          <p:cNvSpPr>
            <a:spLocks noGrp="1"/>
          </p:cNvSpPr>
          <p:nvPr/>
        </p:nvSpPr>
        <p:spPr>
          <a:xfrm>
            <a:off x="5048250" y="5381625"/>
            <a:ext cx="14668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4E5E410-2673-4525-A5E5-C0F0E808E06F}"/>
              </a:ext>
            </a:extLst>
          </p:cNvPr>
          <p:cNvSpPr>
            <a:spLocks noGrp="1"/>
          </p:cNvSpPr>
          <p:nvPr/>
        </p:nvSpPr>
        <p:spPr>
          <a:xfrm>
            <a:off x="5181600" y="5448300"/>
            <a:ext cx="1200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EventBridge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8B267AA-1308-401D-B356-7B26CDEA5EB7}"/>
              </a:ext>
            </a:extLst>
          </p:cNvPr>
          <p:cNvSpPr>
            <a:spLocks noGrp="1"/>
          </p:cNvSpPr>
          <p:nvPr/>
        </p:nvSpPr>
        <p:spPr>
          <a:xfrm>
            <a:off x="6705600" y="5381625"/>
            <a:ext cx="14668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400D0D6-307D-4829-AE00-631128D10426}"/>
              </a:ext>
            </a:extLst>
          </p:cNvPr>
          <p:cNvSpPr>
            <a:spLocks noGrp="1"/>
          </p:cNvSpPr>
          <p:nvPr/>
        </p:nvSpPr>
        <p:spPr>
          <a:xfrm>
            <a:off x="6838950" y="5448300"/>
            <a:ext cx="1200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CloudWatch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EB63746-5378-4328-A56F-278C40EDBF1F}"/>
              </a:ext>
            </a:extLst>
          </p:cNvPr>
          <p:cNvSpPr>
            <a:spLocks noGrp="1"/>
          </p:cNvSpPr>
          <p:nvPr/>
        </p:nvSpPr>
        <p:spPr>
          <a:xfrm>
            <a:off x="9315450" y="4972050"/>
            <a:ext cx="20955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71B2CE6-1B0D-4F19-A936-FCD30844BB86}"/>
              </a:ext>
            </a:extLst>
          </p:cNvPr>
          <p:cNvSpPr>
            <a:spLocks noGrp="1"/>
          </p:cNvSpPr>
          <p:nvPr/>
        </p:nvSpPr>
        <p:spPr>
          <a:xfrm>
            <a:off x="9429750" y="5038725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KMS · Secrets Manager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A5894F3-D4C0-4432-B078-D5F3F32C8CA1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CloudFront/WAF, private subnet, KMS 암호화, 관측·키·비밀 관리를 기본 운영 단위로 묶어 신뢰 기준을 맞춥니다.</a:t>
            </a:r>
          </a:p>
        </p:txBody>
      </p:sp>
    </p:spTree>
    <p:extLst>
      <p:ext uri="{BB962C8B-B14F-4D97-AF65-F5344CB8AC3E}">
        <p14:creationId xmlns:p14="http://schemas.microsoft.com/office/powerpoint/2010/main" val="1027538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6C1617F1-32EE-489C-8145-EFAB7F81AEC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SECURITY BASELINE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079139-62F4-4FC9-8D12-B73F370EAEF4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공공영역 대응 개인정보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보호체계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E64CF9-FB72-44F5-BF09-227BBC123EAF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개인정보 안전성 확보조치와 ISMS-P 수준의 관리·기술·운영 통제를 제품 운영 기준으로 삼습니다.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EE56A4-700B-4373-9160-CE1F00F735C7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CC246C-F768-4F16-871C-B26F9FFDD43D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C169A8-C487-4C75-B49B-CAFE373BC2FD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5FF640-925B-43A5-B5FE-FB4EE84F41E1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3381375" cy="24765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2B6858-1821-41FA-980D-8D9F2C2B37F6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2962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GOVERNANCE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BC21CA-F965-4A69-8BFD-C0A00355553A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2962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관리 체계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8330AB6-1090-44E3-8DB1-AE1590A1843F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2962275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보호책임자, 관리계획, 위험평가, 위탁관리, 보관·파기 정책을 운영 기준으로 둡니다.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BFD463-5922-48B9-8551-38A5999A3E32}"/>
              </a:ext>
            </a:extLst>
          </p:cNvPr>
          <p:cNvSpPr>
            <a:spLocks noGrp="1"/>
          </p:cNvSpPr>
          <p:nvPr/>
        </p:nvSpPr>
        <p:spPr>
          <a:xfrm>
            <a:off x="4400550" y="2095500"/>
            <a:ext cx="3381375" cy="24765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CB9754-6459-4232-B39A-E7EC03B08F46}"/>
              </a:ext>
            </a:extLst>
          </p:cNvPr>
          <p:cNvSpPr>
            <a:spLocks noGrp="1"/>
          </p:cNvSpPr>
          <p:nvPr/>
        </p:nvSpPr>
        <p:spPr>
          <a:xfrm>
            <a:off x="4610100" y="2266950"/>
            <a:ext cx="2962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기술 보호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B33BBF-96AD-4BBA-9C02-A67369FEA4B2}"/>
              </a:ext>
            </a:extLst>
          </p:cNvPr>
          <p:cNvSpPr>
            <a:spLocks noGrp="1"/>
          </p:cNvSpPr>
          <p:nvPr/>
        </p:nvSpPr>
        <p:spPr>
          <a:xfrm>
            <a:off x="4610100" y="2552700"/>
            <a:ext cx="2962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기술 보호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ACC08A-D43D-41A7-8C93-2A90F68C6E7D}"/>
              </a:ext>
            </a:extLst>
          </p:cNvPr>
          <p:cNvSpPr>
            <a:spLocks noGrp="1"/>
          </p:cNvSpPr>
          <p:nvPr/>
        </p:nvSpPr>
        <p:spPr>
          <a:xfrm>
            <a:off x="4610100" y="3028950"/>
            <a:ext cx="2962275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TLS, KMS 기반 저장 암호화, 민감 컬럼 암호화, 최소권한, MFA, 사설망 격리를 적용합니다.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D0A440-BCF3-44AF-B4A8-B2A0A61B8788}"/>
              </a:ext>
            </a:extLst>
          </p:cNvPr>
          <p:cNvSpPr>
            <a:spLocks noGrp="1"/>
          </p:cNvSpPr>
          <p:nvPr/>
        </p:nvSpPr>
        <p:spPr>
          <a:xfrm>
            <a:off x="8401050" y="2095500"/>
            <a:ext cx="3390900" cy="24765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E19938-572B-48E4-B0C5-54BBD0EEF755}"/>
              </a:ext>
            </a:extLst>
          </p:cNvPr>
          <p:cNvSpPr>
            <a:spLocks noGrp="1"/>
          </p:cNvSpPr>
          <p:nvPr/>
        </p:nvSpPr>
        <p:spPr>
          <a:xfrm>
            <a:off x="8610600" y="2266950"/>
            <a:ext cx="2971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운영 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67D70D-4D74-40CD-A538-0EDA58B7ED88}"/>
              </a:ext>
            </a:extLst>
          </p:cNvPr>
          <p:cNvSpPr>
            <a:spLocks noGrp="1"/>
          </p:cNvSpPr>
          <p:nvPr/>
        </p:nvSpPr>
        <p:spPr>
          <a:xfrm>
            <a:off x="8610600" y="2552700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운영 통제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280E67-5338-40C5-8853-2DAF851C053F}"/>
              </a:ext>
            </a:extLst>
          </p:cNvPr>
          <p:cNvSpPr>
            <a:spLocks noGrp="1"/>
          </p:cNvSpPr>
          <p:nvPr/>
        </p:nvSpPr>
        <p:spPr>
          <a:xfrm>
            <a:off x="8610600" y="3028950"/>
            <a:ext cx="29718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접속기록, 관리자 작업 이력, 다운로드 추적, 이상징후 알림, 사고 대응 절차를 남깁니다.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ABDCB0-1419-483C-BACB-FB26AA19ECD2}"/>
              </a:ext>
            </a:extLst>
          </p:cNvPr>
          <p:cNvSpPr>
            <a:spLocks noGrp="1"/>
          </p:cNvSpPr>
          <p:nvPr/>
        </p:nvSpPr>
        <p:spPr>
          <a:xfrm>
            <a:off x="400050" y="5048250"/>
            <a:ext cx="11391900" cy="685800"/>
          </a:xfrm>
          <a:prstGeom prst="rect">
            <a:avLst/>
          </a:prstGeom>
          <a:solidFill>
            <a:srgbClr val="10101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8EDFE20-20B3-491F-BC3B-04A6A15062C8}"/>
              </a:ext>
            </a:extLst>
          </p:cNvPr>
          <p:cNvSpPr>
            <a:spLocks noGrp="1"/>
          </p:cNvSpPr>
          <p:nvPr/>
        </p:nvSpPr>
        <p:spPr>
          <a:xfrm>
            <a:off x="647700" y="52197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암호화 레벨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6491615-369E-4193-AAE4-F3D2384290DA}"/>
              </a:ext>
            </a:extLst>
          </p:cNvPr>
          <p:cNvSpPr>
            <a:spLocks noGrp="1"/>
          </p:cNvSpPr>
          <p:nvPr/>
        </p:nvSpPr>
        <p:spPr>
          <a:xfrm>
            <a:off x="2190750" y="5219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전송 TLS 1.2 이상 · 저장 AES-256/KMS · refresh token 해시 저장 · 고위험 필드 컬럼 단위 암호화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4C73C07-8C13-4FB6-96DF-3382C237924E}"/>
              </a:ext>
            </a:extLst>
          </p:cNvPr>
          <p:cNvSpPr>
            <a:spLocks noGrp="1"/>
          </p:cNvSpPr>
          <p:nvPr/>
        </p:nvSpPr>
        <p:spPr>
          <a:xfrm>
            <a:off x="400050" y="59055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개인정보는 수집 목적, 동의, 보관기간, 열람·삭제·철회 권리까지 하나의 운영 흐름으로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1129357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20DD4162-78D7-4A8C-98BD-9A0FCE64D65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DATA PIPELINE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99C9BF-EEDA-44CD-8ACA-F032A2E0535F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수집부터 반영까지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재사용되는 공고 정보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21B9B9-6DFD-4310-9D16-32EC8B98934B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 원문은 계속 바뀌지만, 서비스는 정리된 공고 정보만 바라보도록 설계합니다.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503983-841E-4A4E-8769-9DDA0809D28F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E485B3-7634-4F59-92B2-7CCF4E097C6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CA3AB1-32C3-463E-8D89-6A36E0B5204A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10D945-052B-47F1-BC36-0A4CF484B68B}"/>
              </a:ext>
            </a:extLst>
          </p:cNvPr>
          <p:cNvSpPr>
            <a:spLocks noGrp="1"/>
          </p:cNvSpPr>
          <p:nvPr/>
        </p:nvSpPr>
        <p:spPr>
          <a:xfrm>
            <a:off x="400050" y="2171700"/>
            <a:ext cx="2590800" cy="291465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F59EE3-66D9-4B90-9B95-974E416B6912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819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E84D54-7065-4CF2-A525-CE4D391DF3ED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2B587C-74B1-4136-B033-62496897F0FA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2095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 본문, 상세 페이지, 첨부 문서를 현재 상태와 함께 가져옵니다.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D96FD08-0D27-411F-80DE-4DC91DC4F0CA}"/>
              </a:ext>
            </a:extLst>
          </p:cNvPr>
          <p:cNvSpPr>
            <a:spLocks noGrp="1"/>
          </p:cNvSpPr>
          <p:nvPr/>
        </p:nvSpPr>
        <p:spPr>
          <a:xfrm>
            <a:off x="2914650" y="3324225"/>
            <a:ext cx="45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B49C73-1A0B-4C4B-8F2E-59F03828B5DD}"/>
              </a:ext>
            </a:extLst>
          </p:cNvPr>
          <p:cNvSpPr>
            <a:spLocks noGrp="1"/>
          </p:cNvSpPr>
          <p:nvPr/>
        </p:nvSpPr>
        <p:spPr>
          <a:xfrm>
            <a:off x="3333750" y="2171700"/>
            <a:ext cx="2590800" cy="291465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C6A6AE-C098-4970-B595-975D8DE84A64}"/>
              </a:ext>
            </a:extLst>
          </p:cNvPr>
          <p:cNvSpPr>
            <a:spLocks noGrp="1"/>
          </p:cNvSpPr>
          <p:nvPr/>
        </p:nvSpPr>
        <p:spPr>
          <a:xfrm>
            <a:off x="3543300" y="2381250"/>
            <a:ext cx="819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1A4B6E-2812-42E3-8F24-D3474D9E0096}"/>
              </a:ext>
            </a:extLst>
          </p:cNvPr>
          <p:cNvSpPr>
            <a:spLocks noGrp="1"/>
          </p:cNvSpPr>
          <p:nvPr/>
        </p:nvSpPr>
        <p:spPr>
          <a:xfrm>
            <a:off x="3543300" y="3028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변환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07DABD-1F39-490D-AB17-28F036654D99}"/>
              </a:ext>
            </a:extLst>
          </p:cNvPr>
          <p:cNvSpPr>
            <a:spLocks noGrp="1"/>
          </p:cNvSpPr>
          <p:nvPr/>
        </p:nvSpPr>
        <p:spPr>
          <a:xfrm>
            <a:off x="3543300" y="3600450"/>
            <a:ext cx="2095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문서와 표를 보존해 사람이 검토 가능한 중간 산출물로 바꿉니다.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6F89E39-73DD-4777-A885-DF9103319014}"/>
              </a:ext>
            </a:extLst>
          </p:cNvPr>
          <p:cNvSpPr>
            <a:spLocks noGrp="1"/>
          </p:cNvSpPr>
          <p:nvPr/>
        </p:nvSpPr>
        <p:spPr>
          <a:xfrm>
            <a:off x="5853666" y="3310934"/>
            <a:ext cx="45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9A1263-F1BB-4E0E-8292-E2E169F2026B}"/>
              </a:ext>
            </a:extLst>
          </p:cNvPr>
          <p:cNvSpPr>
            <a:spLocks noGrp="1"/>
          </p:cNvSpPr>
          <p:nvPr/>
        </p:nvSpPr>
        <p:spPr>
          <a:xfrm>
            <a:off x="6267450" y="2171700"/>
            <a:ext cx="2590800" cy="291465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DB222A-DAA4-4964-AC66-F9A1D76F5648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819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72BB20-BB22-404C-B467-99F359312A58}"/>
              </a:ext>
            </a:extLst>
          </p:cNvPr>
          <p:cNvSpPr>
            <a:spLocks noGrp="1"/>
          </p:cNvSpPr>
          <p:nvPr/>
        </p:nvSpPr>
        <p:spPr>
          <a:xfrm>
            <a:off x="6477000" y="3028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항목별 정리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96280A-CEBA-4A9B-BAF2-B7E4CF5783BE}"/>
              </a:ext>
            </a:extLst>
          </p:cNvPr>
          <p:cNvSpPr>
            <a:spLocks noGrp="1"/>
          </p:cNvSpPr>
          <p:nvPr/>
        </p:nvSpPr>
        <p:spPr>
          <a:xfrm>
            <a:off x="6477000" y="3600450"/>
            <a:ext cx="2095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지원 조건, 지원 내용, 신청 정보를 정해진 항목으로 정리합니다.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B304F97-F183-4F81-B5BA-A3961EC779CC}"/>
              </a:ext>
            </a:extLst>
          </p:cNvPr>
          <p:cNvSpPr>
            <a:spLocks noGrp="1"/>
          </p:cNvSpPr>
          <p:nvPr/>
        </p:nvSpPr>
        <p:spPr>
          <a:xfrm>
            <a:off x="8811733" y="3324225"/>
            <a:ext cx="45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86981A2-A1CE-4AC3-9B1A-81FC39A3A67F}"/>
              </a:ext>
            </a:extLst>
          </p:cNvPr>
          <p:cNvSpPr>
            <a:spLocks noGrp="1"/>
          </p:cNvSpPr>
          <p:nvPr/>
        </p:nvSpPr>
        <p:spPr>
          <a:xfrm>
            <a:off x="9201150" y="2171700"/>
            <a:ext cx="2590800" cy="291465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20881BA-EB1A-4094-8CD9-48F784F75302}"/>
              </a:ext>
            </a:extLst>
          </p:cNvPr>
          <p:cNvSpPr>
            <a:spLocks noGrp="1"/>
          </p:cNvSpPr>
          <p:nvPr/>
        </p:nvSpPr>
        <p:spPr>
          <a:xfrm>
            <a:off x="9410700" y="2381250"/>
            <a:ext cx="819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8BA0649-6766-4AD4-9A51-810B25BB435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서비스 반영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4818EBD-C066-46E7-82CF-334942125DC5}"/>
              </a:ext>
            </a:extLst>
          </p:cNvPr>
          <p:cNvSpPr>
            <a:spLocks noGrp="1"/>
          </p:cNvSpPr>
          <p:nvPr/>
        </p:nvSpPr>
        <p:spPr>
          <a:xfrm>
            <a:off x="9410700" y="3600450"/>
            <a:ext cx="2095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중복과 마감 상태를 정리해 서비스가 읽는 공고 정보로 반영합니다.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2710111-27AC-4094-A742-809DDB693A1D}"/>
              </a:ext>
            </a:extLst>
          </p:cNvPr>
          <p:cNvSpPr>
            <a:spLocks noGrp="1"/>
          </p:cNvSpPr>
          <p:nvPr/>
        </p:nvSpPr>
        <p:spPr>
          <a:xfrm>
            <a:off x="400050" y="5581650"/>
            <a:ext cx="942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운영 원칙: 서비스 화면과 추천 흐름은 원문이 아니라 검증된 공고 정보만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776032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7A5752-2E96-4E89-A9DB-2E125B2F132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MATCHING LOGIC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7A58CC-C0A6-49A0-A244-E3A6648884DA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조건 비교 기반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 로직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636B04-DE25-467B-8DB9-81E847BB2115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공고를 읽는 과정은 유연하게, 추천 결과는 재현 가능하게 설계했습니다.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3DF9CA-F898-4C91-AE6F-EBE29754C3FD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7ECC43-5531-4158-90B8-C0DBAF0CDB32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613DCD-44CF-47FF-95B9-52D335B9AAFF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D8038B-D609-4D59-B784-3455EC5B8D95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3524250" cy="28575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CBB962-B0ED-4479-8AE7-CA90E0DA9525}"/>
              </a:ext>
            </a:extLst>
          </p:cNvPr>
          <p:cNvSpPr>
            <a:spLocks noGrp="1"/>
          </p:cNvSpPr>
          <p:nvPr/>
        </p:nvSpPr>
        <p:spPr>
          <a:xfrm>
            <a:off x="4333875" y="2143125"/>
            <a:ext cx="3524250" cy="28575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55C1B7-3C3E-4306-85FE-1D11282D4129}"/>
              </a:ext>
            </a:extLst>
          </p:cNvPr>
          <p:cNvSpPr>
            <a:spLocks noGrp="1"/>
          </p:cNvSpPr>
          <p:nvPr/>
        </p:nvSpPr>
        <p:spPr>
          <a:xfrm>
            <a:off x="8267700" y="2143125"/>
            <a:ext cx="3524250" cy="28575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EE4AE-430C-4E73-9CE5-9ACBBEA34683}"/>
              </a:ext>
            </a:extLst>
          </p:cNvPr>
          <p:cNvSpPr>
            <a:spLocks noGrp="1"/>
          </p:cNvSpPr>
          <p:nvPr/>
        </p:nvSpPr>
        <p:spPr>
          <a:xfrm>
            <a:off x="647700" y="24003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 조건 정리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061042-CEC5-4D71-9717-6248119E81CC}"/>
              </a:ext>
            </a:extLst>
          </p:cNvPr>
          <p:cNvSpPr>
            <a:spLocks noGrp="1"/>
          </p:cNvSpPr>
          <p:nvPr/>
        </p:nvSpPr>
        <p:spPr>
          <a:xfrm>
            <a:off x="647700" y="3105150"/>
            <a:ext cx="266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4000"/>
              </a:lnSpc>
              <a:buNone/>
              <a:defRPr sz="17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공고마다 필수, 제외, 우대, 신청 조건을 같은 기준으로 정리합니다.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24BEC7-16A2-474F-9C6F-CB5557A94238}"/>
              </a:ext>
            </a:extLst>
          </p:cNvPr>
          <p:cNvSpPr>
            <a:spLocks noGrp="1"/>
          </p:cNvSpPr>
          <p:nvPr/>
        </p:nvSpPr>
        <p:spPr>
          <a:xfrm>
            <a:off x="4581525" y="24003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추천 판단 기준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01273E-50C5-4216-82E0-99A70919B359}"/>
              </a:ext>
            </a:extLst>
          </p:cNvPr>
          <p:cNvSpPr>
            <a:spLocks noGrp="1"/>
          </p:cNvSpPr>
          <p:nvPr/>
        </p:nvSpPr>
        <p:spPr>
          <a:xfrm>
            <a:off x="4581525" y="3028950"/>
            <a:ext cx="29527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필수 조건 불일치 → 제외</a:t>
            </a:r>
          </a:p>
          <a:p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불일치 없음 + 미확인 → 확인 필요</a:t>
            </a:r>
          </a:p>
          <a:p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모두 충족 → 바로 추천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86DEB8-C892-4AA3-AA5A-83064DE84759}"/>
              </a:ext>
            </a:extLst>
          </p:cNvPr>
          <p:cNvSpPr>
            <a:spLocks noGrp="1"/>
          </p:cNvSpPr>
          <p:nvPr/>
        </p:nvSpPr>
        <p:spPr>
          <a:xfrm>
            <a:off x="8515350" y="24003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이유가 보이는 결과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87F6D6-F101-472F-B7F6-9126BFB48599}"/>
              </a:ext>
            </a:extLst>
          </p:cNvPr>
          <p:cNvSpPr>
            <a:spLocks noGrp="1"/>
          </p:cNvSpPr>
          <p:nvPr/>
        </p:nvSpPr>
        <p:spPr>
          <a:xfrm>
            <a:off x="8515350" y="3105150"/>
            <a:ext cx="2667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4000"/>
              </a:lnSpc>
              <a:buNone/>
              <a:defRPr sz="17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왜 추천됐는지, 무엇이 부족한지, 어떤 입력이 다음 판단을 바꾸는지 함께 반환합니다.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BE7E4C-02C3-404B-ACD6-50BF6FC69A0B}"/>
              </a:ext>
            </a:extLst>
          </p:cNvPr>
          <p:cNvSpPr>
            <a:spLocks noGrp="1"/>
          </p:cNvSpPr>
          <p:nvPr/>
        </p:nvSpPr>
        <p:spPr>
          <a:xfrm>
            <a:off x="400050" y="54483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핵심 설계: 모르는 조건은 탈락시키지 않고 확인 필요로 남깁니다. 이 보수적 판단이 거짓 탈락을 줄입니다.</a:t>
            </a:r>
          </a:p>
        </p:txBody>
      </p:sp>
    </p:spTree>
    <p:extLst>
      <p:ext uri="{BB962C8B-B14F-4D97-AF65-F5344CB8AC3E}">
        <p14:creationId xmlns:p14="http://schemas.microsoft.com/office/powerpoint/2010/main" val="1653794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직사각형 55">
            <a:extLst>
              <a:ext uri="{FF2B5EF4-FFF2-40B4-BE49-F238E27FC236}">
                <a16:creationId xmlns:a16="http://schemas.microsoft.com/office/drawing/2014/main" id="{C38E7AB2-64CB-4C3B-A097-AA9DD97E75C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SEQUENCE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CCF72E-01EA-4661-94CD-688F42404345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회사별 추천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처리 흐름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28ED49-2B6E-4AAA-96D7-35E3FB1E3357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사용자 요청 시에는 정리된 공고 정보와 추천 판단 기준만 사용해 빠르게 결과와 다음 행동을 반환합니다.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9F5807-50B3-48D9-BB8E-0216C741070A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FF8A33-C25D-4E28-9FA8-7421E019371A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8A9803-513C-478C-BF64-89A18B49C550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8F8475-D25B-43F4-A587-0BB6A1DC18D4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1619250" cy="41910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DA3F36-A9AB-4FB8-9086-2E916E291E4D}"/>
              </a:ext>
            </a:extLst>
          </p:cNvPr>
          <p:cNvSpPr>
            <a:spLocks noGrp="1"/>
          </p:cNvSpPr>
          <p:nvPr/>
        </p:nvSpPr>
        <p:spPr>
          <a:xfrm>
            <a:off x="495300" y="22098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사용자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D97A91-137C-44CA-B8D2-32968367C21A}"/>
              </a:ext>
            </a:extLst>
          </p:cNvPr>
          <p:cNvSpPr>
            <a:spLocks noGrp="1"/>
          </p:cNvSpPr>
          <p:nvPr/>
        </p:nvSpPr>
        <p:spPr>
          <a:xfrm>
            <a:off x="2295525" y="2095500"/>
            <a:ext cx="1619250" cy="41910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5F90A5-1B85-4B43-88BB-074CAD272793}"/>
              </a:ext>
            </a:extLst>
          </p:cNvPr>
          <p:cNvSpPr>
            <a:spLocks noGrp="1"/>
          </p:cNvSpPr>
          <p:nvPr/>
        </p:nvSpPr>
        <p:spPr>
          <a:xfrm>
            <a:off x="2390775" y="22098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서비스 API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352768-FDC6-4661-BBC6-239E8D9147CD}"/>
              </a:ext>
            </a:extLst>
          </p:cNvPr>
          <p:cNvSpPr>
            <a:spLocks noGrp="1"/>
          </p:cNvSpPr>
          <p:nvPr/>
        </p:nvSpPr>
        <p:spPr>
          <a:xfrm>
            <a:off x="4191000" y="2095500"/>
            <a:ext cx="1619250" cy="41910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5E97D9-B599-4434-B7BA-D53B5B564486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후보 공고 선별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D6B91B-CB9D-4BED-ACB5-64101264CA83}"/>
              </a:ext>
            </a:extLst>
          </p:cNvPr>
          <p:cNvSpPr>
            <a:spLocks noGrp="1"/>
          </p:cNvSpPr>
          <p:nvPr/>
        </p:nvSpPr>
        <p:spPr>
          <a:xfrm>
            <a:off x="6086475" y="2095500"/>
            <a:ext cx="1619250" cy="4191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091B97-9A0E-4D3A-B908-F8A2D1CC6CB7}"/>
              </a:ext>
            </a:extLst>
          </p:cNvPr>
          <p:cNvSpPr>
            <a:spLocks noGrp="1"/>
          </p:cNvSpPr>
          <p:nvPr/>
        </p:nvSpPr>
        <p:spPr>
          <a:xfrm>
            <a:off x="6181725" y="22098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조건 판단 엔진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FF57B8-8A83-44D0-89E3-57943BEA0B0D}"/>
              </a:ext>
            </a:extLst>
          </p:cNvPr>
          <p:cNvSpPr>
            <a:spLocks noGrp="1"/>
          </p:cNvSpPr>
          <p:nvPr/>
        </p:nvSpPr>
        <p:spPr>
          <a:xfrm>
            <a:off x="7981950" y="2095500"/>
            <a:ext cx="1619250" cy="41910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5B5C92-C868-4EB4-A210-5EE53CF00265}"/>
              </a:ext>
            </a:extLst>
          </p:cNvPr>
          <p:cNvSpPr>
            <a:spLocks noGrp="1"/>
          </p:cNvSpPr>
          <p:nvPr/>
        </p:nvSpPr>
        <p:spPr>
          <a:xfrm>
            <a:off x="8077200" y="22098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DB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0772DD-626D-43E7-B6DE-7C741EE2D978}"/>
              </a:ext>
            </a:extLst>
          </p:cNvPr>
          <p:cNvSpPr>
            <a:spLocks noGrp="1"/>
          </p:cNvSpPr>
          <p:nvPr/>
        </p:nvSpPr>
        <p:spPr>
          <a:xfrm>
            <a:off x="9877425" y="2095500"/>
            <a:ext cx="1619250" cy="419100"/>
          </a:xfrm>
          <a:prstGeom prst="rect">
            <a:avLst/>
          </a:prstGeom>
          <a:solidFill>
            <a:srgbClr val="F4F5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DA9609-985C-4CAB-A6C6-C6870B474C16}"/>
              </a:ext>
            </a:extLst>
          </p:cNvPr>
          <p:cNvSpPr>
            <a:spLocks noGrp="1"/>
          </p:cNvSpPr>
          <p:nvPr/>
        </p:nvSpPr>
        <p:spPr>
          <a:xfrm>
            <a:off x="9972675" y="22098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 화면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B91BA25-7E48-4AD0-8A25-D75CEBAB0850}"/>
              </a:ext>
            </a:extLst>
          </p:cNvPr>
          <p:cNvSpPr>
            <a:spLocks noGrp="1"/>
          </p:cNvSpPr>
          <p:nvPr/>
        </p:nvSpPr>
        <p:spPr>
          <a:xfrm>
            <a:off x="400050" y="2781300"/>
            <a:ext cx="666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94A2104-419C-4288-AAA3-5E63EBBCE219}"/>
              </a:ext>
            </a:extLst>
          </p:cNvPr>
          <p:cNvSpPr>
            <a:spLocks noGrp="1"/>
          </p:cNvSpPr>
          <p:nvPr/>
        </p:nvSpPr>
        <p:spPr>
          <a:xfrm>
            <a:off x="400050" y="2774652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26B210-9FB2-44DB-84CA-6C30A2FB8FF8}"/>
              </a:ext>
            </a:extLst>
          </p:cNvPr>
          <p:cNvSpPr>
            <a:spLocks noGrp="1"/>
          </p:cNvSpPr>
          <p:nvPr/>
        </p:nvSpPr>
        <p:spPr>
          <a:xfrm>
            <a:off x="1314450" y="28194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사용자 → 서비스 API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B094FF7-A244-4ED2-97A5-73487C533CEC}"/>
              </a:ext>
            </a:extLst>
          </p:cNvPr>
          <p:cNvSpPr>
            <a:spLocks noGrp="1"/>
          </p:cNvSpPr>
          <p:nvPr/>
        </p:nvSpPr>
        <p:spPr>
          <a:xfrm>
            <a:off x="4238625" y="27908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71DC211-EC9E-41DE-BCEB-357E17347598}"/>
              </a:ext>
            </a:extLst>
          </p:cNvPr>
          <p:cNvSpPr>
            <a:spLocks noGrp="1"/>
          </p:cNvSpPr>
          <p:nvPr/>
        </p:nvSpPr>
        <p:spPr>
          <a:xfrm>
            <a:off x="4667250" y="28194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회사 프로필 기준 추천 요청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378B409-AB78-4521-A99E-E4206660B40A}"/>
              </a:ext>
            </a:extLst>
          </p:cNvPr>
          <p:cNvSpPr>
            <a:spLocks noGrp="1"/>
          </p:cNvSpPr>
          <p:nvPr/>
        </p:nvSpPr>
        <p:spPr>
          <a:xfrm>
            <a:off x="400050" y="3181350"/>
            <a:ext cx="666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6EE374D-446A-4121-B75A-11B6C7276331}"/>
              </a:ext>
            </a:extLst>
          </p:cNvPr>
          <p:cNvSpPr>
            <a:spLocks noGrp="1"/>
          </p:cNvSpPr>
          <p:nvPr/>
        </p:nvSpPr>
        <p:spPr>
          <a:xfrm>
            <a:off x="400050" y="3174702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DAC2249-1350-43A1-B8A5-53CAEFA684E6}"/>
              </a:ext>
            </a:extLst>
          </p:cNvPr>
          <p:cNvSpPr>
            <a:spLocks noGrp="1"/>
          </p:cNvSpPr>
          <p:nvPr/>
        </p:nvSpPr>
        <p:spPr>
          <a:xfrm>
            <a:off x="1314450" y="32194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서비스 API → 후보 공고 선별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619F89A-3C6E-453B-A13C-E4B6A15DDED6}"/>
              </a:ext>
            </a:extLst>
          </p:cNvPr>
          <p:cNvSpPr>
            <a:spLocks noGrp="1"/>
          </p:cNvSpPr>
          <p:nvPr/>
        </p:nvSpPr>
        <p:spPr>
          <a:xfrm>
            <a:off x="4238625" y="31908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B5D26D9-518E-416E-A930-A7B792808E8B}"/>
              </a:ext>
            </a:extLst>
          </p:cNvPr>
          <p:cNvSpPr>
            <a:spLocks noGrp="1"/>
          </p:cNvSpPr>
          <p:nvPr/>
        </p:nvSpPr>
        <p:spPr>
          <a:xfrm>
            <a:off x="4667250" y="32194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열린 공고와 사전 색인으로 후보를 축소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BFF840F-2B43-49A1-828C-A77680F72D24}"/>
              </a:ext>
            </a:extLst>
          </p:cNvPr>
          <p:cNvSpPr>
            <a:spLocks noGrp="1"/>
          </p:cNvSpPr>
          <p:nvPr/>
        </p:nvSpPr>
        <p:spPr>
          <a:xfrm>
            <a:off x="400050" y="3581400"/>
            <a:ext cx="666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E7038D-24BB-49B7-8902-D482A73FE204}"/>
              </a:ext>
            </a:extLst>
          </p:cNvPr>
          <p:cNvSpPr>
            <a:spLocks noGrp="1"/>
          </p:cNvSpPr>
          <p:nvPr/>
        </p:nvSpPr>
        <p:spPr>
          <a:xfrm>
            <a:off x="400050" y="3574752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30FA92F-4E25-4C87-BF68-363B34BB974B}"/>
              </a:ext>
            </a:extLst>
          </p:cNvPr>
          <p:cNvSpPr>
            <a:spLocks noGrp="1"/>
          </p:cNvSpPr>
          <p:nvPr/>
        </p:nvSpPr>
        <p:spPr>
          <a:xfrm>
            <a:off x="1314450" y="36195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후보 공고 선별 → 조건 판단 엔진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C8E31C0-6DA4-4A89-B036-91695F2ACFDA}"/>
              </a:ext>
            </a:extLst>
          </p:cNvPr>
          <p:cNvSpPr>
            <a:spLocks noGrp="1"/>
          </p:cNvSpPr>
          <p:nvPr/>
        </p:nvSpPr>
        <p:spPr>
          <a:xfrm>
            <a:off x="4238625" y="35909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C4F6082-7E63-4E26-83AD-75437FDC519E}"/>
              </a:ext>
            </a:extLst>
          </p:cNvPr>
          <p:cNvSpPr>
            <a:spLocks noGrp="1"/>
          </p:cNvSpPr>
          <p:nvPr/>
        </p:nvSpPr>
        <p:spPr>
          <a:xfrm>
            <a:off x="4667250" y="36195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후보 공고의 기준별 조건을 불러옴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1CB6FE7-319D-40FA-A378-D7CF281B720B}"/>
              </a:ext>
            </a:extLst>
          </p:cNvPr>
          <p:cNvSpPr>
            <a:spLocks noGrp="1"/>
          </p:cNvSpPr>
          <p:nvPr/>
        </p:nvSpPr>
        <p:spPr>
          <a:xfrm>
            <a:off x="400050" y="3981450"/>
            <a:ext cx="666750" cy="28575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B9DA693-3C44-4D16-AEE5-5539C0D7471B}"/>
              </a:ext>
            </a:extLst>
          </p:cNvPr>
          <p:cNvSpPr>
            <a:spLocks noGrp="1"/>
          </p:cNvSpPr>
          <p:nvPr/>
        </p:nvSpPr>
        <p:spPr>
          <a:xfrm>
            <a:off x="400050" y="3974802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F8DA41-8D54-446B-BD70-B9CDF6A821D4}"/>
              </a:ext>
            </a:extLst>
          </p:cNvPr>
          <p:cNvSpPr>
            <a:spLocks noGrp="1"/>
          </p:cNvSpPr>
          <p:nvPr/>
        </p:nvSpPr>
        <p:spPr>
          <a:xfrm>
            <a:off x="1314450" y="40195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조건 판단 엔진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A02A744-11E4-45C4-83D4-8B000C3310BD}"/>
              </a:ext>
            </a:extLst>
          </p:cNvPr>
          <p:cNvSpPr>
            <a:spLocks noGrp="1"/>
          </p:cNvSpPr>
          <p:nvPr/>
        </p:nvSpPr>
        <p:spPr>
          <a:xfrm>
            <a:off x="4238625" y="39909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36012CF-9A6A-45E4-95F5-631EF601927F}"/>
              </a:ext>
            </a:extLst>
          </p:cNvPr>
          <p:cNvSpPr>
            <a:spLocks noGrp="1"/>
          </p:cNvSpPr>
          <p:nvPr/>
        </p:nvSpPr>
        <p:spPr>
          <a:xfrm>
            <a:off x="4667250" y="40195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조건별 충족, 불충족, 미확인을 평가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2BA0CE2-1D39-40A8-98A4-D7F455C6477D}"/>
              </a:ext>
            </a:extLst>
          </p:cNvPr>
          <p:cNvSpPr>
            <a:spLocks noGrp="1"/>
          </p:cNvSpPr>
          <p:nvPr/>
        </p:nvSpPr>
        <p:spPr>
          <a:xfrm>
            <a:off x="400050" y="4381500"/>
            <a:ext cx="666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DB477B5-DE2E-46AC-B645-7E7A02196D94}"/>
              </a:ext>
            </a:extLst>
          </p:cNvPr>
          <p:cNvSpPr>
            <a:spLocks noGrp="1"/>
          </p:cNvSpPr>
          <p:nvPr/>
        </p:nvSpPr>
        <p:spPr>
          <a:xfrm>
            <a:off x="400050" y="4374852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57D2408-B92F-4BEB-803F-C309033CE097}"/>
              </a:ext>
            </a:extLst>
          </p:cNvPr>
          <p:cNvSpPr>
            <a:spLocks noGrp="1"/>
          </p:cNvSpPr>
          <p:nvPr/>
        </p:nvSpPr>
        <p:spPr>
          <a:xfrm>
            <a:off x="1314450" y="44196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조건 판단 엔진 → DB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19405A6-CCD4-48F2-9475-B8ABE25059FC}"/>
              </a:ext>
            </a:extLst>
          </p:cNvPr>
          <p:cNvSpPr>
            <a:spLocks noGrp="1"/>
          </p:cNvSpPr>
          <p:nvPr/>
        </p:nvSpPr>
        <p:spPr>
          <a:xfrm>
            <a:off x="4238625" y="43910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51484ED-A6C6-408A-B051-1D474F276A71}"/>
              </a:ext>
            </a:extLst>
          </p:cNvPr>
          <p:cNvSpPr>
            <a:spLocks noGrp="1"/>
          </p:cNvSpPr>
          <p:nvPr/>
        </p:nvSpPr>
        <p:spPr>
          <a:xfrm>
            <a:off x="4667250" y="44196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추천 결과, 점수, 설명 기록 저장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807E682-9121-473A-975E-20E892040E04}"/>
              </a:ext>
            </a:extLst>
          </p:cNvPr>
          <p:cNvSpPr>
            <a:spLocks noGrp="1"/>
          </p:cNvSpPr>
          <p:nvPr/>
        </p:nvSpPr>
        <p:spPr>
          <a:xfrm>
            <a:off x="400050" y="4781550"/>
            <a:ext cx="666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E5FBC76-D2E0-4515-8DD1-EFFC5B229BD5}"/>
              </a:ext>
            </a:extLst>
          </p:cNvPr>
          <p:cNvSpPr>
            <a:spLocks noGrp="1"/>
          </p:cNvSpPr>
          <p:nvPr/>
        </p:nvSpPr>
        <p:spPr>
          <a:xfrm>
            <a:off x="400050" y="4774902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61241B4-87D1-4485-846D-F4B0153865FB}"/>
              </a:ext>
            </a:extLst>
          </p:cNvPr>
          <p:cNvSpPr>
            <a:spLocks noGrp="1"/>
          </p:cNvSpPr>
          <p:nvPr/>
        </p:nvSpPr>
        <p:spPr>
          <a:xfrm>
            <a:off x="1314450" y="48196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DB → 추천 화면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4AB6F5B-1566-4364-BAA3-FB1B6DEDABB2}"/>
              </a:ext>
            </a:extLst>
          </p:cNvPr>
          <p:cNvSpPr>
            <a:spLocks noGrp="1"/>
          </p:cNvSpPr>
          <p:nvPr/>
        </p:nvSpPr>
        <p:spPr>
          <a:xfrm>
            <a:off x="4238625" y="4791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F40A6D6-1F2D-46E5-B8C4-EA75C45440CC}"/>
              </a:ext>
            </a:extLst>
          </p:cNvPr>
          <p:cNvSpPr>
            <a:spLocks noGrp="1"/>
          </p:cNvSpPr>
          <p:nvPr/>
        </p:nvSpPr>
        <p:spPr>
          <a:xfrm>
            <a:off x="4667250" y="48196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확인 질문과 신청 준비 행동 구성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A57B411-D244-4391-A4DE-5524FD975B39}"/>
              </a:ext>
            </a:extLst>
          </p:cNvPr>
          <p:cNvSpPr>
            <a:spLocks noGrp="1"/>
          </p:cNvSpPr>
          <p:nvPr/>
        </p:nvSpPr>
        <p:spPr>
          <a:xfrm>
            <a:off x="400050" y="5181600"/>
            <a:ext cx="6667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9C24449-7672-4B01-B414-CB5A474F8820}"/>
              </a:ext>
            </a:extLst>
          </p:cNvPr>
          <p:cNvSpPr>
            <a:spLocks noGrp="1"/>
          </p:cNvSpPr>
          <p:nvPr/>
        </p:nvSpPr>
        <p:spPr>
          <a:xfrm>
            <a:off x="400050" y="5174952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4291ED6-E8BA-4BA9-8B2F-5F4B702A1C7A}"/>
              </a:ext>
            </a:extLst>
          </p:cNvPr>
          <p:cNvSpPr>
            <a:spLocks noGrp="1"/>
          </p:cNvSpPr>
          <p:nvPr/>
        </p:nvSpPr>
        <p:spPr>
          <a:xfrm>
            <a:off x="1314450" y="52197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 화면 → 사용자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18A624B-55A5-4286-8E0A-E99DC3090439}"/>
              </a:ext>
            </a:extLst>
          </p:cNvPr>
          <p:cNvSpPr>
            <a:spLocks noGrp="1"/>
          </p:cNvSpPr>
          <p:nvPr/>
        </p:nvSpPr>
        <p:spPr>
          <a:xfrm>
            <a:off x="4238625" y="51911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DA9DD61-5F3F-4297-B5DC-DE125AB8C2D1}"/>
              </a:ext>
            </a:extLst>
          </p:cNvPr>
          <p:cNvSpPr>
            <a:spLocks noGrp="1"/>
          </p:cNvSpPr>
          <p:nvPr/>
        </p:nvSpPr>
        <p:spPr>
          <a:xfrm>
            <a:off x="4667250" y="52197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이유가 보이는 추천 카드 반환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A2F6277-CD65-40E9-AC52-0E7607FD343E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11391900" cy="32385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984DA61-A719-4608-8A0D-711199A73880}"/>
              </a:ext>
            </a:extLst>
          </p:cNvPr>
          <p:cNvSpPr>
            <a:spLocks noGrp="1"/>
          </p:cNvSpPr>
          <p:nvPr/>
        </p:nvSpPr>
        <p:spPr>
          <a:xfrm>
            <a:off x="609600" y="5824868"/>
            <a:ext cx="1047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원칙: 무거운 읽기와 변환은 미리 끝내고, 사용자 응답은 저장된 공고 정보로 빠르게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663345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1B1E18-09EA-4B1D-8FF4-6C9A7C7BB98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77BA07-322E-4D92-BDE3-B1F1F07BA9DE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실데이터 기반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엔드투엔드 매칭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E64A63-82B1-4AE2-A109-39DAC17FD48E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가상 기업 하나를 열린 공고 표본과 매칭해 바로 추천, 확인 필요, 제외로 분류했습니다.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B5C040-3562-4371-89E2-8397F09BF9C5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A8A55B-9C8F-4FD4-87DB-643997D626CE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7202C9-E282-47E9-848A-135302BAE57C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3E09E3-02B6-49DD-B50D-A8FA30D69C1D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3333750" cy="1428750"/>
          </a:xfrm>
          <a:prstGeom prst="rect">
            <a:avLst/>
          </a:prstGeom>
          <a:solidFill>
            <a:srgbClr val="101010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BFCC3E-A76F-497F-9D91-4C70C60D3CE0}"/>
              </a:ext>
            </a:extLst>
          </p:cNvPr>
          <p:cNvSpPr>
            <a:spLocks noGrp="1"/>
          </p:cNvSpPr>
          <p:nvPr/>
        </p:nvSpPr>
        <p:spPr>
          <a:xfrm>
            <a:off x="3733800" y="2190750"/>
            <a:ext cx="4667250" cy="1428750"/>
          </a:xfrm>
          <a:prstGeom prst="rect">
            <a:avLst/>
          </a:prstGeom>
          <a:solidFill>
            <a:srgbClr val="E6E8EB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1C6BEB-F19F-406A-AD6D-F548C251D1FE}"/>
              </a:ext>
            </a:extLst>
          </p:cNvPr>
          <p:cNvSpPr>
            <a:spLocks noGrp="1"/>
          </p:cNvSpPr>
          <p:nvPr/>
        </p:nvSpPr>
        <p:spPr>
          <a:xfrm>
            <a:off x="8401050" y="2190750"/>
            <a:ext cx="3390900" cy="1428750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BBA8F4-88F1-4BEA-A050-B3992B5E025F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바로 추천</a:t>
            </a:r>
          </a:p>
          <a:p>
            <a:pPr algn="l">
              <a:lnSpc>
                <a:spcPct val="125000"/>
              </a:lnSpc>
              <a:buNone/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90F983-1195-44D1-9E5C-FA193C251A53}"/>
              </a:ext>
            </a:extLst>
          </p:cNvPr>
          <p:cNvSpPr>
            <a:spLocks noGrp="1"/>
          </p:cNvSpPr>
          <p:nvPr/>
        </p:nvSpPr>
        <p:spPr>
          <a:xfrm>
            <a:off x="3943350" y="2438400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확인 필요</a:t>
            </a:r>
          </a:p>
          <a:p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88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26FF12-456A-4E04-96DD-BD12277CF2D3}"/>
              </a:ext>
            </a:extLst>
          </p:cNvPr>
          <p:cNvSpPr>
            <a:spLocks noGrp="1"/>
          </p:cNvSpPr>
          <p:nvPr/>
        </p:nvSpPr>
        <p:spPr>
          <a:xfrm>
            <a:off x="8610600" y="2438400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제외</a:t>
            </a:r>
          </a:p>
          <a:p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A8BC85-7C00-4693-ACFA-FF50060843A6}"/>
              </a:ext>
            </a:extLst>
          </p:cNvPr>
          <p:cNvSpPr>
            <a:spLocks noGrp="1"/>
          </p:cNvSpPr>
          <p:nvPr/>
        </p:nvSpPr>
        <p:spPr>
          <a:xfrm>
            <a:off x="400050" y="4191000"/>
            <a:ext cx="2571750" cy="142875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E62DBD-1DCD-4A56-AC40-7C78E567ACAD}"/>
              </a:ext>
            </a:extLst>
          </p:cNvPr>
          <p:cNvSpPr>
            <a:spLocks noGrp="1"/>
          </p:cNvSpPr>
          <p:nvPr/>
        </p:nvSpPr>
        <p:spPr>
          <a:xfrm>
            <a:off x="628650" y="4381500"/>
            <a:ext cx="2114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215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464B75-93CD-4AC5-B2B2-8793401C62B8}"/>
              </a:ext>
            </a:extLst>
          </p:cNvPr>
          <p:cNvSpPr>
            <a:spLocks noGrp="1"/>
          </p:cNvSpPr>
          <p:nvPr/>
        </p:nvSpPr>
        <p:spPr>
          <a:xfrm>
            <a:off x="628650" y="49339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접수 중 공고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14F3561-7894-4498-8DCF-C366AC0ACAC0}"/>
              </a:ext>
            </a:extLst>
          </p:cNvPr>
          <p:cNvSpPr>
            <a:spLocks noGrp="1"/>
          </p:cNvSpPr>
          <p:nvPr/>
        </p:nvSpPr>
        <p:spPr>
          <a:xfrm>
            <a:off x="628650" y="525780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추천 대상 열린 공고 표본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57A671-6BB0-444E-81BC-B65083311385}"/>
              </a:ext>
            </a:extLst>
          </p:cNvPr>
          <p:cNvSpPr>
            <a:spLocks noGrp="1"/>
          </p:cNvSpPr>
          <p:nvPr/>
        </p:nvSpPr>
        <p:spPr>
          <a:xfrm>
            <a:off x="3333750" y="4191000"/>
            <a:ext cx="2571750" cy="142875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6F9AF3-A35B-43F4-985A-8B5F30CB0EBC}"/>
              </a:ext>
            </a:extLst>
          </p:cNvPr>
          <p:cNvSpPr>
            <a:spLocks noGrp="1"/>
          </p:cNvSpPr>
          <p:nvPr/>
        </p:nvSpPr>
        <p:spPr>
          <a:xfrm>
            <a:off x="3562350" y="4381500"/>
            <a:ext cx="2114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E24114-B2DD-4111-8FF8-89B63A30A009}"/>
              </a:ext>
            </a:extLst>
          </p:cNvPr>
          <p:cNvSpPr>
            <a:spLocks noGrp="1"/>
          </p:cNvSpPr>
          <p:nvPr/>
        </p:nvSpPr>
        <p:spPr>
          <a:xfrm>
            <a:off x="3562350" y="49339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바로 추천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D05995-E177-4BF1-8000-FD5FB33A45E7}"/>
              </a:ext>
            </a:extLst>
          </p:cNvPr>
          <p:cNvSpPr>
            <a:spLocks noGrp="1"/>
          </p:cNvSpPr>
          <p:nvPr/>
        </p:nvSpPr>
        <p:spPr>
          <a:xfrm>
            <a:off x="3562350" y="525780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필수 조건 통과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969F86-614C-4711-8F30-C31115104D00}"/>
              </a:ext>
            </a:extLst>
          </p:cNvPr>
          <p:cNvSpPr>
            <a:spLocks noGrp="1"/>
          </p:cNvSpPr>
          <p:nvPr/>
        </p:nvSpPr>
        <p:spPr>
          <a:xfrm>
            <a:off x="6267450" y="4191000"/>
            <a:ext cx="2571750" cy="142875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55BB0E-E88E-4B3A-806E-E7F073758AEF}"/>
              </a:ext>
            </a:extLst>
          </p:cNvPr>
          <p:cNvSpPr>
            <a:spLocks noGrp="1"/>
          </p:cNvSpPr>
          <p:nvPr/>
        </p:nvSpPr>
        <p:spPr>
          <a:xfrm>
            <a:off x="6496050" y="4381500"/>
            <a:ext cx="2114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88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FBCD924-15C8-47E4-9B9A-A57211F43752}"/>
              </a:ext>
            </a:extLst>
          </p:cNvPr>
          <p:cNvSpPr>
            <a:spLocks noGrp="1"/>
          </p:cNvSpPr>
          <p:nvPr/>
        </p:nvSpPr>
        <p:spPr>
          <a:xfrm>
            <a:off x="6496050" y="49339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확인 필요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1DEA18-0719-4D04-A1C9-FE8185317D3C}"/>
              </a:ext>
            </a:extLst>
          </p:cNvPr>
          <p:cNvSpPr>
            <a:spLocks noGrp="1"/>
          </p:cNvSpPr>
          <p:nvPr/>
        </p:nvSpPr>
        <p:spPr>
          <a:xfrm>
            <a:off x="6496050" y="525780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확인할 회사 정보가 남은 상태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666509-6885-4EA9-9E60-D2DA484F8FA3}"/>
              </a:ext>
            </a:extLst>
          </p:cNvPr>
          <p:cNvSpPr>
            <a:spLocks noGrp="1"/>
          </p:cNvSpPr>
          <p:nvPr/>
        </p:nvSpPr>
        <p:spPr>
          <a:xfrm>
            <a:off x="9201150" y="4191000"/>
            <a:ext cx="2590800" cy="142875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605AA2C-29E5-4C08-999B-21B1F3635CC3}"/>
              </a:ext>
            </a:extLst>
          </p:cNvPr>
          <p:cNvSpPr>
            <a:spLocks noGrp="1"/>
          </p:cNvSpPr>
          <p:nvPr/>
        </p:nvSpPr>
        <p:spPr>
          <a:xfrm>
            <a:off x="9429750" y="4381500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4A8CED-C18C-4FBB-AAE2-2359E763A3EA}"/>
              </a:ext>
            </a:extLst>
          </p:cNvPr>
          <p:cNvSpPr>
            <a:spLocks noGrp="1"/>
          </p:cNvSpPr>
          <p:nvPr/>
        </p:nvSpPr>
        <p:spPr>
          <a:xfrm>
            <a:off x="9429750" y="49339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제외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BF759DB-498C-416F-BCF0-E0F47359BB13}"/>
              </a:ext>
            </a:extLst>
          </p:cNvPr>
          <p:cNvSpPr>
            <a:spLocks noGrp="1"/>
          </p:cNvSpPr>
          <p:nvPr/>
        </p:nvSpPr>
        <p:spPr>
          <a:xfrm>
            <a:off x="9429750" y="52578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지역, 업력, 대상 등 명확한 제외 사유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799A2DD-BAA5-49E7-BC4B-E4A466CB9138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확인 필요는 약점이 아니라 신뢰 설계입니다. 모르는 조건을 제외로 단정하지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28033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58FF8099-0EC1-4964-9D4A-91EB65AB2C5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ACTION LAYER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72E38C-42A4-4CCE-B859-26C388B4D83C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추천 이후의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신청 준비 동선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4401F7-B454-4628-8F89-165186ADEED5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창업노트는 매칭 이후 확인이 필요한 부분을 줄이고, 지원 준비와 초안 작성까지 이어지는 행동 큐를 만듭니다.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30E20B-B529-4EB1-99AB-C40B49C3D122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D7D39B-00D4-4908-961A-00442EC009C4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F46399-6122-44B8-801E-D1024609966D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EE5779-FFCB-49E5-B66C-33A87761E49B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3381375" cy="28575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8AA318-2421-4D84-972B-5F819EFCD918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2962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NEXT QUESTION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C9663B-8BBA-486C-8D69-884332A0FBBD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2962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다음 질문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2E1B99-AC91-4C4C-96F0-211D0F70F65C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2962275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확인 필요 공고를 가장 많이 확정하거나 제외할 수 있는 회사 정보를 우선 묻습니다.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51A0F4-784F-4D65-8DC1-F106486FD386}"/>
              </a:ext>
            </a:extLst>
          </p:cNvPr>
          <p:cNvSpPr>
            <a:spLocks noGrp="1"/>
          </p:cNvSpPr>
          <p:nvPr/>
        </p:nvSpPr>
        <p:spPr>
          <a:xfrm>
            <a:off x="4400550" y="2095500"/>
            <a:ext cx="3381375" cy="28575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1BEA9F-E83A-442C-9105-7BC9C547C51F}"/>
              </a:ext>
            </a:extLst>
          </p:cNvPr>
          <p:cNvSpPr>
            <a:spLocks noGrp="1"/>
          </p:cNvSpPr>
          <p:nvPr/>
        </p:nvSpPr>
        <p:spPr>
          <a:xfrm>
            <a:off x="4610100" y="2266950"/>
            <a:ext cx="2962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ACTION QUEUE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C4DAE9-4608-4844-B1F5-0FA9DCF6C07F}"/>
              </a:ext>
            </a:extLst>
          </p:cNvPr>
          <p:cNvSpPr>
            <a:spLocks noGrp="1"/>
          </p:cNvSpPr>
          <p:nvPr/>
        </p:nvSpPr>
        <p:spPr>
          <a:xfrm>
            <a:off x="4610100" y="2552700"/>
            <a:ext cx="2962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액션 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3A4C13-3F2D-468B-9628-AD8322A84A88}"/>
              </a:ext>
            </a:extLst>
          </p:cNvPr>
          <p:cNvSpPr>
            <a:spLocks noGrp="1"/>
          </p:cNvSpPr>
          <p:nvPr/>
        </p:nvSpPr>
        <p:spPr>
          <a:xfrm>
            <a:off x="4610100" y="3028950"/>
            <a:ext cx="2962275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마감, 혜택 가치, 적합도, 준비 난도를 합산해 지금 해야 할 일을 정렬합니다.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E05E48-92E6-4252-8185-E812461C64C1}"/>
              </a:ext>
            </a:extLst>
          </p:cNvPr>
          <p:cNvSpPr>
            <a:spLocks noGrp="1"/>
          </p:cNvSpPr>
          <p:nvPr/>
        </p:nvSpPr>
        <p:spPr>
          <a:xfrm>
            <a:off x="8401050" y="2095500"/>
            <a:ext cx="3390900" cy="28575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07EB6F-3C0B-4B90-A633-20F642BBC312}"/>
              </a:ext>
            </a:extLst>
          </p:cNvPr>
          <p:cNvSpPr>
            <a:spLocks noGrp="1"/>
          </p:cNvSpPr>
          <p:nvPr/>
        </p:nvSpPr>
        <p:spPr>
          <a:xfrm>
            <a:off x="8610600" y="2266950"/>
            <a:ext cx="2971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PREPARATION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5036FF-7DEB-46D1-ABA5-1E065CC2E898}"/>
              </a:ext>
            </a:extLst>
          </p:cNvPr>
          <p:cNvSpPr>
            <a:spLocks noGrp="1"/>
          </p:cNvSpPr>
          <p:nvPr/>
        </p:nvSpPr>
        <p:spPr>
          <a:xfrm>
            <a:off x="8610600" y="2552700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 준비 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980317-0F16-4F3B-90E5-A5B452A5310A}"/>
              </a:ext>
            </a:extLst>
          </p:cNvPr>
          <p:cNvSpPr>
            <a:spLocks noGrp="1"/>
          </p:cNvSpPr>
          <p:nvPr/>
        </p:nvSpPr>
        <p:spPr>
          <a:xfrm>
            <a:off x="8610600" y="3028950"/>
            <a:ext cx="29718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필요 서류를 AI 작성 가능, 발급 필요, 첨부 필요, 원문 확인으로 묶고 초안·검토·완료 상태를 이어줍니다.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4F78FED-20FE-4265-BCE2-A6223C954FCB}"/>
              </a:ext>
            </a:extLst>
          </p:cNvPr>
          <p:cNvSpPr>
            <a:spLocks noGrp="1"/>
          </p:cNvSpPr>
          <p:nvPr/>
        </p:nvSpPr>
        <p:spPr>
          <a:xfrm>
            <a:off x="400050" y="5410200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 추천 → 조건 확인 → 지원 준비 → 초안 작성/자동채움 → 결과 기록이 연결될수록, 더 좋은 추천을 만드는 자산이 쌓입니다.</a:t>
            </a:r>
          </a:p>
        </p:txBody>
      </p:sp>
    </p:spTree>
    <p:extLst>
      <p:ext uri="{BB962C8B-B14F-4D97-AF65-F5344CB8AC3E}">
        <p14:creationId xmlns:p14="http://schemas.microsoft.com/office/powerpoint/2010/main" val="581093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D7859E-AE21-4BBA-BFCB-82FCD3F22EB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AI ASSISTANT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8DF81F-61EB-4BA5-9475-AC99F801F1E3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 준비에서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초안 자동작성까지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C851AC-BECA-46C4-84BB-B81252BEA3D5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정규화된 제출서류와 첨부 문맥을 기반으로 필요한 서류, 초안, 자동채움, 문서 내보내기까지 연결합니다.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50D6ED-E472-4ADC-9FCF-30E8124D8232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FA0045-6CC5-45AE-B32E-2A0EDFCD697A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FF8010-EF4B-4590-BD5C-A3B5F5E147EA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42B975-26C6-4F2C-92AB-5CB7FB254E2E}"/>
              </a:ext>
            </a:extLst>
          </p:cNvPr>
          <p:cNvSpPr>
            <a:spLocks noGrp="1"/>
          </p:cNvSpPr>
          <p:nvPr/>
        </p:nvSpPr>
        <p:spPr>
          <a:xfrm>
            <a:off x="400050" y="2114550"/>
            <a:ext cx="2571750" cy="28575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068B40-079C-4478-AC1E-2BAC842F5A91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BE4C7E-F5DD-4166-9161-0899AA9AE675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지원 준비 체크리스트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6DDC1C-DCB0-45D1-9EB4-97A911805FAA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215265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제출서류를 AI 작성 가능, 발급 필요, 첨부 필요, 원문 확인으로 나누고 준비 전부터 완료까지 상태를 관리합니다.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91FF13-4785-456C-8774-26E0A039CC87}"/>
              </a:ext>
            </a:extLst>
          </p:cNvPr>
          <p:cNvSpPr>
            <a:spLocks noGrp="1"/>
          </p:cNvSpPr>
          <p:nvPr/>
        </p:nvSpPr>
        <p:spPr>
          <a:xfrm>
            <a:off x="3238500" y="2114550"/>
            <a:ext cx="2571750" cy="28575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49B3C7-75F5-4351-8288-371233A9E6AF}"/>
              </a:ext>
            </a:extLst>
          </p:cNvPr>
          <p:cNvSpPr>
            <a:spLocks noGrp="1"/>
          </p:cNvSpPr>
          <p:nvPr/>
        </p:nvSpPr>
        <p:spPr>
          <a:xfrm>
            <a:off x="3448050" y="22860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8A8AC6-7481-4191-8EC4-4D76F8151878}"/>
              </a:ext>
            </a:extLst>
          </p:cNvPr>
          <p:cNvSpPr>
            <a:spLocks noGrp="1"/>
          </p:cNvSpPr>
          <p:nvPr/>
        </p:nvSpPr>
        <p:spPr>
          <a:xfrm>
            <a:off x="3448050" y="25717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AI 초안 작성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35A9AA-A3CF-42B8-B474-B980852CF01F}"/>
              </a:ext>
            </a:extLst>
          </p:cNvPr>
          <p:cNvSpPr>
            <a:spLocks noGrp="1"/>
          </p:cNvSpPr>
          <p:nvPr/>
        </p:nvSpPr>
        <p:spPr>
          <a:xfrm>
            <a:off x="3448050" y="3048000"/>
            <a:ext cx="215265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신청서, 사업계획서, 제안서, 예산안 등 작성형 문서를 회사 프로필과 공고/첨부 문맥으로 생성합니다.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7BEB9D-5768-466A-8791-25E4D85DBBCF}"/>
              </a:ext>
            </a:extLst>
          </p:cNvPr>
          <p:cNvSpPr>
            <a:spLocks noGrp="1"/>
          </p:cNvSpPr>
          <p:nvPr/>
        </p:nvSpPr>
        <p:spPr>
          <a:xfrm>
            <a:off x="6076950" y="2114550"/>
            <a:ext cx="2571750" cy="28575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1F0005-4109-4878-B463-299D3FC8EEC0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24BCB7-5489-49BD-B5E9-7F9519022B02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문항 자동채움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744550-126C-40DA-B5F9-762484ACCBA9}"/>
              </a:ext>
            </a:extLst>
          </p:cNvPr>
          <p:cNvSpPr>
            <a:spLocks noGrp="1"/>
          </p:cNvSpPr>
          <p:nvPr/>
        </p:nvSpPr>
        <p:spPr>
          <a:xfrm>
            <a:off x="6286500" y="3048000"/>
            <a:ext cx="215265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첨부 문맥에서 문항과 빈칸을 추출하고 값 복사, 요약, 생성, 사용자 질문, 수동 입력으로 채웁니다.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E8514-6A93-4C29-81E3-EE04C86F04A2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876550" cy="28575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21B4D1C-4B2C-4F3F-B6B6-7E075414225F}"/>
              </a:ext>
            </a:extLst>
          </p:cNvPr>
          <p:cNvSpPr>
            <a:spLocks noGrp="1"/>
          </p:cNvSpPr>
          <p:nvPr/>
        </p:nvSpPr>
        <p:spPr>
          <a:xfrm>
            <a:off x="9124950" y="2286000"/>
            <a:ext cx="2457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0227B3C-B760-4B91-B425-99A621616366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2457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수정·내보내기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26C9DF-6599-4FBD-AF99-E98C9D7D592B}"/>
              </a:ext>
            </a:extLst>
          </p:cNvPr>
          <p:cNvSpPr>
            <a:spLocks noGrp="1"/>
          </p:cNvSpPr>
          <p:nvPr/>
        </p:nvSpPr>
        <p:spPr>
          <a:xfrm>
            <a:off x="9124950" y="3048000"/>
            <a:ext cx="245745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초안 수정, 섹션 재생성, 검토 완료, 문서 내보내기를 먼저 제공하고 PDF/DOCX로 확장합니다.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52DD560-9CA9-4167-8A03-A3CFCB38BEC4}"/>
              </a:ext>
            </a:extLst>
          </p:cNvPr>
          <p:cNvSpPr>
            <a:spLocks noGrp="1"/>
          </p:cNvSpPr>
          <p:nvPr/>
        </p:nvSpPr>
        <p:spPr>
          <a:xfrm>
            <a:off x="400050" y="541020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현재 기반: 열린 공고 948건 중 제출서류 </a:t>
            </a:r>
            <a:r>
              <a:rPr sz="1725" b="1">
                <a:solidFill>
                  <a:schemeClr val="accent2"/>
                </a:solidFill>
                <a:latin typeface="Pretendard"/>
                <a:ea typeface="Pretendard"/>
                <a:cs typeface="Pretendard"/>
              </a:rPr>
              <a:t>정규화 576건, 작성형 문서 514건</a:t>
            </a: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, 작성형 문서와 첨부 문맥 결합 305건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2FCC5F-B3D3-45E3-93DE-520C10834453}"/>
              </a:ext>
            </a:extLst>
          </p:cNvPr>
          <p:cNvSpPr>
            <a:spLocks noGrp="1"/>
          </p:cNvSpPr>
          <p:nvPr/>
        </p:nvSpPr>
        <p:spPr>
          <a:xfrm>
            <a:off x="400050" y="590550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초기 제공 범위는 웹 기반 초안과 문서 내보내기 중심, 원본 HWP 직접 편집은 후속 고도화 영역입니다.</a:t>
            </a:r>
          </a:p>
        </p:txBody>
      </p:sp>
    </p:spTree>
    <p:extLst>
      <p:ext uri="{BB962C8B-B14F-4D97-AF65-F5344CB8AC3E}">
        <p14:creationId xmlns:p14="http://schemas.microsoft.com/office/powerpoint/2010/main" val="1373594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EBEAF2CE-5437-4224-9471-2E8A81108B3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ASSISTANT LOGIC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5D8F20-8C02-42AD-96BF-22C0C29D46BC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73818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문항 추출과 자동채움</a:t>
            </a:r>
          </a:p>
          <a:p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엔진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FA5EB7-70A6-4D04-BEFE-82E34B5D7F44}"/>
              </a:ext>
            </a:extLst>
          </p:cNvPr>
          <p:cNvSpPr>
            <a:spLocks noGrp="1"/>
          </p:cNvSpPr>
          <p:nvPr/>
        </p:nvSpPr>
        <p:spPr>
          <a:xfrm>
            <a:off x="8020050" y="742950"/>
            <a:ext cx="3771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초안 작성은 원문 복제가 아니라 공고 문맥, 회사 프로필, 제출서류 필드, 확인 필요 항목을 분리해 처리하는 흐름입니다.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83E869-D209-441C-8CDA-52ED682F019A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584C89-47E8-4A99-AA0C-0F12DCC9FF0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83096C-9ECA-4EE4-9FCD-575DBC259724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96296E-3D89-4672-A984-F3C1C014DF79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3390900" cy="12954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868882-14DF-4EAF-8C87-8ACDB4491702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F35533-3902-4794-8923-2C5190A32F36}"/>
              </a:ext>
            </a:extLst>
          </p:cNvPr>
          <p:cNvSpPr>
            <a:spLocks noGrp="1"/>
          </p:cNvSpPr>
          <p:nvPr/>
        </p:nvSpPr>
        <p:spPr>
          <a:xfrm>
            <a:off x="1181100" y="22479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문항 추출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D963CE-955A-4870-A70C-786013CF606A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표, 번호 문항, 빈칸, 체크박스에서 필드명, 문항명, 섹션, 필수 여부, 근거 위치를 구조화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368791-5C02-486A-9BE4-4A19AFE175FB}"/>
              </a:ext>
            </a:extLst>
          </p:cNvPr>
          <p:cNvSpPr>
            <a:spLocks noGrp="1"/>
          </p:cNvSpPr>
          <p:nvPr/>
        </p:nvSpPr>
        <p:spPr>
          <a:xfrm>
            <a:off x="4257675" y="2076450"/>
            <a:ext cx="3390900" cy="12954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89D10D-EB39-49FC-8532-EFFC6696245F}"/>
              </a:ext>
            </a:extLst>
          </p:cNvPr>
          <p:cNvSpPr>
            <a:spLocks noGrp="1"/>
          </p:cNvSpPr>
          <p:nvPr/>
        </p:nvSpPr>
        <p:spPr>
          <a:xfrm>
            <a:off x="4467225" y="22479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65EF3E-B388-402E-9931-D4AE29D881C8}"/>
              </a:ext>
            </a:extLst>
          </p:cNvPr>
          <p:cNvSpPr>
            <a:spLocks noGrp="1"/>
          </p:cNvSpPr>
          <p:nvPr/>
        </p:nvSpPr>
        <p:spPr>
          <a:xfrm>
            <a:off x="5038725" y="22479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초안 컨텍스트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BF34988-858D-4D29-8E29-5454A64ED29E}"/>
              </a:ext>
            </a:extLst>
          </p:cNvPr>
          <p:cNvSpPr>
            <a:spLocks noGrp="1"/>
          </p:cNvSpPr>
          <p:nvPr/>
        </p:nvSpPr>
        <p:spPr>
          <a:xfrm>
            <a:off x="5038725" y="266700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공고, 추천 근거, 제출서류, 첨부 문맥, 회사 프로필을 필요한 범위로 구성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ACDC64-F711-4339-BD0A-AE378C856FF0}"/>
              </a:ext>
            </a:extLst>
          </p:cNvPr>
          <p:cNvSpPr>
            <a:spLocks noGrp="1"/>
          </p:cNvSpPr>
          <p:nvPr/>
        </p:nvSpPr>
        <p:spPr>
          <a:xfrm>
            <a:off x="8115300" y="2076450"/>
            <a:ext cx="3390900" cy="12954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C09069-5A8E-409F-8DB4-7CFE546F1E73}"/>
              </a:ext>
            </a:extLst>
          </p:cNvPr>
          <p:cNvSpPr>
            <a:spLocks noGrp="1"/>
          </p:cNvSpPr>
          <p:nvPr/>
        </p:nvSpPr>
        <p:spPr>
          <a:xfrm>
            <a:off x="8324850" y="224790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B46082-0357-494C-BBA9-43C3E22287F8}"/>
              </a:ext>
            </a:extLst>
          </p:cNvPr>
          <p:cNvSpPr>
            <a:spLocks noGrp="1"/>
          </p:cNvSpPr>
          <p:nvPr/>
        </p:nvSpPr>
        <p:spPr>
          <a:xfrm>
            <a:off x="8896350" y="22479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채움 전략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A21F837-F385-4589-8234-F9216125592A}"/>
              </a:ext>
            </a:extLst>
          </p:cNvPr>
          <p:cNvSpPr>
            <a:spLocks noGrp="1"/>
          </p:cNvSpPr>
          <p:nvPr/>
        </p:nvSpPr>
        <p:spPr>
          <a:xfrm>
            <a:off x="8896350" y="266700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값 복사, 요약, 생성, 사용자 질문, 수동 입력으로 자동채움 가능 영역과 확인 영역을 분리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932A46-9AAA-4465-9B4A-95493D8E8817}"/>
              </a:ext>
            </a:extLst>
          </p:cNvPr>
          <p:cNvSpPr>
            <a:spLocks noGrp="1"/>
          </p:cNvSpPr>
          <p:nvPr/>
        </p:nvSpPr>
        <p:spPr>
          <a:xfrm>
            <a:off x="400050" y="3733800"/>
            <a:ext cx="3390900" cy="12954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69582E0-FA11-42F8-8151-225CF7E41111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BC0D12-3F92-495B-B62E-A38E357CC821}"/>
              </a:ext>
            </a:extLst>
          </p:cNvPr>
          <p:cNvSpPr>
            <a:spLocks noGrp="1"/>
          </p:cNvSpPr>
          <p:nvPr/>
        </p:nvSpPr>
        <p:spPr>
          <a:xfrm>
            <a:off x="1181100" y="3905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초안 생성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47B5BD7-EC49-4DCF-A46A-E67C92A0C442}"/>
              </a:ext>
            </a:extLst>
          </p:cNvPr>
          <p:cNvSpPr>
            <a:spLocks noGrp="1"/>
          </p:cNvSpPr>
          <p:nvPr/>
        </p:nvSpPr>
        <p:spPr>
          <a:xfrm>
            <a:off x="1181100" y="43243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문서 유형별 양식으로 신청서, 사업계획서, 제안서, 예산안 초안을 생성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0AB696A-8586-4C33-A4A3-44EB6BF68E83}"/>
              </a:ext>
            </a:extLst>
          </p:cNvPr>
          <p:cNvSpPr>
            <a:spLocks noGrp="1"/>
          </p:cNvSpPr>
          <p:nvPr/>
        </p:nvSpPr>
        <p:spPr>
          <a:xfrm>
            <a:off x="4257675" y="3733800"/>
            <a:ext cx="3390900" cy="12954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F6C15DC-9452-494C-9D6E-0FFFE377B492}"/>
              </a:ext>
            </a:extLst>
          </p:cNvPr>
          <p:cNvSpPr>
            <a:spLocks noGrp="1"/>
          </p:cNvSpPr>
          <p:nvPr/>
        </p:nvSpPr>
        <p:spPr>
          <a:xfrm>
            <a:off x="4467225" y="39052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715A70E-D4E1-45C6-A69B-5C90AB8C2EDD}"/>
              </a:ext>
            </a:extLst>
          </p:cNvPr>
          <p:cNvSpPr>
            <a:spLocks noGrp="1"/>
          </p:cNvSpPr>
          <p:nvPr/>
        </p:nvSpPr>
        <p:spPr>
          <a:xfrm>
            <a:off x="5038725" y="3905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검토 장치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F6BCAC6-C6C9-4B11-A784-03DBAD610DD4}"/>
              </a:ext>
            </a:extLst>
          </p:cNvPr>
          <p:cNvSpPr>
            <a:spLocks noGrp="1"/>
          </p:cNvSpPr>
          <p:nvPr/>
        </p:nvSpPr>
        <p:spPr>
          <a:xfrm>
            <a:off x="5038725" y="43243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사용한 회사 정보, 부족한 입력, 가정, 경고, 근거 첨부를 초안과 함께 저장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2E28094-4322-4EFF-8E3F-1CF50683FF71}"/>
              </a:ext>
            </a:extLst>
          </p:cNvPr>
          <p:cNvSpPr>
            <a:spLocks noGrp="1"/>
          </p:cNvSpPr>
          <p:nvPr/>
        </p:nvSpPr>
        <p:spPr>
          <a:xfrm>
            <a:off x="8115300" y="3733800"/>
            <a:ext cx="3390900" cy="12954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548E810-8E24-4FAC-A6DD-5B4BD97045A5}"/>
              </a:ext>
            </a:extLst>
          </p:cNvPr>
          <p:cNvSpPr>
            <a:spLocks noGrp="1"/>
          </p:cNvSpPr>
          <p:nvPr/>
        </p:nvSpPr>
        <p:spPr>
          <a:xfrm>
            <a:off x="8324850" y="3905250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6940B56-4EC3-464E-B794-E69B7F1B1609}"/>
              </a:ext>
            </a:extLst>
          </p:cNvPr>
          <p:cNvSpPr>
            <a:spLocks noGrp="1"/>
          </p:cNvSpPr>
          <p:nvPr/>
        </p:nvSpPr>
        <p:spPr>
          <a:xfrm>
            <a:off x="8896350" y="3905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이력·내보내기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B5110E8-0E34-4ED8-BA72-9B3BEF6E64B8}"/>
              </a:ext>
            </a:extLst>
          </p:cNvPr>
          <p:cNvSpPr>
            <a:spLocks noGrp="1"/>
          </p:cNvSpPr>
          <p:nvPr/>
        </p:nvSpPr>
        <p:spPr>
          <a:xfrm>
            <a:off x="8896350" y="43243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수정, 재생성, 검토 완료 상태, 내보내기 이벤트를 감사 로그와 품질 지표로 축적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A054DD-040C-4273-8D71-7A5AEFDCCAA6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안전 기준: 없는 매출·인증·실적은 생성하지 않고 부족한 입력으로 돌립니다. 서명·동의·서약은 사용자 확인 전 완료 처리하지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13367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53AB46C1-CAA4-4231-81A7-3B39C505FE24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IR THESIS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63D1F6-C011-4551-A7B5-7687496B7050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10287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창업노트의 해자:</a:t>
            </a:r>
          </a:p>
          <a:p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 데이터베이스를 넘어</a:t>
            </a:r>
          </a:p>
          <a:p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판단·행동·결과 데이터로</a:t>
            </a:r>
          </a:p>
          <a:p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이어지는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54ABDF-7EDE-4676-A79A-E708D3BCBDC4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3381375" cy="16002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3A03D2-D408-4C14-86BF-5826797AA41A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2962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공고 정리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0234FE-0767-4BE2-A601-75A68EA4D47A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29622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모든 공고를 조건, 지원 내용, 신청 준비 정보로 정리합니다.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573680C-AE0F-4CEC-948C-CC6C12A37C8C}"/>
              </a:ext>
            </a:extLst>
          </p:cNvPr>
          <p:cNvSpPr>
            <a:spLocks noGrp="1"/>
          </p:cNvSpPr>
          <p:nvPr/>
        </p:nvSpPr>
        <p:spPr>
          <a:xfrm>
            <a:off x="4400550" y="3676650"/>
            <a:ext cx="3381375" cy="1600200"/>
          </a:xfrm>
          <a:prstGeom prst="rect">
            <a:avLst/>
          </a:prstGeom>
          <a:solidFill>
            <a:srgbClr val="FFF2D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0D889B-DD22-435D-889C-381AF14FA605}"/>
              </a:ext>
            </a:extLst>
          </p:cNvPr>
          <p:cNvSpPr>
            <a:spLocks noGrp="1"/>
          </p:cNvSpPr>
          <p:nvPr/>
        </p:nvSpPr>
        <p:spPr>
          <a:xfrm>
            <a:off x="4610100" y="3886200"/>
            <a:ext cx="2962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이유가 보이는 추천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87B2C9-50D5-49A3-878A-A934DFA88ACC}"/>
              </a:ext>
            </a:extLst>
          </p:cNvPr>
          <p:cNvSpPr>
            <a:spLocks noGrp="1"/>
          </p:cNvSpPr>
          <p:nvPr/>
        </p:nvSpPr>
        <p:spPr>
          <a:xfrm>
            <a:off x="4610100" y="4419600"/>
            <a:ext cx="29622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바로 추천, 확인 필요, 제외의 이유를 근거와 함께 남깁니다.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B8B298-2935-4263-90C6-9FB911023FB3}"/>
              </a:ext>
            </a:extLst>
          </p:cNvPr>
          <p:cNvSpPr>
            <a:spLocks noGrp="1"/>
          </p:cNvSpPr>
          <p:nvPr/>
        </p:nvSpPr>
        <p:spPr>
          <a:xfrm>
            <a:off x="8401050" y="3676650"/>
            <a:ext cx="3390900" cy="16002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BAC295-6759-4FC8-8B6E-2B93E1283871}"/>
              </a:ext>
            </a:extLst>
          </p:cNvPr>
          <p:cNvSpPr>
            <a:spLocks noGrp="1"/>
          </p:cNvSpPr>
          <p:nvPr/>
        </p:nvSpPr>
        <p:spPr>
          <a:xfrm>
            <a:off x="8610600" y="3886200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  <a:cs typeface="Pretendard"/>
              </a:rPr>
              <a:t>운영 신뢰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FD9DBD-BBA5-4A7A-8123-DE651046A274}"/>
              </a:ext>
            </a:extLst>
          </p:cNvPr>
          <p:cNvSpPr>
            <a:spLocks noGrp="1"/>
          </p:cNvSpPr>
          <p:nvPr/>
        </p:nvSpPr>
        <p:spPr>
          <a:xfrm>
            <a:off x="8610600" y="4419600"/>
            <a:ext cx="2971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단단한 </a:t>
            </a:r>
            <a:r>
              <a:rPr sz="142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보안 구조와 지원 준비/초안 작성 기능으로 공공영역 신뢰와 실행 가치를 함께 키웁니다.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33CA45-B37A-4AF8-9069-1372337F30A4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9900"/>
                </a:solidFill>
                <a:latin typeface="Pretendard"/>
                <a:ea typeface="Pretendard"/>
                <a:cs typeface="Pretendard"/>
              </a:rPr>
              <a:t>비전: 성장 조건, 기회, 신청 실행, 결과 기록을 연결하는 지원사업 데이터 인프라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8C5F0B-D246-4DD6-BC37-9B9BBB1D6CA4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창업노트 기술 IR | 요약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137378-3B15-4958-8614-469FAA999D1E}"/>
              </a:ext>
            </a:extLst>
          </p:cNvPr>
          <p:cNvSpPr>
            <a:spLocks noGrp="1"/>
          </p:cNvSpPr>
          <p:nvPr/>
        </p:nvSpPr>
        <p:spPr>
          <a:xfrm>
            <a:off x="1129665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3565A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616052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1804</Words>
  <Application>Microsoft Macintosh PowerPoint</Application>
  <DocSecurity>0</DocSecurity>
  <PresentationFormat>와이드스크린</PresentationFormat>
  <Paragraphs>366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Pretendard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Songwook Han</cp:lastModifiedBy>
  <cp:revision>1</cp:revision>
  <dcterms:created xsi:type="dcterms:W3CDTF">2026-06-28T06:14:31Z</dcterms:created>
  <dcterms:modified xsi:type="dcterms:W3CDTF">2026-06-28T06:31:21Z</dcterms:modified>
</cp:coreProperties>
</file>