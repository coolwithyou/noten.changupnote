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8b7bd1dff6468c" /><Relationship Type="http://schemas.openxmlformats.org/officeDocument/2006/relationships/extended-properties" Target="/docProps/app.xml" Id="Rb8bd9e77c8b24cc5" /><Relationship Type="http://schemas.openxmlformats.org/officeDocument/2006/relationships/officeDocument" Target="/ppt/presentation.xml" Id="R3bc0fec0511a49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e0a045546f471c"/>
  </p:sldMasterIdLst>
  <p:notesMasterIdLst>
    <p:notesMasterId xmlns:r="http://schemas.openxmlformats.org/officeDocument/2006/relationships" r:id="Rc53a93e5278f42a5"/>
  </p:notesMasterIdLst>
  <p:sldIdLst>
    <p:sldId xmlns:r="http://schemas.openxmlformats.org/officeDocument/2006/relationships" id="256" r:id="R2e582a2d345a4b45"/>
    <p:sldId xmlns:r="http://schemas.openxmlformats.org/officeDocument/2006/relationships" id="257" r:id="R6223ea3dfb2e4fc9"/>
    <p:sldId xmlns:r="http://schemas.openxmlformats.org/officeDocument/2006/relationships" id="258" r:id="R69eb6b99e1ba4ca2"/>
    <p:sldId xmlns:r="http://schemas.openxmlformats.org/officeDocument/2006/relationships" id="259" r:id="Ra8c1d4323fbd49f4"/>
    <p:sldId xmlns:r="http://schemas.openxmlformats.org/officeDocument/2006/relationships" id="260" r:id="R0a6442a7164a4b16"/>
    <p:sldId xmlns:r="http://schemas.openxmlformats.org/officeDocument/2006/relationships" id="261" r:id="Ra14c54703fde4237"/>
    <p:sldId xmlns:r="http://schemas.openxmlformats.org/officeDocument/2006/relationships" id="262" r:id="R2190250c89354f02"/>
    <p:sldId xmlns:r="http://schemas.openxmlformats.org/officeDocument/2006/relationships" id="263" r:id="Rb7134915da7c4de6"/>
    <p:sldId xmlns:r="http://schemas.openxmlformats.org/officeDocument/2006/relationships" id="264" r:id="R243f5ae8fbf34175"/>
    <p:sldId xmlns:r="http://schemas.openxmlformats.org/officeDocument/2006/relationships" id="265" r:id="Rb7f9afe56b5a4da5"/>
    <p:sldId xmlns:r="http://schemas.openxmlformats.org/officeDocument/2006/relationships" id="266" r:id="R6500ddf92b394645"/>
    <p:sldId xmlns:r="http://schemas.openxmlformats.org/officeDocument/2006/relationships" id="267" r:id="Rb127908b43774d27"/>
    <p:sldId xmlns:r="http://schemas.openxmlformats.org/officeDocument/2006/relationships" id="268" r:id="R5ad38036ca2a46ec"/>
    <p:sldId xmlns:r="http://schemas.openxmlformats.org/officeDocument/2006/relationships" id="269" r:id="Race224e254134c66"/>
    <p:sldId xmlns:r="http://schemas.openxmlformats.org/officeDocument/2006/relationships" id="270" r:id="R130d9281eea849f9"/>
    <p:sldId xmlns:r="http://schemas.openxmlformats.org/officeDocument/2006/relationships" id="271" r:id="R1422ab5d629b4006"/>
    <p:sldId xmlns:r="http://schemas.openxmlformats.org/officeDocument/2006/relationships" id="272" r:id="R78077692d32b4294"/>
    <p:sldId xmlns:r="http://schemas.openxmlformats.org/officeDocument/2006/relationships" id="273" r:id="R301cb5cca04449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1e780ada014cb8" /><Relationship Type="http://schemas.openxmlformats.org/officeDocument/2006/relationships/slideMaster" Target="/ppt/slideMasters/slideMaster1.xml" Id="Re7e0a045546f471c" /><Relationship Type="http://schemas.openxmlformats.org/officeDocument/2006/relationships/notesMaster" Target="/ppt/notesMasters/notesMaster1.xml" Id="Rc53a93e5278f42a5" /><Relationship Type="http://schemas.openxmlformats.org/officeDocument/2006/relationships/presProps" Target="/ppt/presProps.xml" Id="R71fc320089dc4311" /><Relationship Type="http://schemas.openxmlformats.org/officeDocument/2006/relationships/tableStyles" Target="/ppt/tableStyles.xml" Id="R6fed904a29ec4e41" /><Relationship Type="http://schemas.openxmlformats.org/officeDocument/2006/relationships/slide" Target="/ppt/slides/slide1.xml" Id="R2e582a2d345a4b45" /><Relationship Type="http://schemas.openxmlformats.org/officeDocument/2006/relationships/slide" Target="/ppt/slides/slide2.xml" Id="R6223ea3dfb2e4fc9" /><Relationship Type="http://schemas.openxmlformats.org/officeDocument/2006/relationships/slide" Target="/ppt/slides/slide3.xml" Id="R69eb6b99e1ba4ca2" /><Relationship Type="http://schemas.openxmlformats.org/officeDocument/2006/relationships/slide" Target="/ppt/slides/slide4.xml" Id="Ra8c1d4323fbd49f4" /><Relationship Type="http://schemas.openxmlformats.org/officeDocument/2006/relationships/slide" Target="/ppt/slides/slide5.xml" Id="R0a6442a7164a4b16" /><Relationship Type="http://schemas.openxmlformats.org/officeDocument/2006/relationships/slide" Target="/ppt/slides/slide6.xml" Id="Ra14c54703fde4237" /><Relationship Type="http://schemas.openxmlformats.org/officeDocument/2006/relationships/slide" Target="/ppt/slides/slide7.xml" Id="R2190250c89354f02" /><Relationship Type="http://schemas.openxmlformats.org/officeDocument/2006/relationships/slide" Target="/ppt/slides/slide8.xml" Id="Rb7134915da7c4de6" /><Relationship Type="http://schemas.openxmlformats.org/officeDocument/2006/relationships/slide" Target="/ppt/slides/slide9.xml" Id="R243f5ae8fbf34175" /><Relationship Type="http://schemas.openxmlformats.org/officeDocument/2006/relationships/slide" Target="/ppt/slides/slide10.xml" Id="Rb7f9afe56b5a4da5" /><Relationship Type="http://schemas.openxmlformats.org/officeDocument/2006/relationships/slide" Target="/ppt/slides/slide11.xml" Id="R6500ddf92b394645" /><Relationship Type="http://schemas.openxmlformats.org/officeDocument/2006/relationships/slide" Target="/ppt/slides/slide12.xml" Id="Rb127908b43774d27" /><Relationship Type="http://schemas.openxmlformats.org/officeDocument/2006/relationships/slide" Target="/ppt/slides/slide13.xml" Id="R5ad38036ca2a46ec" /><Relationship Type="http://schemas.openxmlformats.org/officeDocument/2006/relationships/slide" Target="/ppt/slides/slide14.xml" Id="Race224e254134c66" /><Relationship Type="http://schemas.openxmlformats.org/officeDocument/2006/relationships/slide" Target="/ppt/slides/slide15.xml" Id="R130d9281eea849f9" /><Relationship Type="http://schemas.openxmlformats.org/officeDocument/2006/relationships/slide" Target="/ppt/slides/slide16.xml" Id="R1422ab5d629b4006" /><Relationship Type="http://schemas.openxmlformats.org/officeDocument/2006/relationships/slide" Target="/ppt/slides/slide17.xml" Id="R78077692d32b4294" /><Relationship Type="http://schemas.openxmlformats.org/officeDocument/2006/relationships/slide" Target="/ppt/slides/slide18.xml" Id="R301cb5cca044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d8c635c67d41f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815f3524f54911" /><Relationship Type="http://schemas.openxmlformats.org/officeDocument/2006/relationships/notesMaster" Target="/ppt/notesMasters/notesMaster1.xml" Id="R365deda68c984f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ae92578de04651" /><Relationship Type="http://schemas.openxmlformats.org/officeDocument/2006/relationships/notesMaster" Target="/ppt/notesMasters/notesMaster1.xml" Id="R618ac153219044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d95b9fe28242ca" /><Relationship Type="http://schemas.openxmlformats.org/officeDocument/2006/relationships/notesMaster" Target="/ppt/notesMasters/notesMaster1.xml" Id="R67b61c6fc77f4a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9d3c9224204a60" /><Relationship Type="http://schemas.openxmlformats.org/officeDocument/2006/relationships/notesMaster" Target="/ppt/notesMasters/notesMaster1.xml" Id="R9a9102ce347942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800dc770e3444a" /><Relationship Type="http://schemas.openxmlformats.org/officeDocument/2006/relationships/notesMaster" Target="/ppt/notesMasters/notesMaster1.xml" Id="R2726aa37d7f84b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303c5a3d0e4c3f" /><Relationship Type="http://schemas.openxmlformats.org/officeDocument/2006/relationships/notesMaster" Target="/ppt/notesMasters/notesMaster1.xml" Id="R653ba0e1891f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e615c9d06394bba" /><Relationship Type="http://schemas.openxmlformats.org/officeDocument/2006/relationships/notesMaster" Target="/ppt/notesMasters/notesMaster1.xml" Id="R64481a3d4c29478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85108da87f64597" /><Relationship Type="http://schemas.openxmlformats.org/officeDocument/2006/relationships/notesMaster" Target="/ppt/notesMasters/notesMaster1.xml" Id="R4d06cfdaac6449c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77961ef72b64fec" /><Relationship Type="http://schemas.openxmlformats.org/officeDocument/2006/relationships/notesMaster" Target="/ppt/notesMasters/notesMaster1.xml" Id="Rfbd6dac562f74b6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510377b69404b14" /><Relationship Type="http://schemas.openxmlformats.org/officeDocument/2006/relationships/notesMaster" Target="/ppt/notesMasters/notesMaster1.xml" Id="Rffb8946a998b4d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d353951cd8f4329" /><Relationship Type="http://schemas.openxmlformats.org/officeDocument/2006/relationships/notesMaster" Target="/ppt/notesMasters/notesMaster1.xml" Id="Rc79cd2d90b3d4c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2e9045320641dc" /><Relationship Type="http://schemas.openxmlformats.org/officeDocument/2006/relationships/notesMaster" Target="/ppt/notesMasters/notesMaster1.xml" Id="Rd731f899f03749e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df12e571e954e21" /><Relationship Type="http://schemas.openxmlformats.org/officeDocument/2006/relationships/notesMaster" Target="/ppt/notesMasters/notesMaster1.xml" Id="R99802962900f47f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637d867bb1d4779" /><Relationship Type="http://schemas.openxmlformats.org/officeDocument/2006/relationships/notesMaster" Target="/ppt/notesMasters/notesMaster1.xml" Id="R9b280aab76fd4b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8eb180ec73a4bdd" /><Relationship Type="http://schemas.openxmlformats.org/officeDocument/2006/relationships/notesMaster" Target="/ppt/notesMasters/notesMaster1.xml" Id="Rc9b9bcbbdb434c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1ce8e8138cc4c9c" /><Relationship Type="http://schemas.openxmlformats.org/officeDocument/2006/relationships/notesMaster" Target="/ppt/notesMasters/notesMaster1.xml" Id="R550997bc0aa04b3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cb7a6bf89724c8d" /><Relationship Type="http://schemas.openxmlformats.org/officeDocument/2006/relationships/notesMaster" Target="/ppt/notesMasters/notesMaster1.xml" Id="R19f0cc9ddc274e6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df8cba70f024a61" /><Relationship Type="http://schemas.openxmlformats.org/officeDocument/2006/relationships/notesMaster" Target="/ppt/notesMasters/notesMaster1.xml" Id="Re65c87ee0b5d433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7b2395d8b642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e9c4d516234555" /><Relationship Type="http://schemas.openxmlformats.org/officeDocument/2006/relationships/slideLayout" Target="/ppt/slideLayouts/slideLayout1.xml" Id="Re6ee306364ed4a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ee306364ed4a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4f786939064198" /><Relationship Type="http://schemas.openxmlformats.org/officeDocument/2006/relationships/notesSlide" Target="/ppt/notesSlides/notesSlide1.xml" Id="R8f42e332a8d744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df05e9852443e5" /><Relationship Type="http://schemas.openxmlformats.org/officeDocument/2006/relationships/notesSlide" Target="/ppt/notesSlides/notesSlide2.xml" Id="R70b190cab9d74b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5f7a80e334c88" /><Relationship Type="http://schemas.openxmlformats.org/officeDocument/2006/relationships/notesSlide" Target="/ppt/notesSlides/notesSlide3.xml" Id="R2c89fbfa70524e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ace2cffdc64087" /><Relationship Type="http://schemas.openxmlformats.org/officeDocument/2006/relationships/notesSlide" Target="/ppt/notesSlides/notesSlide4.xml" Id="R57f8c2029e57406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c9534f7c004851" /><Relationship Type="http://schemas.openxmlformats.org/officeDocument/2006/relationships/chart" Target="/ppt/slides/charts/chart1.xml" Id="Rbcc9b534d9e245e8" /><Relationship Type="http://schemas.openxmlformats.org/officeDocument/2006/relationships/notesSlide" Target="/ppt/notesSlides/notesSlide5.xml" Id="Rea44a04030ef4d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8f642505044cd" /><Relationship Type="http://schemas.openxmlformats.org/officeDocument/2006/relationships/notesSlide" Target="/ppt/notesSlides/notesSlide6.xml" Id="Rc9b280d3f1f846c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ef81a2ec054065" /><Relationship Type="http://schemas.openxmlformats.org/officeDocument/2006/relationships/notesSlide" Target="/ppt/notesSlides/notesSlide7.xml" Id="R5e9702bd2e484e1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da3bc5a6ac4ded" /><Relationship Type="http://schemas.openxmlformats.org/officeDocument/2006/relationships/notesSlide" Target="/ppt/notesSlides/notesSlide8.xml" Id="R8b87d20f4b864b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14df7481a8493e" /><Relationship Type="http://schemas.openxmlformats.org/officeDocument/2006/relationships/notesSlide" Target="/ppt/notesSlides/notesSlide9.xml" Id="Re12069996519481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130f9da23e4981" /><Relationship Type="http://schemas.openxmlformats.org/officeDocument/2006/relationships/notesSlide" Target="/ppt/notesSlides/notesSlide10.xml" Id="Rd9921d066f35468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4a57b48f04976" /><Relationship Type="http://schemas.openxmlformats.org/officeDocument/2006/relationships/notesSlide" Target="/ppt/notesSlides/notesSlide11.xml" Id="R2a3871d796374e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962abb2ea4fa1" /><Relationship Type="http://schemas.openxmlformats.org/officeDocument/2006/relationships/notesSlide" Target="/ppt/notesSlides/notesSlide12.xml" Id="R213d563d256144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77b8668ea4c02" /><Relationship Type="http://schemas.openxmlformats.org/officeDocument/2006/relationships/notesSlide" Target="/ppt/notesSlides/notesSlide13.xml" Id="Rd7b493dac78040c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851152ed7a4ed1" /><Relationship Type="http://schemas.openxmlformats.org/officeDocument/2006/relationships/notesSlide" Target="/ppt/notesSlides/notesSlide14.xml" Id="Rc6d2eb67f1de4b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8d0b5ac5c44619" /><Relationship Type="http://schemas.openxmlformats.org/officeDocument/2006/relationships/notesSlide" Target="/ppt/notesSlides/notesSlide15.xml" Id="Rb9495ccc9160485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1d68d2f68d44b7" /><Relationship Type="http://schemas.openxmlformats.org/officeDocument/2006/relationships/notesSlide" Target="/ppt/notesSlides/notesSlide16.xml" Id="R8f09235a3392459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345bd453a462f" /><Relationship Type="http://schemas.openxmlformats.org/officeDocument/2006/relationships/notesSlide" Target="/ppt/notesSlides/notesSlide17.xml" Id="R65822368d9c5410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4f8cc98fe401e" /><Relationship Type="http://schemas.openxmlformats.org/officeDocument/2006/relationships/notesSlide" Target="/ppt/notesSlides/notesSlide18.xml" Id="Rf45994d1d0114176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등장률</c:v>
          </c:tx>
          <c:spPr>
            <a:solidFill xmlns:a="http://schemas.openxmlformats.org/drawingml/2006/main">
              <a:srgbClr val="080808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6"/>
              <c:pt idx="0">
                <c:v>컨설팅</c:v>
              </c:pt>
              <c:pt idx="1">
                <c:v>전시·해외</c:v>
              </c:pt>
              <c:pt idx="2">
                <c:v>마케팅</c:v>
              </c:pt>
              <c:pt idx="3">
                <c:v>인증·IP</c:v>
              </c:pt>
              <c:pt idx="4">
                <c:v>융자·보증</c:v>
              </c:pt>
              <c:pt idx="5">
                <c:v>자금</c:v>
              </c:pt>
            </c:strLit>
          </c:cat>
          <c:val>
            <c:numLit>
              <c:formatCode>General</c:formatCode>
              <c:ptCount val="6"/>
              <c:pt idx="0">
                <c:v>25.3</c:v>
              </c:pt>
              <c:pt idx="1">
                <c:v>24.1</c:v>
              </c:pt>
              <c:pt idx="2">
                <c:v>23.7</c:v>
              </c:pt>
              <c:pt idx="3">
                <c:v>19.9</c:v>
              </c:pt>
              <c:pt idx="4">
                <c:v>13.9</c:v>
              </c:pt>
              <c:pt idx="5">
                <c:v>10.1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majorGridlines>
          <c:spPr>
            <a:ln xmlns:a="http://schemas.openxmlformats.org/drawingml/2006/main" w="9525">
              <a:solidFill>
                <a:srgbClr val="B8BCC4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A1EB18-0468-45F2-A958-24E75C87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53565A"/>
                </a:solidFill>
              </a:defRPr>
            </a:pPr>
            <a:r>
              <a:rPr sz="1275" b="1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DFAEEF-F01A-4953-A696-99F0BA0BF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52550"/>
            <a:ext cx="790575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080808"/>
                </a:solidFill>
              </a:defRPr>
            </a:pPr>
            <a:r>
              <a:rPr sz="4500" b="1">
                <a:solidFill>
                  <a:srgbClr val="080808"/>
                </a:solidFill>
              </a:rPr>
              <a:t>공고를 기회 데이터로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4500" b="1">
                <a:solidFill>
                  <a:srgbClr val="080808"/>
                </a:solidFill>
              </a:defRPr>
            </a:pPr>
            <a:r>
              <a:rPr sz="4500" b="1">
                <a:solidFill>
                  <a:srgbClr val="080808"/>
                </a:solidFill>
              </a:rPr>
              <a:t>바꾸는 기술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E56D0B-3E26-42C1-9428-43ED789D2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5433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0">
                <a:solidFill>
                  <a:srgbClr val="53565A"/>
                </a:solidFill>
              </a:defRPr>
            </a:pPr>
            <a:r>
              <a:rPr sz="1800" b="0">
                <a:solidFill>
                  <a:srgbClr val="53565A"/>
                </a:solidFill>
              </a:rPr>
              <a:t>지원사업 검색을 넘어, 회사별 판단과 실행까지 연결합니다.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170BA-6D0F-4328-8538-2405B5A8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F9340-E9B0-4478-9972-5FBBDEE5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CA7465-27D9-42EF-B32A-FD64E2CB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자격 판단 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C8A4C-9970-4F7C-8DEE-9E05823A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회사와 공고를 같은 기준으로 비교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8D32B4-D3A6-472C-A570-2A4994D7D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F08459-7E83-4ED3-B2F2-66FE03AE0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75D1CF-204A-4C79-BFF6-BB9AAAE7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혜택 패밀리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63CA3A-EED9-4523-A003-76AF1412B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돈·시장·역량·인증·연결을 분리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4E522-77C6-48EF-A1E1-41786FCE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0125"/>
            <a:ext cx="257175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1A693-7A30-4DC6-883F-A229D772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10150"/>
            <a:ext cx="76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09B44-3045-4D9F-8313-A9F0B31E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81650"/>
            <a:ext cx="1857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판정 상태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7D3E2-5F01-4E8B-A6F6-26CB6B65B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8864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적격 · 조건부 · 부적격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6DDC8-AF05-4849-89D5-4937757F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0"/>
            <a:ext cx="180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E72BF4-AE6F-4822-9E28-03FBB83A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14350"/>
            <a:ext cx="1200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NOTEN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CUNOTE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FA6648-2037-4A16-914E-F7A41FD3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43600"/>
            <a:ext cx="120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D9D9D9"/>
                </a:solidFill>
              </a:defRPr>
            </a:pPr>
            <a:r>
              <a:rPr sz="1200" b="0">
                <a:solidFill>
                  <a:srgbClr val="D9D9D9"/>
                </a:solidFill>
              </a:rPr>
              <a:t>External 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001691-EA04-4E3E-AC00-E6F7DA43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 | 2026-06-28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9450EE-BAAA-4C18-BB7E-7AC1BC155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9407804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B1471A-DC4F-4604-8348-758A7BC3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MARKET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E49B65-9289-480B-A2B2-FDBA70B0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공고는 많지만,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판단은 여전히 사람이 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817403-231D-4638-910A-F9797392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정보의 양이 문제가 아닙니다. 자격과 혜택이 판단 가능한 형태로 정리되어 있지 않은 것이 문제입니다.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A40FF3-F6F7-4DE3-907C-6A07B45C5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7B40E8-E519-4A08-A737-0B1B3DA8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A9E164-7BD2-48A8-9CD6-F8199C0C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397CA-99B2-4CFE-A913-D1454E10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2932AB-BAAD-4024-8642-7BDE664E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080808"/>
                </a:solidFill>
              </a:defRPr>
            </a:pPr>
            <a:r>
              <a:rPr sz="3450" b="1">
                <a:solidFill>
                  <a:srgbClr val="080808"/>
                </a:solidFill>
              </a:rPr>
              <a:t>1,588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3708D9-8718-4B30-B22A-372B4785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기업마당 활성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59CDFA-F3ED-4B1E-8816-B46097ADB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본문과 첨부에 조건이 흩어져 있어 사람이 다시 읽어야 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2040DB-978A-448A-8DA9-29AA0395A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95296F-9D32-4ED9-9964-BF766E204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080808"/>
                </a:solidFill>
              </a:defRPr>
            </a:pPr>
            <a:r>
              <a:rPr sz="3450" b="1">
                <a:solidFill>
                  <a:srgbClr val="080808"/>
                </a:solidFill>
              </a:rPr>
              <a:t>304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E18FA2-C9FB-48A9-AACD-9DDAEDED1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K-Startup open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CACB8F-F27B-4A6A-888C-DDE04034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5280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창업 특화 공고지만 회사별 적합 여부는 별도 판단이 필요합니다.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B8BDAD-6C31-4AFD-B9E3-23DA023E7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95500"/>
            <a:ext cx="2571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9533E8-11BD-426F-A5B4-92087DD7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3050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080808"/>
                </a:solidFill>
              </a:defRPr>
            </a:pPr>
            <a:r>
              <a:rPr sz="3450" b="1">
                <a:solidFill>
                  <a:srgbClr val="080808"/>
                </a:solidFill>
              </a:rPr>
              <a:t>29K+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9F72C-A335-4B17-A337-FDC465B7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908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K-Startup 누적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BB4D86-ED40-4A17-A0A1-296A4288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52800"/>
            <a:ext cx="2114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마감, 지역, 대상, 분야가 시간에 따라 계속 바뀝니다.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15B23F-B349-4843-9CD2-0D1FEBEA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5908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F06EC0-EF25-40B0-A1FD-4B63281AD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050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450" b="1">
                <a:solidFill>
                  <a:srgbClr val="080808"/>
                </a:solidFill>
              </a:defRPr>
            </a:pPr>
            <a:r>
              <a:rPr sz="3450" b="1">
                <a:solidFill>
                  <a:srgbClr val="080808"/>
                </a:solidFill>
              </a:rPr>
              <a:t>1,900+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3B08BA-CE97-4037-A621-6B5E7CA4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908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활성 유니버스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6942EF-425D-4A30-B1CF-A32A06CD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52800"/>
            <a:ext cx="213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소스가 늘수록 중복과 상태 관리가 추천 품질을 좌우합니다.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291758-7F3F-42FB-8D36-303A1DAE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95875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80808"/>
                </a:solidFill>
              </a:defRPr>
            </a:pPr>
            <a:r>
              <a:rPr sz="1950" b="1">
                <a:solidFill>
                  <a:srgbClr val="080808"/>
                </a:solidFill>
              </a:rPr>
              <a:t>창업노트의 출발점은 공고 검색이 아니라, 공고를 회사가 바로 판단할 수 있는 데이터로 바꾸는 것입니다.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853EC1-9A91-4A64-873E-A82D9991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435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이 전환이 되어야 추천, 설명, 신청 준비, 성과 학습이 하나의 제품 흐름으로 이어집니다.</a:t>
            </a:r>
          </a:p>
        </p:txBody>
      </p:sp>
    </p:spTree>
    <p:extLst>
      <p:ext uri="{BB962C8B-B14F-4D97-AF65-F5344CB8AC3E}">
        <p14:creationId xmlns:p14="http://schemas.microsoft.com/office/powerpoint/2010/main" val="16380919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1F157-9690-4EE2-A35E-245B59C0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DATA STRATEGY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BDE21-1AA3-4F74-9941-BE6FC17C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창업노트는 공고를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세 개의 데이터 레이어로 바꾼다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84B4E-08DF-41D6-B3E7-8BE9A4E9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원문을 그대로 저장하는 수준을 넘어, 자격 판단·보상 가치·신청 준비를 분리해 서비스 데이터로 발행합니다.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7C378-CD76-45CB-98AE-2698B5244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FDC0D6-64EB-4D3C-9DFA-3FFE0C00E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72299-36A1-4E65-B8CD-02BFA8EE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A8940-671A-487A-8DBC-D924E92B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075C24-7C7A-4BFC-B6D5-DF336EBCD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53565A"/>
                </a:solidFill>
              </a:defRPr>
            </a:pPr>
            <a:r>
              <a:rPr sz="2100" b="1">
                <a:solidFill>
                  <a:srgbClr val="53565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D1FF46-5B6E-4BDA-9927-113938E20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Eligibility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59169C-4874-4DB0-A73C-A7818B2DC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80808"/>
                </a:solidFill>
              </a:defRPr>
            </a:pPr>
            <a:r>
              <a:rPr sz="2175" b="1">
                <a:solidFill>
                  <a:srgbClr val="080808"/>
                </a:solidFill>
              </a:rPr>
              <a:t>자격 판단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793F77-E5D4-48B4-8CF6-F425C968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지역, 업력, 연령, 업종, 기업 규모, 제외 대상 등 회사 프로필과 직접 비교되는 조건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20F2D0-2B8A-4413-86B9-CCCB01EF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33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FF9900"/>
                </a:solidFill>
              </a:defRPr>
            </a:pPr>
            <a:r>
              <a:rPr sz="285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6280D3-6DE9-44A1-87BD-F5A4B7E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14550"/>
            <a:ext cx="29527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4CD45-5073-4A8E-AA9A-677BB931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9900"/>
                </a:solidFill>
              </a:defRPr>
            </a:pPr>
            <a:r>
              <a:rPr sz="2100" b="1">
                <a:solidFill>
                  <a:srgbClr val="FF9900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F92E84-E0BE-4831-A793-6D1D3CEB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Benefit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746766-51DC-4F7C-B27E-1072DA38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80808"/>
                </a:solidFill>
              </a:defRPr>
            </a:pPr>
            <a:r>
              <a:rPr sz="2175" b="1">
                <a:solidFill>
                  <a:srgbClr val="080808"/>
                </a:solidFill>
              </a:rPr>
              <a:t>보상 가치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EA52F-3D64-4B5F-B346-95B2AA17A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지원금뿐 아니라 융자, 교육, 컨설팅, 판로, 인증, 공간, 네트워크를 혜택 단위로 분리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0C6AF5-6F80-4BBB-BC34-D4F6C6E5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3375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850" b="1">
                <a:solidFill>
                  <a:srgbClr val="FF9900"/>
                </a:solidFill>
              </a:defRPr>
            </a:pPr>
            <a:r>
              <a:rPr sz="285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DBEF3F-01C8-4B43-8029-1C1CB123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14550"/>
            <a:ext cx="29337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A5C0A-AEA1-40A2-8165-DD21BA5E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43150"/>
            <a:ext cx="57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53565A"/>
                </a:solidFill>
              </a:defRPr>
            </a:pPr>
            <a:r>
              <a:rPr sz="2100" b="1">
                <a:solidFill>
                  <a:srgbClr val="53565A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F4731-9943-4AD3-980C-273F5CA2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Application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3283BD-BF1C-4551-9951-D76B3496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143250"/>
            <a:ext cx="2190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75" b="1">
                <a:solidFill>
                  <a:srgbClr val="080808"/>
                </a:solidFill>
              </a:defRPr>
            </a:pPr>
            <a:r>
              <a:rPr sz="2175" b="1">
                <a:solidFill>
                  <a:srgbClr val="080808"/>
                </a:solidFill>
              </a:rPr>
              <a:t>신청 준비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057411-2881-492C-A04C-FDDAE067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228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마감, 제출처, 필요 서류, 링크, 담당기관, 원문 첨부를 실행 가능한 준비 정보로 정리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668814-6F67-424E-B1F8-E6173802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IR 메시지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C61619-CC8F-48E3-B1CB-0D5AB6DA8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2673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데이터 레이어가 분리되면 “이 회사가 받을 수 있는가”, “받으면 무엇이 좋은가”, “지금 무엇을 해야 하는가”를 각각 계산할 수 있습니다.</a:t>
            </a:r>
          </a:p>
        </p:txBody>
      </p:sp>
    </p:spTree>
    <p:extLst>
      <p:ext uri="{BB962C8B-B14F-4D97-AF65-F5344CB8AC3E}">
        <p14:creationId xmlns:p14="http://schemas.microsoft.com/office/powerpoint/2010/main" val="21449005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4AE3D3-96AA-412A-8FF9-53DEF557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STANDARDIZATION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4849BF-ECF0-4779-AA34-ECA2860B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표준화의 핵심은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자격·혜택·신청을 분리하는 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1907CA-B527-4A6C-85AA-10EBD5C5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현재 기준 열린 공고를 같은 좌표계로 정리해 회사 프로필과 직접 비교 가능한 형태로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55755-926E-4B3E-BBC2-812BC864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B95EB-71B7-471E-997D-FF1FC60C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DDBBC-4955-4815-8194-A5E635AA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71F7B-A673-424F-91BC-F5CF3575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30966-797C-4683-849C-66CC761E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ELIGIBILITY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7E4AEF-4322-41C7-88F4-92E3D1C0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자격 판단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921952-A179-46C8-B497-6288A6D0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9622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14개 차원으로 필수, 우대, 배제 조건을 분리합니다. 모르는 조건은 탈락으로 단정하지 않고 조건부로 남깁니다.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A3E3-CA4D-4EA9-BAFD-6D40FD3FE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03019A-8449-48D9-B62B-43A738220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BENEFIT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A0E115-14EF-458A-BFC9-76D4C757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보상 가치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49631-036B-4B27-A799-950F3CA3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62275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7개 혜택 패밀리로 자금, 융자, 교육, 컨설팅, 판로, 인증, 공간, 네트워크를 비교합니다.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24975-6CA7-402D-B67D-406D88E21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5E7395-D20E-4BB0-8FDE-599A5D20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7D0ABF-6C3C-4D02-A5E2-CE7028FE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신청 준비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5FCA9-8945-42B8-829E-ED60A9DA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971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마감, 필요 서류, 제출처, 링크, 담당기관을 신청 행동에 필요한 데이터로 정리합니다.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6212B-FA3F-4DCC-B162-4930CFE59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86375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이 구조 덕분에 공고 카드, 매칭 결과, 신청 준비 화면이 같은 데이터에서 일관되게 생성됩니다.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04CD5-C9D8-4E12-B72B-3D433987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검색 인덱스가 아니라 제품 운영 데이터로 공고를 다루는 것이 창업노트의 차별점입니다.</a:t>
            </a:r>
          </a:p>
        </p:txBody>
      </p:sp>
    </p:spTree>
    <p:extLst>
      <p:ext uri="{BB962C8B-B14F-4D97-AF65-F5344CB8AC3E}">
        <p14:creationId xmlns:p14="http://schemas.microsoft.com/office/powerpoint/2010/main" val="6473971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47F813-8BE5-450F-A0DB-115E80B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BENEFIT INSIGHT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5E0F2B-DBE9-497B-8194-A542424A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지원사업은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지원금만이 아니다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65FB6-ED83-4DF8-BE21-F139F3E1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공고를 혜택 단위로 쪼개면 사용자는 금액 외에도 판로, 인증, 교육, 공간, 네트워크 가치를 비교할 수 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D4819-71BC-42A9-A9E8-FD27008F9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8F8117-4ABD-4D12-AF8F-0F677C7E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B5562-C415-4D81-9A76-466C827C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C1E4E-BA10-4EFA-8BEF-8C90CC12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6858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781050" y="2400300"/>
          <a:ext xmlns:a="http://schemas.openxmlformats.org/drawingml/2006/main" cx="6096000" cy="3095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c9b534d9e245e8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A35616-63CC-4201-B796-EAB925647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53565A"/>
                </a:solidFill>
              </a:defRPr>
            </a:pPr>
            <a:r>
              <a:rPr sz="1125" b="0">
                <a:solidFill>
                  <a:srgbClr val="53565A"/>
                </a:solidFill>
              </a:rPr>
              <a:t>상위 등장률: 컨설팅 25.3% · 전시/해외 24.1% · 마케팅 23.7% · 인증/IP 19.9% · 자금 10.1%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302C6-8D33-44B6-A98D-288E33AF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524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</a:defRPr>
            </a:pPr>
            <a:r>
              <a:rPr sz="2250" b="1">
                <a:solidFill>
                  <a:srgbClr val="080808"/>
                </a:solidFill>
              </a:rPr>
              <a:t>추천의 기준은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</a:defRPr>
            </a:pPr>
            <a:r>
              <a:rPr sz="2250" b="1">
                <a:solidFill>
                  <a:srgbClr val="080808"/>
                </a:solidFill>
              </a:rPr>
              <a:t>“얼마를 주는가”에서</a:t>
            </a:r>
          </a:p>
          <a:p xmlns:a="http://schemas.openxmlformats.org/drawingml/2006/main">
            <a:pPr algn="l">
              <a:lnSpc>
                <a:spcPct val="107000"/>
              </a:lnSpc>
              <a:buNone/>
              <a:defRPr sz="2250" b="1">
                <a:solidFill>
                  <a:srgbClr val="080808"/>
                </a:solidFill>
              </a:defRPr>
            </a:pPr>
            <a:r>
              <a:rPr sz="2250" b="1">
                <a:solidFill>
                  <a:srgbClr val="080808"/>
                </a:solidFill>
              </a:rPr>
              <a:t>“무엇을 성장시킬 수 있는가”로 이동합니다.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E72BA8-A9AA-4595-B4D6-5B07E477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B08635-3FA1-441F-B0F5-6E69BAE1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0386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자금과 융자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742D5B-CDDF-4102-A21C-19AB441E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7E0E4-C4C5-4A96-9BDB-AF2198F7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36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판로와 해외 진출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D086C9-B6EA-4E29-902E-45B5C33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743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E2004-5A2F-4DAA-8A4B-26EF953B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86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인증과 지식재산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187F3C-7DD2-423F-83B9-C00153BF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067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B058AB-62E8-4071-9B54-6886CAC6C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010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교육과 컨설팅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0E4E94-0400-460F-895A-20239C7C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EE96D6-E2CE-4551-8D7A-2A0F7E66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3340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080808"/>
                </a:solidFill>
              </a:defRPr>
            </a:pPr>
            <a:r>
              <a:rPr sz="1575" b="0">
                <a:solidFill>
                  <a:srgbClr val="080808"/>
                </a:solidFill>
              </a:rPr>
              <a:t>공간과 네트워크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0BB08C-4E5E-4BA1-A75C-97D6066D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810250"/>
            <a:ext cx="352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금액 미상 공고도 혜택 구조를 알면 비교 가능한 기회가 됩니다.</a:t>
            </a:r>
          </a:p>
        </p:txBody>
      </p:sp>
    </p:spTree>
    <p:extLst>
      <p:ext uri="{BB962C8B-B14F-4D97-AF65-F5344CB8AC3E}">
        <p14:creationId xmlns:p14="http://schemas.microsoft.com/office/powerpoint/2010/main" val="1515176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CEC6E9-20DD-4B68-BB1A-536D20077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CLASSIFICATION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831533-A512-49EE-A9D0-6B2EEEEB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공고를 읽는 기준: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14가지 판단 항목과 7갈래 혜택 분류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816B86-788A-4B5C-B74B-90E04951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어색한 기술 용어 대신, 컨설턴트가 실제 공고를 검토할 때 보는 항목으로 표현합니다.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97B3F-1043-4E0D-9A92-FF228BE6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E8D50-8556-43D2-A340-6B8AE52B2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651A19-5D49-46D0-B652-55309100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152F3B-24A4-458D-92A1-C0E0B051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5429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363D9-DC06-49B4-8B18-3878DFFA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54292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57CB62-3CED-4FDC-89D0-474413ED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9900"/>
                </a:solidFill>
              </a:defRPr>
            </a:pPr>
            <a:r>
              <a:rPr sz="2100" b="1">
                <a:solidFill>
                  <a:srgbClr val="FF9900"/>
                </a:solidFill>
              </a:rPr>
              <a:t>14가지 자격 판단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B10C2D-2332-4827-96DC-9D7F5B9D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3C4E4C-5D20-4B4A-9385-177B2778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337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지역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7ACC56-0516-482E-A2F7-264565A8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ABA0C8-E1F1-4218-B2F1-9CCA1F72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업력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10633F-784C-4073-B615-DF96936B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ADFF11-3849-435B-BDDF-559E649A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052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업종·산업 분야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F3718A-8462-4BE5-9A8B-649FD50C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98ED48-E19C-462D-8603-2F128761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909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기업 규모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D56F77-98CD-4AA1-B3A9-4EC8F47C9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F351F1-F6CB-4A08-884F-0BDF20B0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매출 규모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32B778-E55E-4141-A745-AEF3AB17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50EC3-5AD7-41BC-B00D-C3B2AD46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62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고용 규모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DCDB5D-315C-474A-AD1B-3B8909FE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29236F-DA2D-4A4E-AFA0-FFA14AD1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대표자 연령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6D4CF7-CF04-4D5B-87EB-BF29702AE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90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A89C5D-C8D8-4BA0-83D7-1C505EE9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337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대표자·기업 특성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242DC9-26AB-4835-8C39-C212F1AE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276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ECEC0D1-0CE9-4F0E-B613-38180490C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19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인증·자격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2B6B27-2C9A-4A2B-94FD-915EFC2D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39315D0-8DD9-4FBC-B042-C2DFC66F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5052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기존 선정 이력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B44AD52-443A-4F2F-81AB-49D6FC7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848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B5279C-90CF-44AC-A7E9-54BC3580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지식재산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9EA4FF-B8BA-45F8-80EF-A5DFA5447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33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4675DE-D4DC-4D44-B528-44234149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767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대상 유형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2502D0-5A00-45C7-A7C6-423E98771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196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D840D3-04D7-4621-860E-DC58F157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6245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영업 상태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95416D-BCD0-49D6-8C2C-F01494FB0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705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9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96B3FB-516E-4E6D-9B0D-6BAF646E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648200"/>
            <a:ext cx="2047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0">
                <a:solidFill>
                  <a:srgbClr val="080808"/>
                </a:solidFill>
              </a:defRPr>
            </a:pPr>
            <a:r>
              <a:rPr sz="1350" b="0">
                <a:solidFill>
                  <a:srgbClr val="080808"/>
                </a:solidFill>
              </a:rPr>
              <a:t>기타 확인 조건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2B350E-8593-4559-8BAD-9E29CDA41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공고의 필수·우대·배제 조건을 회사 프로필과 비교하기 위한 기준입니다.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8D075C0-A3B5-4396-8E2D-A9DE5C5A8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0808"/>
                </a:solidFill>
              </a:defRPr>
            </a:pPr>
            <a:r>
              <a:rPr sz="2100" b="1">
                <a:solidFill>
                  <a:srgbClr val="080808"/>
                </a:solidFill>
              </a:rPr>
              <a:t>7갈래 지원 혜택 분류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8354BD-E57E-44F6-9377-7D1B3391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1462AF-7694-47D2-B29C-83138567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사업화 자금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CCDBE4-98BC-4B61-8BDD-60ACF54D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146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현금성 보조, 바우처, 사업비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FF4A13-8172-425E-8854-BFF2E318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670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2B7B8A-8179-4040-8517-46BF08B65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099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융자·보증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0B43CFB-AF08-48A9-9241-0848C02C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099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저리 융자, 보증, 금융 연계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A7BF6C-C9F7-4FC4-985A-4CCC922D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62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ABF9E5-FCA0-496B-A916-31DE8353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교육·컨설팅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C64698-059C-41DA-A13C-85C1894F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멘토링, 진단, 전문 컨설팅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D69EAE2-6A5D-4227-96F9-2DFF8A1E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576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0566771-986B-4E19-A3DB-57FC6DA3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004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공간·장비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06C615-1419-49AC-A612-97F93125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004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입주 공간, 테스트베드, 장비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308F04-320E-4185-B91E-8DABE62B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529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C74A0E0-0B6E-41DA-9C7E-5E350A6BF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9575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판로·해외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85B9E9-F86C-4118-8B29-0D54F837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전시, 수출, 마케팅, 납품처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68F8CD-4235-42A2-BFF9-43D462B5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8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6C47AA-3DFF-4C71-A3B4-8189EBA59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910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인증·특허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D7324BB-FE3B-48B5-883D-F5120DEF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39102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시험, 인증, IP 확보 지원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9F5C00D-090B-4910-91BB-F1A6E0AA8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80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DD9AC6D-1777-48AF-B33C-246096B9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863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네트워크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43B7B09-EB48-4DEC-ABD6-E01F0E78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8630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파트너, 투자자, 협업 연결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31D5CCC-EA29-4565-B0D5-6597F2A7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876800"/>
            <a:ext cx="433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혜택은 단순 금액이 아니라, 회사가 얻는 성장 자원을 비교하기 위한 분류입니다.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8DB7278-D67A-479A-A2D7-5C09CDD39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이 표현을 서비스와 IR에서 일관되게 쓰면, 기술 구조가 비전문가에게도 바로 이해됩니다.</a:t>
            </a:r>
          </a:p>
        </p:txBody>
      </p:sp>
    </p:spTree>
    <p:extLst>
      <p:ext uri="{BB962C8B-B14F-4D97-AF65-F5344CB8AC3E}">
        <p14:creationId xmlns:p14="http://schemas.microsoft.com/office/powerpoint/2010/main" val="2966544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69D404-FCEE-4B7A-AFBC-D28AB406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AWS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3CB32-E4D8-4E88-9810-E5732F75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AWS 권장 구조로 보완한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운영 아키텍처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4936AD-80A8-45EE-9D4F-5D51BFA64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CloudFront와 WAF를 전면에 두고, ALB·ECS·RDS·S3·EFS는 VPC 안에서 역할을 분리합니다.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5FDB9-549B-4D03-805F-97EDAA1E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6EFCE-E0B4-4911-A8C2-C2B0FF05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600587-C3B5-4D91-A114-26775360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A7133F-E720-409D-9C9C-1A5CFE4A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7621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105944-F7AD-4AC2-826A-36682B376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2095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756B6C-6D51-47D3-9FD1-609B39F9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095500"/>
            <a:ext cx="40481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AAEF0E-CA77-4F6F-9175-774F4BEA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095500"/>
            <a:ext cx="279082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B967B9-E70B-466A-A60B-254B2DEF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Edge protection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410100-8A63-477E-A849-046C31C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Public subnets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7E60D5-B4A6-4B77-9485-63386488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Private subnets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B7295-9BFA-4882-8C07-E9FD9D14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2479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Data plane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A5837-CC1B-404B-B71B-DF0A25EC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1257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ACA3A-6316-457F-ABE2-DB9322CB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Route 53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294FAA-FB4C-4F8D-B342-DD5808EC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10287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DNS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595DF-68F8-4EF5-8C58-7311C47C6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528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F99E27-C192-4654-85AA-77A576F0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480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CloudFront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8EB5D-5505-4D14-B2C9-A9DAA3D4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957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정적 캐시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TLS 종단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D07CB0-AF06-48CE-A375-2EC0544D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52900"/>
            <a:ext cx="1257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894D4-04DC-4643-B6E2-6C382139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AWS WAF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FFE1EB-9A5C-4617-ACBD-D3F3A5B0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1028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관리형 룰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80808"/>
                </a:solidFill>
              </a:defRPr>
            </a:pPr>
            <a:r>
              <a:rPr sz="1125" b="1">
                <a:solidFill>
                  <a:srgbClr val="080808"/>
                </a:solidFill>
              </a:rPr>
              <a:t>rate limit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5E4350-DDC5-4A41-A9A4-8B12636D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352800"/>
            <a:ext cx="1581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84632C-F976-4D8D-8CC5-95BE7EC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448050"/>
            <a:ext cx="1352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ALB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804679-128E-4813-BBEC-B0DFDD46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695700"/>
            <a:ext cx="1352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Web/API origin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4E328D-6043-4C8F-8199-3F74453F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438650"/>
            <a:ext cx="514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208306-9F93-4E76-9229-86650379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767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FE0F52F-614B-4E41-884F-61684910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81475"/>
            <a:ext cx="742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HTTPS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81AFBCD-247A-4D17-A25A-CAD59184D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527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A196291-0D07-417A-A3D7-626276C8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6479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ECS Service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CB77F7-2358-49B6-A3FA-3C9AB5750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895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Web/BFF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App API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7B673B1-32B3-4151-BD4D-E0D2778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527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5B08E8-2E57-4C26-B69F-004FEA7A2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479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ECS Service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7A31EEC-C649-4986-A874-336041CA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95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Admin/API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Auth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981D73-CC13-40F6-853D-C023287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95700"/>
            <a:ext cx="609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39D387B-F1FE-4622-9D46-481F2E29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337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8B3EE6-DC46-4737-8F1D-2EB437D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438525"/>
            <a:ext cx="838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origin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1AA6B4-EB2E-4924-9CAA-8CDBE0606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0005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72034E-3A9B-4325-A097-A278D803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095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ECS Tasks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AA1129-E4F0-4B8E-A239-8F462B17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4343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collector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converter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01B71D-69E9-4F69-98C2-88D870A1E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00500"/>
            <a:ext cx="1466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CAC03B9-7DDE-4575-A6BA-3F739439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0957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ECS Tasks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4389E05-892F-42A2-9C71-6079EA0D7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434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extractor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matcher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9CE92C-C9D9-4F29-A16B-E8F7B7452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574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016E358-088B-45A2-8583-39A23240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5527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RDS PostgreSQL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118733-A1BF-423C-A83E-AB947A1E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</a:defRPr>
            </a:pPr>
            <a:r>
              <a:rPr sz="1050" b="1">
                <a:solidFill>
                  <a:srgbClr val="080808"/>
                </a:solidFill>
              </a:rPr>
              <a:t>Multi-AZ · PITR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</a:defRPr>
            </a:pPr>
            <a:r>
              <a:rPr sz="1050" b="1">
                <a:solidFill>
                  <a:srgbClr val="080808"/>
                </a:solidFill>
              </a:rPr>
              <a:t>공고·매칭 상태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492CC3-6376-4DC4-AAEB-9D7D8CFC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2956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B6B400-3F4B-48B3-99DD-B779B988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Amazon S3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5F8376-D34C-4B8F-855D-37F939753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385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</a:defRPr>
            </a:pPr>
            <a:r>
              <a:rPr sz="1050" b="1">
                <a:solidFill>
                  <a:srgbClr val="080808"/>
                </a:solidFill>
              </a:rPr>
              <a:t>SSE-KMS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</a:defRPr>
            </a:pPr>
            <a:r>
              <a:rPr sz="1050" b="1">
                <a:solidFill>
                  <a:srgbClr val="080808"/>
                </a:solidFill>
              </a:rPr>
              <a:t>원문·첨부·산출물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1740D8-4247-4C01-ABAE-92836872A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33850"/>
            <a:ext cx="2095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829E70A-2472-4CE8-B2AD-75E6FD09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229100"/>
            <a:ext cx="1866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1">
                <a:solidFill>
                  <a:srgbClr val="FF9900"/>
                </a:solidFill>
              </a:defRPr>
            </a:pPr>
            <a:r>
              <a:rPr sz="1050" b="1">
                <a:solidFill>
                  <a:srgbClr val="FF9900"/>
                </a:solidFill>
              </a:rPr>
              <a:t>Amazon EFS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C65BB3D-8A57-4B7F-8E64-77048210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76750"/>
            <a:ext cx="1866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</a:defRPr>
            </a:pPr>
            <a:r>
              <a:rPr sz="1050" b="1">
                <a:solidFill>
                  <a:srgbClr val="080808"/>
                </a:solidFill>
              </a:rPr>
              <a:t>전송/저장 암호화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080808"/>
                </a:solidFill>
              </a:defRPr>
            </a:pPr>
            <a:r>
              <a:rPr sz="1050" b="1">
                <a:solidFill>
                  <a:srgbClr val="080808"/>
                </a:solidFill>
              </a:rPr>
              <a:t>worker shared volume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D110132-94A4-496D-832B-EC8F242D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622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44BC83-909F-4ED6-9EB1-F7ACB29B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6003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5BA1DC-1145-4359-BBBC-93EE7077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050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SQL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B920393-933F-4A3E-9031-AF43F1E90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952D3F9-BC3D-4882-9C19-FBDA7B47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38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E47AAC-E5BE-4110-B5D7-CABE9A898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432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object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AA6E12B-58FC-4784-BC3E-B2085DC4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38650"/>
            <a:ext cx="914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281E54F-06E5-41EE-851F-44B9985E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767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FA12358-66A9-49DA-B070-A2C8C6DE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1814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900" b="0">
                <a:solidFill>
                  <a:srgbClr val="53565A"/>
                </a:solidFill>
              </a:defRPr>
            </a:pPr>
            <a:r>
              <a:rPr sz="900" b="0">
                <a:solidFill>
                  <a:srgbClr val="53565A"/>
                </a:solidFill>
              </a:rPr>
              <a:t>volume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EE9EA68-97C2-474C-A932-F7C1BBED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38162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73BF77E-8ABA-455E-94BF-DF7558EC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4483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53565A"/>
                </a:solidFill>
              </a:defRPr>
            </a:pPr>
            <a:r>
              <a:rPr sz="1050" b="1">
                <a:solidFill>
                  <a:srgbClr val="53565A"/>
                </a:solidFill>
              </a:rPr>
              <a:t>EventBridge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CA7D130-9075-42C5-BDA2-882884C8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381625"/>
            <a:ext cx="1466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6B8BD46-F4F2-4313-AB75-72734B98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448300"/>
            <a:ext cx="1200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53565A"/>
                </a:solidFill>
              </a:defRPr>
            </a:pPr>
            <a:r>
              <a:rPr sz="1050" b="1">
                <a:solidFill>
                  <a:srgbClr val="53565A"/>
                </a:solidFill>
              </a:rPr>
              <a:t>CloudWatch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F0B759F-E5BF-4236-A6CF-B3FC9ED6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972050"/>
            <a:ext cx="209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1AAB3BB-EF80-41BA-B2D4-218076711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38725"/>
            <a:ext cx="1866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050" b="1">
                <a:solidFill>
                  <a:srgbClr val="53565A"/>
                </a:solidFill>
              </a:defRPr>
            </a:pPr>
            <a:r>
              <a:rPr sz="1050" b="1">
                <a:solidFill>
                  <a:srgbClr val="53565A"/>
                </a:solidFill>
              </a:rPr>
              <a:t>KMS · Secrets Manager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B811485-08C1-473D-9FEE-30A0539AA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080808"/>
                </a:solidFill>
              </a:defRPr>
            </a:pPr>
            <a:r>
              <a:rPr sz="1500" b="1">
                <a:solidFill>
                  <a:srgbClr val="080808"/>
                </a:solidFill>
              </a:rPr>
              <a:t>권장 보완: CloudFront/WAF 전면 배치, private subnet 격리, KMS 기반 암호화, 관측·키·비밀 관리의 기본 탑재.</a:t>
            </a:r>
          </a:p>
        </p:txBody>
      </p:sp>
    </p:spTree>
    <p:extLst>
      <p:ext uri="{BB962C8B-B14F-4D97-AF65-F5344CB8AC3E}">
        <p14:creationId xmlns:p14="http://schemas.microsoft.com/office/powerpoint/2010/main" val="11591787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D271AD-9F1F-4FA0-B824-436585B6D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AWS HARDENING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D509B4-3E8C-45B4-BB00-8B3A610A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AWS 권장 아키텍처로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보완할 지점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400EA7-AC82-4B31-952A-F9B7639F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초기 서비스는 단순하게 시작하되, 공공영역 고객과 개인정보 확장을 고려해 보안·가용성 기본값을 앞당깁니다.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CDC35-A8A6-4A2B-99CE-C83DCB71E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E18E3-FDCF-4156-9ABD-0DDF2239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DF9CE0-7ED6-460E-8646-26039D484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FD274-6D07-4F59-8CA1-C00DFC0E4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9E01D9-ED2B-4FD7-AD96-3118D3C2C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Edge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4E3B0F-F99E-49BC-9BCC-DEAA5A05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CloudFront + WAF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699A1E-DA9F-4C77-A336-BD9AA864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관리형 룰, IP rate limit, TLS 정책, 정적 자산 캐시로 공격면과 원본 부하를 줄입니다.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105C45-7EE8-4CCE-A9DB-B825BEC2D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11455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86AFB9-B8E2-47B6-A8BC-6C6F7D75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860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Network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29AF02-FB3F-4808-8E5F-07A336BF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717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Private subnet + SG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D3EB6-E4DD-4D7D-996E-D94083B3E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048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ECS/RDS/EFS는 사설망에 두고, ALB만 제한적으로 공개합니다.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F6840F-C656-46EC-97CF-F61C2E70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1455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E17A19-BA72-4D98-BF25-16EABC1A1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8600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Identity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9BF86F-B9D2-4A0D-92E1-8D57599B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7175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IAM least privilege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EDF54A-09BA-4BA8-8DC3-0D5C860A5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4800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ECS task role, 배포 role, 운영자 role을 분리하고 MFA를 강제합니다.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4FFCAA-BDB3-4723-A17F-2438D24D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54869-1886-44D0-8842-34C49D46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Data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692094-603E-4D35-806A-CC302E10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KMS encryption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209280-73DB-44B7-B1B1-94B96B7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RDS, S3, EFS, Secrets Manager를 KMS 키로 암호화하고 키 권한을 분리합니다.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0992E2-F220-4776-92BB-50964138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C17C0E-1B37-42D7-832B-F5948B272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052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Ops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9A876A-2A04-49D0-8C26-8C124BF78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1910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CloudWatch + CloudTrail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7BFAA-D83C-4E00-9EB9-53CA0F1B7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667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로그, 지표, 감사 이벤트를 중앙 수집하고 알람과 변경 추적을 연결합니다.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F4B88A0-B21F-4C2E-A9CB-E28DE8B6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0ADE97-E742-4D2B-A3DE-3AEA29DF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Guardrail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9A35F2-0A8C-4A71-B488-A66DAAB7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1910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GuardDuty + Config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F121F0-FB91-4212-BCFF-2330B90B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67250"/>
            <a:ext cx="2971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위협 탐지, 설정 drift, 공개 버킷, 과도한 권한을 지속 점검합니다.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018F34-DAD8-4372-A2B9-4D675D59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09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목표 상태: CDN, 네트워크 격리, 키 관리, 감사 로그, 위협 탐지를 기본 운영 단위로 묶어 공공영역 고객 요구에 대응합니다.</a:t>
            </a:r>
          </a:p>
        </p:txBody>
      </p:sp>
    </p:spTree>
    <p:extLst>
      <p:ext uri="{BB962C8B-B14F-4D97-AF65-F5344CB8AC3E}">
        <p14:creationId xmlns:p14="http://schemas.microsoft.com/office/powerpoint/2010/main" val="17169241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88FC52-5239-4C02-B001-80CB28EF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SECURITY BASELINE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050F9-100E-4602-B727-F7AB4BB4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공공영역 고객이 요구하는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개인정보 보호 기준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5A67E7-323B-4E5E-88DD-E1FD5BDB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ISMS-P 인증을 받았다는 의미가 아니라, 인증 기준에 준하는 관리·기술·운영 통제 항목을 제품 설계에 반영합니다.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C6B48F-3696-40A9-ADC6-833BD33F3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DA690-45E2-4FDD-A831-DE212249F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DFD1C8-F8A0-465B-85B9-074EC29E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63EFE4-E79B-4C77-B874-61ED31D3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02539A-7B21-4EE1-8EFF-DD38C6104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관리체계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F4477-621A-4C26-A640-07EF514A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보호책임자 지정, 내부관리계획, 위험평가, 정책·절차 문서화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628338-A373-4F3E-B292-D1E96602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20764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B75A9D-0219-42EF-B389-0C29B551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860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접근통제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14D7AB-8D5E-4E8E-B7FD-2E57DCD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8194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최소권한, MFA, 권한 승인·회수, 관리자 작업 이력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79A0DA-7FFA-44B3-B34B-9913ED30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764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78CF0-7EA5-45F9-913D-F7805C261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2860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암호화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4FBB73-E335-4675-93DA-F0C12488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194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전송 TLS, 저장 AES-256/KMS, 민감 컬럼 별도 암호화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A8F8E3-BE18-4ADA-B46F-B116B56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207645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1EDEB0-5A55-461F-9242-CA109F21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8600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로그·감사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F28EE2-D11D-47B2-AF04-8964F8D51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81940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접속기록 보관, 이상징후 탐지, 변경 이력과 사후 추적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C4CF3-8A13-47C0-9BF6-7D2ECA9D6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957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D398B9-DE72-4C6F-9ECC-227B65B6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동의·권리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BDFB03-CE42-476D-AF0C-E35E5A41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86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수집 목적, 보관기간, 제3자·위탁 고지, 열람·삭제·철회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FDE682-295E-49B2-8359-EFCA063C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36957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AAE501-439F-4916-A434-4BCF9A4F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905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파기·보관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361230-6256-44CF-B0D8-B9EC9E06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4386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목적 달성·탈퇴·동의 철회 시 삭제 또는 분리보관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00EEEA-BFF2-4DE4-AAB7-3A73C3D8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F8BC2-C822-40FC-A8E3-EBF0A046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905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위탁관리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B2ABAB-FFE2-47F0-B85A-98F10E60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4386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수탁사 보안 요구, 계약, 재위탁 통제, 정기 점검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B4B6F0-63B0-4A4D-A5E9-6C5E0916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6957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701FF3-A386-45B0-88A5-30F47D75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905250"/>
            <a:ext cx="2057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사고대응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6A15C3-EBF1-4E4B-A81E-9CAB492E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438650"/>
            <a:ext cx="2057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침해 의심 탐지, 영향 범위 산정, 통지·신고 절차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9B9B8C-59B3-4868-997D-1CCF8B1D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개인정보보호법의 안전성 확보조치와 ISMS-P 보호대책 요구사항을 제품 운영 체크리스트로 낮춰 적용합니다.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11E3DF-96A8-44CD-99C1-74FE1579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53565A"/>
                </a:solidFill>
              </a:defRPr>
            </a:pPr>
            <a:r>
              <a:rPr sz="1050" b="0">
                <a:solidFill>
                  <a:srgbClr val="53565A"/>
                </a:solidFill>
              </a:rPr>
              <a:t>참고 기준: 개인정보 안전성 확보조치 기준, ISMS-P 인증기준</a:t>
            </a:r>
          </a:p>
        </p:txBody>
      </p:sp>
    </p:spTree>
    <p:extLst>
      <p:ext uri="{BB962C8B-B14F-4D97-AF65-F5344CB8AC3E}">
        <p14:creationId xmlns:p14="http://schemas.microsoft.com/office/powerpoint/2010/main" val="7728171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6E711E-6490-4F15-AA7F-68DA72040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PRIVACY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955C40-7C80-4573-9929-8F9E1EF12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창업노트가 구현 가능한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개인정보 보호체계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9F1144-DD86-4587-8C02-BBD7DDDF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사업자 검증과 매칭 정확도를 위해 필요한 정보만 수집하고, 민감도가 높아지는 단계부터 동의·암호화·감사를 강화합니다.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616F8-E3CE-4A4C-9805-B70124D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57355-765B-4FF1-BF9E-C1F45F9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DC967-E35A-450A-A95F-C83578942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8DFED-D960-4CC9-BF7E-C166548C8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65B34-55AB-44FD-BD6C-B536F535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CLASSIFY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56685E-85D5-4A02-A192-C8C09C79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데이터 등급화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4A7BC2-75D1-419A-BC64-A9EB8B82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9622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계정 정보, 대표자 정보, 사업자 검증 정보, 회사 프로필, 향후 과세·신용 정보를 등급별로 분리합니다.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8C834-AF85-4A86-9458-173DBD879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0E2E86-39F6-4EFC-9833-3C948530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ENCRYPT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873182-F2E2-46CE-8A55-0AF2E845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암호화 레벨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6E8C97-F99B-4B70-A72B-AB1915E4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62275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전송은 TLS 1.2 이상, 저장은 KMS 기반 AES-256, refresh token은 해시 저장, 고위험 필드는 컬럼 단위 암호화를 적용합니다.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E2785-A6C8-4709-AD98-6E286CF4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5A6AEF-E7C0-494D-944D-32E06B30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CONTROL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8B0C3-ED6F-4681-92B3-675A239C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접근과 감사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4F41B-66C6-4084-9BAC-17E7C45F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971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회사별 권한, 관리자 MFA, DB RLS 이중 방어, 접속기록, 다운로드 이력, 민감 조회 사유를 남깁니다.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CC9264-031C-4FDC-9465-9222D5BA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340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53565A"/>
                </a:solidFill>
              </a:defRPr>
            </a:pPr>
            <a:r>
              <a:rPr sz="1275" b="1">
                <a:solidFill>
                  <a:srgbClr val="53565A"/>
                </a:solidFill>
              </a:rPr>
              <a:t>실행 단계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126E01-6B42-4A17-A658-E27E2D27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314950"/>
            <a:ext cx="971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080808"/>
                </a:solidFill>
              </a:defRPr>
            </a:pPr>
            <a:r>
              <a:rPr sz="1425" b="1">
                <a:solidFill>
                  <a:srgbClr val="080808"/>
                </a:solidFill>
              </a:rPr>
              <a:t>1단계: 사업자번호·대표자명·개업일 검증과 회사 프로필 최소수집 → 2단계: 민감 조회 전 별도 동의와 분리 저장 → 3단계: 수탁사·침해대응·정기점검 운영화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8D3477-F982-441A-97CD-02C4263F8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05500"/>
            <a:ext cx="1009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이 구조는 작은 팀이 바로 구현 가능한 수준에서 시작하면서, 공공기관·대기업 제휴 심사에 필요한 통제 근거를 쌓는 방식입니다.</a:t>
            </a:r>
          </a:p>
        </p:txBody>
      </p:sp>
    </p:spTree>
    <p:extLst>
      <p:ext uri="{BB962C8B-B14F-4D97-AF65-F5344CB8AC3E}">
        <p14:creationId xmlns:p14="http://schemas.microsoft.com/office/powerpoint/2010/main" val="11765404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43A273-D62C-4657-A480-7BC1F561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DATA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D0FB95-0F4F-4620-8D47-F4CB0B15C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수집에서 발행까지: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한 번 읽고 계속 쓰는 데이터로 만든다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54ED9-59DA-43BC-B8FF-8BA853552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공고 원문은 계속 바뀌지만, 서비스는 정규화된 계약 데이터만 바라보도록 설계합니다.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7C903-7C71-4E31-96B6-E6C109F2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F5812E-D22C-4E91-ACE8-CDBB08D89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66720-8E4A-46B1-B08E-78FA3F13A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DCD639-C21E-4086-A166-8D0DE0B0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9B14BF-7FFB-491C-AFA3-18849F37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E00FAC-7B46-4B45-B819-457082FBD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수집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628F56-1B55-4477-AC6F-7CC7F862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공고 본문, 상세 페이지, 첨부 문서를 현재 상태와 함께 가져옵니다.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5528FB-89B9-441D-88F9-0ACBA83C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B26DB1-FCDF-4EB5-968A-E64A0BA5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8A33D1-EA4E-4C27-90AC-ACF1E1E5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D66BA-8066-4568-B8DA-A4E34986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변환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89B1C2-7743-492A-B1A9-14786643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문서와 표를 보존해 사람이 검토 가능한 중간 산출물로 바꿉니다.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7FD984-D3EC-4EFC-8520-F878FA4B3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DAFF1-D82A-4B64-B55C-A1FE3660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44EF50-2676-4937-B8F9-C1CDBB71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9900"/>
                </a:solidFill>
              </a:defRPr>
            </a:pPr>
            <a:r>
              <a:rPr sz="3150" b="1">
                <a:solidFill>
                  <a:srgbClr val="FF9900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570966-2F53-419B-B0CB-AAA38710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구조화 추출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9DF30-97AA-4821-BD2C-82D785EA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자격, 혜택, 신청 정보를 정해진 필드와 상태값으로 추출합니다.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A28F6-D0C9-44B9-B7A7-4E7867C7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314700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400" b="1">
                <a:solidFill>
                  <a:srgbClr val="FF9900"/>
                </a:solidFill>
              </a:defRPr>
            </a:pPr>
            <a:r>
              <a:rPr sz="24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8F0FA4-5C24-4DAD-9E01-34A4236A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171700"/>
            <a:ext cx="259080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3C8FE3-5CF3-4231-8660-78701881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81250"/>
            <a:ext cx="819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E39AFB-2C03-42F0-96C2-D99ACB0C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028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75" b="1">
                <a:solidFill>
                  <a:srgbClr val="080808"/>
                </a:solidFill>
              </a:defRPr>
            </a:pPr>
            <a:r>
              <a:rPr sz="1875" b="1">
                <a:solidFill>
                  <a:srgbClr val="080808"/>
                </a:solidFill>
              </a:rPr>
              <a:t>발행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FA7119-7C47-4D2A-9AE6-26E95A29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004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중복과 마감 상태를 정리해 서비스가 읽는 표준 데이터로 배포합니다.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9E2DB-5245-4CF4-AA1A-C384102C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8165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운영 원칙: 서비스 화면과 매칭 로직은 원문이 아니라 검증된 표준 데이터만 사용합니다.</a:t>
            </a:r>
          </a:p>
        </p:txBody>
      </p:sp>
    </p:spTree>
    <p:extLst>
      <p:ext uri="{BB962C8B-B14F-4D97-AF65-F5344CB8AC3E}">
        <p14:creationId xmlns:p14="http://schemas.microsoft.com/office/powerpoint/2010/main" val="204156626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7EC301-5F58-4AA3-9DF8-372B4D30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MATCHING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48A7F-642F-4D18-ABCA-1F616D79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판정은 확률이 아니라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규칙으로 남긴다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BE4F89-870F-4C5E-9A99-0DBCD9A9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공고를 읽는 과정은 유연하게, 추천 판정은 재현 가능하게 설계했습니다.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14644-A7E0-46EE-BE6D-B930C4CE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75DF2-87B7-4907-8EA0-310B956A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702A2-F073-421C-A6F3-46878C91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A90EC-41FE-4D5D-96F6-1C41351A7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6D9BF3-E4D1-46E9-BAE1-77C12B098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475CB-DB68-4D67-92D3-6BB1C11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35242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A0C9A-49E5-4C09-A983-9E1C0A0D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0808"/>
                </a:solidFill>
              </a:defRPr>
            </a:pPr>
            <a:r>
              <a:rPr sz="2100" b="1">
                <a:solidFill>
                  <a:srgbClr val="080808"/>
                </a:solidFill>
              </a:rPr>
              <a:t>구조화 조건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B891EE-CEA8-4469-975A-80B01274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53565A"/>
                </a:solidFill>
              </a:defRPr>
            </a:pPr>
            <a:r>
              <a:rPr sz="1725" b="0">
                <a:solidFill>
                  <a:srgbClr val="53565A"/>
                </a:solidFill>
              </a:rPr>
              <a:t>공고마다 자격, 배제, 우대, 신청 조건을 같은 상태값으로 정리합니다.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0FEE8-E684-4B9B-9E4B-0C3CB5F3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003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FF9900"/>
                </a:solidFill>
              </a:defRPr>
            </a:pPr>
            <a:r>
              <a:rPr sz="2100" b="1">
                <a:solidFill>
                  <a:srgbClr val="FF9900"/>
                </a:solidFill>
              </a:rPr>
              <a:t>결정 규칙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2E8AE0-7933-4248-AD5D-B4CC4497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28950"/>
            <a:ext cx="29527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필수 조건 불일치 → 부적격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불일치 없음 + 미확인 → 조건부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650" b="1">
                <a:solidFill>
                  <a:srgbClr val="080808"/>
                </a:solidFill>
              </a:defRPr>
            </a:pPr>
            <a:r>
              <a:rPr sz="1650" b="1">
                <a:solidFill>
                  <a:srgbClr val="080808"/>
                </a:solidFill>
              </a:rPr>
              <a:t>모두 충족 → 적격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A462BC-1806-4E83-808E-7DDDDE5E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080808"/>
                </a:solidFill>
              </a:defRPr>
            </a:pPr>
            <a:r>
              <a:rPr sz="2100" b="1">
                <a:solidFill>
                  <a:srgbClr val="080808"/>
                </a:solidFill>
              </a:rPr>
              <a:t>설명 가능한 결과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92CB6B9-21C1-45B2-BC7E-A8961602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105150"/>
            <a:ext cx="2667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725" b="0">
                <a:solidFill>
                  <a:srgbClr val="53565A"/>
                </a:solidFill>
              </a:defRPr>
            </a:pPr>
            <a:r>
              <a:rPr sz="1725" b="0">
                <a:solidFill>
                  <a:srgbClr val="53565A"/>
                </a:solidFill>
              </a:rPr>
              <a:t>왜 추천됐는지, 무엇이 부족한지, 어떤 입력이 다음 판단을 바꾸는지 함께 반환합니다.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94027F-B7E1-4A6A-ACF3-076F1BF9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483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핵심 설계: 모르는 조건은 탈락시키지 않고 조건부로 남깁니다. 이 보수적 판단이 거짓 탈락을 줄입니다.</a:t>
            </a:r>
          </a:p>
        </p:txBody>
      </p:sp>
    </p:spTree>
    <p:extLst>
      <p:ext uri="{BB962C8B-B14F-4D97-AF65-F5344CB8AC3E}">
        <p14:creationId xmlns:p14="http://schemas.microsoft.com/office/powerpoint/2010/main" val="3020022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97DF38A-48DB-4347-ABA8-F6B407D7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SEQUENCE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AC964-7205-4E9F-BD65-A3886371E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핵심 매칭 로직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시퀀스 다이어그램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DDB092-019A-47AF-BF72-E83009AB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사용자 요청 시에는 정규화된 데이터와 결정 규칙만 사용해 빠르게 판정하고, 설명과 다음 행동까지 반환합니다.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FBD5B4-F492-40F7-9041-A4C84DD67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86D34-E530-4F38-9E23-2AEE5BD3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0F45DC-CA73-4B4B-82E4-C713507E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4AEFA-0D80-4C91-80D8-C5CC4D59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5E1E8-44F1-492A-A6EB-16FDC2B7D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User/App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A1DAB-3A63-4ADC-BA09-1815712C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7C26C-9177-45B3-99F6-F129CA7C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API/BFF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2A33A8-ACF0-4280-81B8-48E799E8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AD6C45-A5EC-42CE-8747-C01A673F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Candidate Filter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D755D-F0F7-49FD-8B70-87A78BB0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DB162E-58D2-4BE0-B28E-92EEFABE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9900"/>
                </a:solidFill>
              </a:defRPr>
            </a:pPr>
            <a:r>
              <a:rPr sz="1200" b="1">
                <a:solidFill>
                  <a:srgbClr val="FF9900"/>
                </a:solidFill>
              </a:rPr>
              <a:t>Rule Engine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6DAB7F-7337-44D4-BEB0-565AE644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90A3A-6FB6-44C1-8582-B8AEA50F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RDS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A2D5F-0541-45D8-AD62-70778961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095500"/>
            <a:ext cx="161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0DD319-845C-4E96-89F4-8FA500EB0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2098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080808"/>
                </a:solidFill>
              </a:defRPr>
            </a:pPr>
            <a:r>
              <a:rPr sz="1200" b="1">
                <a:solidFill>
                  <a:srgbClr val="080808"/>
                </a:solidFill>
              </a:rPr>
              <a:t>Action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CD26DA-93D9-43D1-AC0E-147B53EBB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4AD6DD-F1AD-4DC5-AC9F-0ED21DB5B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D31196-29B9-4BBC-92E0-F3C39C74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194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User/App → API/BFF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8AE52B-22E5-492F-883D-4D101C2A7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908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49F3DB-8E06-432C-B57E-FBF35B00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194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회사 프로필 기준 매칭 요청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83F0A-2AC4-47AB-8976-1B387AC6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813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14E176-086C-4AF7-937C-639A4B6E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B07B07-A27F-4FF4-AAF0-2C6F50A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19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API/BFF → Candidate Filter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90C2C6-11F5-45FA-8A30-334B6BFB6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908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EF02A0-F7C3-4CB6-A16A-9874486F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2194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열린 공고와 사전 색인으로 후보를 축소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E996BC-F23A-4603-9DE2-83FC7F8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814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069EB-DB5A-49DB-A5B8-C4FE14E4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0796B6-3267-45C8-959B-508884403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195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Candidate Filter → Rule Engine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9CAD4F9-5786-4757-B66A-D90075D0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909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64D9AC-4D09-4F10-8BD9-05804715E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195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후보 공고의 표준 조건 리스트 로드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9DF36B-D3DA-4E9C-973C-E56F60E4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814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8C0C7A8-F4C9-428A-9C75-62606132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FF9900"/>
                </a:solidFill>
              </a:defRPr>
            </a:pPr>
            <a:r>
              <a:rPr sz="1200" b="1">
                <a:solidFill>
                  <a:srgbClr val="FF9900"/>
                </a:solidFill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BA7A6F-B79E-4012-9682-54F56023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195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Rule Engine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B2F4A0-7F28-4500-8C51-31394B51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909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D2A5D4F-97BD-47EE-8D15-3A765272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195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조건별 충족, 불충족, 미확인을 평가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E93E656-EB26-4BB6-B93C-96066004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FDEAF3-EAE0-45D5-8BE8-7CFDCA3F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386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05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975E45-C10D-4C0D-8D37-C339FFA0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196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Rule Engine → RDS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A737EC-2C4E-4E81-B3C3-03F3C856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3910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E64ACE6-ABBD-4D45-81AA-888FCD94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196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판정 상태, 점수, 설명 로그 저장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4629FC1-6044-4F6A-B019-BA25FBF77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F811A23-E918-47A3-B511-EC8880E1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3870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06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973F113-BA84-48D3-9A05-62DDF6F6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96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RDS → Action UI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79F2B2-6E42-42B0-A4E0-A4002AA1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79107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68B975-6DB5-4978-B3FF-2D2858EB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1965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조건부 질문과 신청 준비 행동 구성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6898259-FA80-4D61-B476-4712B79F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8160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527C0FF-2F77-4D4D-A150-6B9AD05C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387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07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559F63-E2C8-4375-8D00-1597B9E1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197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080808"/>
                </a:solidFill>
              </a:defRPr>
            </a:pPr>
            <a:r>
              <a:rPr sz="1275" b="1">
                <a:solidFill>
                  <a:srgbClr val="080808"/>
                </a:solidFill>
              </a:rPr>
              <a:t>Action UI → User/App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B89DEAC-2914-4207-8AFA-523E5A9F7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191125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4304846-8BE8-4B6D-AB38-70240158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219700"/>
            <a:ext cx="666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설명 가능한 추천 카드 반환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E4C077-B4E8-4906-BAFA-53C03B63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98F3F3-B5AE-4D96-AF8B-823E8CF8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6740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350" b="1">
                <a:solidFill>
                  <a:srgbClr val="080808"/>
                </a:solidFill>
              </a:defRPr>
            </a:pPr>
            <a:r>
              <a:rPr sz="1350" b="1">
                <a:solidFill>
                  <a:srgbClr val="080808"/>
                </a:solidFill>
              </a:rPr>
              <a:t>원칙: 무거운 읽기와 변환은 배치 경로에서 끝내고, 사용자 응답 경로는 저장된 표준 데이터로 처리합니다.</a:t>
            </a:r>
          </a:p>
        </p:txBody>
      </p:sp>
    </p:spTree>
    <p:extLst>
      <p:ext uri="{BB962C8B-B14F-4D97-AF65-F5344CB8AC3E}">
        <p14:creationId xmlns:p14="http://schemas.microsoft.com/office/powerpoint/2010/main" val="17801657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57D115-4E50-414F-B72D-7B4D67A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CA017-3B21-41B6-878A-DD3A740D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실데이터에서 동작한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엔드투엔드 매칭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3EAA92-D0F6-46A5-A58F-23E0ABB5C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가상 기업 하나를 열린 공고 표본과 매칭해 적격, 조건부, 부적격을 분류했습니다.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D8E5C5-7F52-4A56-8A4D-F3D506164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788C4F-AF01-41C6-A898-E462D8AB6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086CD9-6C45-4869-8598-19C69DDC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9ECAFF-1D22-47CE-8952-0697AF210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907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01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5C5BCA-BE52-4789-9747-954094E3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190750"/>
            <a:ext cx="4667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8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8EACA-DAA0-4E97-ABEA-6ADDC687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90750"/>
            <a:ext cx="33909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9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F38774-809E-4B17-BA36-CF9392E8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적격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63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A585C-5380-420F-86C9-1F213333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조건부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88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7937A2-A804-4ADA-A460-9F265A64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38400"/>
            <a:ext cx="114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부적격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64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D91E1-EAD3-4D81-9DEC-3897C87E6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555FED-8B07-4390-B243-ECBAD15BD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005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215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9DDC50-E802-4F4D-80EC-EF24B4B2B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863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open 공고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E56531-4043-4B1B-BB81-EE01A088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48300"/>
            <a:ext cx="21145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매칭 대상 열린 공고 표본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4D7A3C-9AA1-475E-ABFF-6611FCE8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6ED996-74FF-44C0-88DE-F81FB008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005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FF9900"/>
                </a:solidFill>
              </a:defRPr>
            </a:pPr>
            <a:r>
              <a:rPr sz="3150" b="1">
                <a:solidFill>
                  <a:srgbClr val="FF9900"/>
                </a:solidFill>
              </a:rPr>
              <a:t>63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DFD82-3A76-4062-9AB9-7EEDE3D9A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0863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즉시 적격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645637-735B-476C-93E6-E13330F0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448300"/>
            <a:ext cx="21145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필수 조건 통과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C9C0E8-08BB-4316-80DE-4C661CB0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91000"/>
            <a:ext cx="2571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FB7242-B88D-496B-A92D-0FC989329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00550"/>
            <a:ext cx="2114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88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1BEC9-5316-4C11-92E4-D357A3F3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086350"/>
            <a:ext cx="2114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조건부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31B038-D0E4-4BE0-B1CE-FBB5C2A3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5448300"/>
            <a:ext cx="211455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확인할 회사 정보가 남은 상태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6F2DCE-1FC5-471C-A7D0-1A05B264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191000"/>
            <a:ext cx="2590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1AB685-B27A-423F-9522-FFBA9CD2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400550"/>
            <a:ext cx="2133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080808"/>
                </a:solidFill>
              </a:defRPr>
            </a:pPr>
            <a:r>
              <a:rPr sz="3150" b="1">
                <a:solidFill>
                  <a:srgbClr val="080808"/>
                </a:solidFill>
              </a:rPr>
              <a:t>64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961104-62C9-4A9C-99C3-F84FE731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86350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부적격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F9FF65-0DE3-44E9-B31D-1B5784C9F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448300"/>
            <a:ext cx="21336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지역, 업력, 대상 등 hard fail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378E9D-4BFF-417A-BBEA-B6BB2C2E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29300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080808"/>
                </a:solidFill>
              </a:defRPr>
            </a:pPr>
            <a:r>
              <a:rPr sz="1425" b="1">
                <a:solidFill>
                  <a:srgbClr val="080808"/>
                </a:solidFill>
              </a:rPr>
              <a:t>조건부는 약점이 아니라 신뢰 설계입니다. 모르는 조건을 부적격으로 단정하지 않습니다.</a:t>
            </a:r>
          </a:p>
        </p:txBody>
      </p:sp>
    </p:spTree>
    <p:extLst>
      <p:ext uri="{BB962C8B-B14F-4D97-AF65-F5344CB8AC3E}">
        <p14:creationId xmlns:p14="http://schemas.microsoft.com/office/powerpoint/2010/main" val="147278745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4685EC-8864-4FF1-A600-16DA71E4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AI ASSISTANT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8182F-4CD0-407C-96DD-3CA0A022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창업노트 AI 지원 도우미: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공고별 합격 문서 작성 시스템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C44A6E-18A2-4E93-A164-D19709EE8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전문 컨설턴트가 설계한 지원사업 문서 전략을 제품 안으로 가져와, 사용자가 공고에 맞는 신청서를 완성하도록 돕습니다.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E5650E-634C-4985-B367-E361BB36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7BDE83-9265-42BD-AE76-3FAA984E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36890A-C2DE-4660-A57C-E072AC6A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7707AE-916E-4F5D-BFF1-51CEC703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145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C1B6B9-7352-495B-B8C8-09E5B557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14550"/>
            <a:ext cx="33909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6CF8B-6D4E-43EB-8416-132481775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14550"/>
            <a:ext cx="34290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16C51-8676-4AD2-BAD4-315121EB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80808"/>
                </a:solidFill>
              </a:defRPr>
            </a:pPr>
            <a:r>
              <a:rPr sz="2025" b="1">
                <a:solidFill>
                  <a:srgbClr val="080808"/>
                </a:solidFill>
              </a:rPr>
              <a:t>1. 합격 문서 수집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34A618-4AC1-455A-A737-1A621CD6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컨설턴트와 실제 선정 사례에서 합격 지원서, 평가표, 첨삭 이력을 수집합니다. 개인정보와 기업 식별자는 제거하고 문서 패턴만 축적합니다.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28B572-D8A8-424B-8F9E-A0003D9D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00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FF9900"/>
                </a:solidFill>
              </a:defRPr>
            </a:pPr>
            <a:r>
              <a:rPr sz="2025" b="1">
                <a:solidFill>
                  <a:srgbClr val="FF9900"/>
                </a:solidFill>
              </a:rPr>
              <a:t>2. 공고별 전략화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09D1A8-5FF4-47AA-9336-2634C91D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26289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공고의 목적, 평가 항목, 가점 조건, 예산 용도를 읽어 해당 지원사업에서 강조해야 할 사업 논리를 구조화합니다.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68CF0-C433-404E-A1D1-044B48D28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003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1">
                <a:solidFill>
                  <a:srgbClr val="080808"/>
                </a:solidFill>
              </a:defRPr>
            </a:pPr>
            <a:r>
              <a:rPr sz="2025" b="1">
                <a:solidFill>
                  <a:srgbClr val="080808"/>
                </a:solidFill>
              </a:rPr>
              <a:t>3. 회사 맞춤 작성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8329C9-5EE3-403E-8C5C-92191CEF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05150"/>
            <a:ext cx="2667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350" b="0">
                <a:solidFill>
                  <a:srgbClr val="53565A"/>
                </a:solidFill>
              </a:defRPr>
            </a:pPr>
            <a:r>
              <a:rPr sz="1350" b="0">
                <a:solidFill>
                  <a:srgbClr val="53565A"/>
                </a:solidFill>
              </a:rPr>
              <a:t>회사 프로필, 매칭 근거, 보유 자료를 결합해 초안, 보완 질문, 첨삭 리포트, 제출 체크리스트를 생성합니다.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7E1B4C-6E6A-4236-8D47-CA9C1547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차별점: 범용 글쓰기 도구가 아니라, 지원사업의 평가 구조와 합격 문서 패턴을 누적하는 도메인 전용 도우미입니다.</a:t>
            </a:r>
          </a:p>
        </p:txBody>
      </p:sp>
    </p:spTree>
    <p:extLst>
      <p:ext uri="{BB962C8B-B14F-4D97-AF65-F5344CB8AC3E}">
        <p14:creationId xmlns:p14="http://schemas.microsoft.com/office/powerpoint/2010/main" val="18684869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E438A7-94B6-48F7-AA93-5AC6B0CC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ASSISTANT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3D64E1-007C-4C7F-95E4-F047FF14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AI 지원 도우미의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문서 작성 로직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ACECE7-8755-4654-AB33-53C508A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합격 문서 원문을 그대로 복제하지 않고, 익명화된 구조·문장 전략·평가 대응 방식을 지식베이스로 사용합니다.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952F1-BBC9-4398-BBE5-2F0EFE41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E738EA-20E6-4810-89EE-0DA6D06A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1CBFE-83C3-480C-85C0-5CD84CB91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4797F-08D5-43F8-A380-CEFA2C20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764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BD3D80-22B5-4E57-96BE-39CB52DD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3565A"/>
                </a:solidFill>
              </a:defRPr>
            </a:pPr>
            <a:r>
              <a:rPr sz="1800" b="1">
                <a:solidFill>
                  <a:srgbClr val="53565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691331-8FD9-42D6-8FFC-E5C22E4E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47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사례 정제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E4A52-9CF2-44A4-B3DA-7739891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67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합격 지원서에서 개인정보와 기업 식별자를 제거하고 문단 역할, 평가 항목, 성과 표현을 태깅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17AB38-2D4A-43FF-998C-FD954E6C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764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0CA66-47BE-42E3-937E-F786340F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247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265D8-BAAD-4613-AE7A-920C6292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247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공고 해석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D3B940-B73D-4946-B53D-E3ADA06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2667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현재 공고의 목적, 평가 항목, 우대 조건, 제출 서류, 예산 사용 가능 범위를 추출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AC6921-7757-4A1E-BC68-A83DA931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7645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636E4-D238-4988-B5F5-B636FFC6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47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3565A"/>
                </a:solidFill>
              </a:defRPr>
            </a:pPr>
            <a:r>
              <a:rPr sz="1800" b="1">
                <a:solidFill>
                  <a:srgbClr val="53565A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2B2EC5-99A0-43FB-9AAD-EF8255E4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2479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회사 매핑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4816C-8F40-47B7-AF8D-73CB55FE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66700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회사 프로필과 매칭 근거를 문서 소재로 변환하고 부족한 근거는 질문으로 회수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231E30-2306-43AC-803E-020DD233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338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0B4E09-2B74-4D04-8B1A-0950940B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3565A"/>
                </a:solidFill>
              </a:defRPr>
            </a:pPr>
            <a:r>
              <a:rPr sz="1800" b="1">
                <a:solidFill>
                  <a:srgbClr val="53565A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F9516-7A75-4B3D-B5AF-7279EBA4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초안 생성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3F9F5-8F01-4078-9F4F-38918E6E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243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공고별 목차와 평가 관점에 맞춰 사업 개요, 문제, 솔루션, 실행계획, 예산안을 작성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0FBB3-39FA-42A3-BED3-70586717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7338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06B1AA-15FA-4848-9AEB-93D3C1DE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3905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FF9900"/>
                </a:solidFill>
              </a:defRPr>
            </a:pPr>
            <a:r>
              <a:rPr sz="1800" b="1">
                <a:solidFill>
                  <a:srgbClr val="FF9900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2BBB85-961E-4D85-B0B9-48EDEB46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전문가 루브릭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D93F72-A213-4BDC-808E-C23D036B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3243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컨설턴트 기준으로 감점 위험, 과장 표현, 근거 부족, 서류 누락을 점검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85906F-31AA-4963-966B-B8D16274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733800"/>
            <a:ext cx="33909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D35E83F-7937-4F9F-B964-8DCB18A3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05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53565A"/>
                </a:solidFill>
              </a:defRPr>
            </a:pPr>
            <a:r>
              <a:rPr sz="1800" b="1">
                <a:solidFill>
                  <a:srgbClr val="53565A"/>
                </a:solidFill>
              </a:rPr>
              <a:t>06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A4C8A05-4EAA-4D6A-AD47-2F7215BE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052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1">
                <a:solidFill>
                  <a:srgbClr val="080808"/>
                </a:solidFill>
              </a:defRPr>
            </a:pPr>
            <a:r>
              <a:rPr sz="1725" b="1">
                <a:solidFill>
                  <a:srgbClr val="080808"/>
                </a:solidFill>
              </a:rPr>
              <a:t>학습 루프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D7A6D7-56AC-4AAC-9094-1BB5CF432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243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53565A"/>
                </a:solidFill>
              </a:defRPr>
            </a:pPr>
            <a:r>
              <a:rPr sz="1200" b="0">
                <a:solidFill>
                  <a:srgbClr val="53565A"/>
                </a:solidFill>
              </a:rPr>
              <a:t>사용자 수정, 제출, 선정 결과를 사례 라이브러리와 평가 규칙 개선에 반영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8DA860-1401-46AB-BBA7-67D11408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80808"/>
                </a:solidFill>
              </a:defRPr>
            </a:pPr>
            <a:r>
              <a:rPr sz="1575" b="1">
                <a:solidFill>
                  <a:srgbClr val="080808"/>
                </a:solidFill>
              </a:rPr>
              <a:t>운영 원칙: 합격 사례는 원문 복제가 아니라 평가 대응 패턴으로 저장하고, 저작권·개인정보·기밀 정보는 수집 단계에서 제거합니다.</a:t>
            </a:r>
          </a:p>
        </p:txBody>
      </p:sp>
    </p:spTree>
    <p:extLst>
      <p:ext uri="{BB962C8B-B14F-4D97-AF65-F5344CB8AC3E}">
        <p14:creationId xmlns:p14="http://schemas.microsoft.com/office/powerpoint/2010/main" val="4861792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BEE17B-DC46-4024-B8A7-1A2D15095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1">
                <a:solidFill>
                  <a:srgbClr val="53565A"/>
                </a:solidFill>
              </a:defRPr>
            </a:pPr>
            <a:r>
              <a:rPr sz="1125" b="1">
                <a:solidFill>
                  <a:srgbClr val="53565A"/>
                </a:solidFill>
              </a:rPr>
              <a:t>ACTION LAYER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A726A3-173E-4745-AA71-AB3DF8BD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73818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추천의 끝은 리스트가 아니라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075" b="1">
                <a:solidFill>
                  <a:srgbClr val="080808"/>
                </a:solidFill>
              </a:defRPr>
            </a:pPr>
            <a:r>
              <a:rPr sz="3075" b="1">
                <a:solidFill>
                  <a:srgbClr val="080808"/>
                </a:solidFill>
              </a:rPr>
              <a:t>다음 행동이다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97A6D7-15A5-4CC4-BEF0-0E058379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742950"/>
            <a:ext cx="37719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창업노트는 매칭 이후 조건부를 줄이고, 신청 준비로 이어지는 행동 큐를 만듭니다.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08275-F092-45F5-B3F6-B74BA759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11391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E78F6-8958-4C32-AF23-61E0D9D76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814BC1-0114-4944-8636-C7F1A8945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752DB2-12D2-4BE9-8E57-14E12BC0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B66C9-969D-44DA-BB66-94E53B225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NEXT QUESTION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A0D17A-4EB4-475B-9932-51155B0A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다음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861EF1-F985-40AB-B567-B8D87924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29622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조건부 공고를 가장 많이 확정하거나 제외할 수 있는 회사 정보를 우선 묻습니다.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0DA415-0145-4403-A71D-3B298140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3813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80912-4EF7-4B12-BBE2-87C7FA03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66950"/>
            <a:ext cx="29622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ACTION 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F98FD-740C-44A6-81E2-6AF27C08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액션 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E86C3B-CB9C-49A3-A3A1-582A8E2B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28950"/>
            <a:ext cx="2962275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마감, 혜택 가치, 적합도, 준비 난도를 합산해 지금 해야 할 일을 정렬합니다.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FBAD4B-9B32-4EC5-BE3E-CAA91A47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95500"/>
            <a:ext cx="33909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6B912-A815-47EB-AE54-F82AFD65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66950"/>
            <a:ext cx="2971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1">
                <a:solidFill>
                  <a:srgbClr val="53565A"/>
                </a:solidFill>
              </a:defRPr>
            </a:pPr>
            <a:r>
              <a:rPr sz="975" b="1">
                <a:solidFill>
                  <a:srgbClr val="53565A"/>
                </a:solidFill>
              </a:rPr>
              <a:t>APPLY SHEET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467013-F1B8-4012-98D9-91536CFB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527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신청 준비 시트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961CC0-6CFD-4E4B-BCA0-A2AB84B59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28950"/>
            <a:ext cx="29718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>
                <a:solidFill>
                  <a:srgbClr val="53565A"/>
                </a:solidFill>
              </a:defRPr>
            </a:pPr>
            <a:r>
              <a:rPr sz="1275" b="0">
                <a:solidFill>
                  <a:srgbClr val="53565A"/>
                </a:solidFill>
              </a:rPr>
              <a:t>필요 서류, 제출 링크, 담당기관, 준비 문구를 한 화면에서 이어줍니다.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86A00-6EC6-4DBD-941C-82E5231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1020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공고 추천 → 조건 확인 → 신청 준비 → 결과 기록이 연결될수록, 창업노트의 데이터는 더 좋은 추천을 만드는 자산이 됩니다.</a:t>
            </a:r>
          </a:p>
        </p:txBody>
      </p:sp>
    </p:spTree>
    <p:extLst>
      <p:ext uri="{BB962C8B-B14F-4D97-AF65-F5344CB8AC3E}">
        <p14:creationId xmlns:p14="http://schemas.microsoft.com/office/powerpoint/2010/main" val="114491494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21320-135B-4BE2-BF22-1A0763B4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53565A"/>
                </a:solidFill>
              </a:defRPr>
            </a:pPr>
            <a:r>
              <a:rPr sz="1200" b="1">
                <a:solidFill>
                  <a:srgbClr val="53565A"/>
                </a:solidFill>
              </a:rPr>
              <a:t>IR THESIS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DC8F0-CA6E-434D-8A43-E9584928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47750"/>
            <a:ext cx="10287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</a:defRPr>
            </a:pPr>
            <a:r>
              <a:rPr sz="3675" b="1">
                <a:solidFill>
                  <a:srgbClr val="080808"/>
                </a:solidFill>
              </a:rPr>
              <a:t>창업노트의 해자는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</a:defRPr>
            </a:pPr>
            <a:r>
              <a:rPr sz="3675" b="1">
                <a:solidFill>
                  <a:srgbClr val="080808"/>
                </a:solidFill>
              </a:rPr>
              <a:t>공고 데이터베이스가 아니라,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</a:defRPr>
            </a:pPr>
            <a:r>
              <a:rPr sz="3675" b="1">
                <a:solidFill>
                  <a:srgbClr val="080808"/>
                </a:solidFill>
              </a:rPr>
              <a:t>공고를 판단·행동·결과 데이터로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675" b="1">
                <a:solidFill>
                  <a:srgbClr val="080808"/>
                </a:solidFill>
              </a:defRPr>
            </a:pPr>
            <a:r>
              <a:rPr sz="3675" b="1">
                <a:solidFill>
                  <a:srgbClr val="080808"/>
                </a:solidFill>
              </a:rPr>
              <a:t>전환하는 구조입니다.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00C7C6-EE24-410D-A8F3-5991836F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76650"/>
            <a:ext cx="3381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82AD3A-0483-4D78-BD2E-A70E1FD4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862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표준화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4E566-B8C5-4846-B01D-68C62F36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19600"/>
            <a:ext cx="2962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모든 공고를 자격, 혜택, 신청 준비 데이터로 정규화합니다.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2D9EB-B7E2-4752-B180-107143FC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676650"/>
            <a:ext cx="3381375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DA"/>
          </a:solidFill>
          <a:ln xmlns:a="http://schemas.openxmlformats.org/drawingml/2006/main" w="9525">
            <a:solidFill>
              <a:srgbClr val="FF99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55875-32AD-4DC6-BA3F-760630FE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886200"/>
            <a:ext cx="29622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설명 가능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3239DC-53C9-4273-809E-8579C3FF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19600"/>
            <a:ext cx="29622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추천과 탈락의 이유를 상태와 근거로 남깁니다.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1A00F-748D-4C46-9D71-69D24E01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76650"/>
            <a:ext cx="339090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962859-78BA-4CB4-84FB-042CCBE76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886200"/>
            <a:ext cx="2971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080808"/>
                </a:solidFill>
              </a:defRPr>
            </a:pPr>
            <a:r>
              <a:rPr sz="1800" b="1">
                <a:solidFill>
                  <a:srgbClr val="080808"/>
                </a:solidFill>
              </a:rPr>
              <a:t>확장 가능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FF6197-ADB1-4506-9720-83ECB88E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19600"/>
            <a:ext cx="2971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53565A"/>
                </a:solidFill>
              </a:defRPr>
            </a:pPr>
            <a:r>
              <a:rPr sz="1425" b="0">
                <a:solidFill>
                  <a:srgbClr val="53565A"/>
                </a:solidFill>
              </a:rPr>
              <a:t>AWS 보안 기본값과 AI 지원 도우미로 공공영역 신뢰와 실행 가치를 함께 키웁니다.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F9D070-B8DD-4B74-B7EF-7C31E908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FF9900"/>
                </a:solidFill>
              </a:defRPr>
            </a:pPr>
            <a:r>
              <a:rPr sz="1575" b="1">
                <a:solidFill>
                  <a:srgbClr val="FF9900"/>
                </a:solidFill>
              </a:rPr>
              <a:t>비전: 기업의 성장 조건, 기회, 실행 결과를 연결하는 지원사업 데이터 인프라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1C5BAE-537C-4DF4-A4A1-E856CFCE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창업노트 기술 IR | 요약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521A0A-C630-4E97-8B25-6562D2002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286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975" b="0">
                <a:solidFill>
                  <a:srgbClr val="53565A"/>
                </a:solidFill>
              </a:defRPr>
            </a:pPr>
            <a:r>
              <a:rPr sz="975" b="0">
                <a:solidFill>
                  <a:srgbClr val="53565A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026807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2026-06-28T00:33:06.9760000Z</dcterms:created>
  <dcterms:modified xsi:type="dcterms:W3CDTF">2026-06-28T00:33:06.9760000Z</dcterms:modified>
</coreProperties>
</file>