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c49bdc61954fec" /><Relationship Type="http://schemas.openxmlformats.org/officeDocument/2006/relationships/extended-properties" Target="/docProps/app.xml" Id="Rd06a6eca00fc48ad" /><Relationship Type="http://schemas.openxmlformats.org/officeDocument/2006/relationships/officeDocument" Target="/ppt/presentation.xml" Id="R36b932c1300447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0380627cd84efc"/>
  </p:sldMasterIdLst>
  <p:notesMasterIdLst>
    <p:notesMasterId xmlns:r="http://schemas.openxmlformats.org/officeDocument/2006/relationships" r:id="R49603873334a4359"/>
  </p:notesMasterIdLst>
  <p:sldIdLst>
    <p:sldId xmlns:r="http://schemas.openxmlformats.org/officeDocument/2006/relationships" id="256" r:id="R3063c6785be849e2"/>
    <p:sldId xmlns:r="http://schemas.openxmlformats.org/officeDocument/2006/relationships" id="257" r:id="Rabc54e3efd7f431f"/>
    <p:sldId xmlns:r="http://schemas.openxmlformats.org/officeDocument/2006/relationships" id="258" r:id="Rb223b94c9ee84ed7"/>
    <p:sldId xmlns:r="http://schemas.openxmlformats.org/officeDocument/2006/relationships" id="259" r:id="R2c04b137916b4919"/>
    <p:sldId xmlns:r="http://schemas.openxmlformats.org/officeDocument/2006/relationships" id="260" r:id="Rd202d6c63ed04f6c"/>
    <p:sldId xmlns:r="http://schemas.openxmlformats.org/officeDocument/2006/relationships" id="261" r:id="Re87ea45895024936"/>
    <p:sldId xmlns:r="http://schemas.openxmlformats.org/officeDocument/2006/relationships" id="262" r:id="R99f53e26aa8d45e3"/>
    <p:sldId xmlns:r="http://schemas.openxmlformats.org/officeDocument/2006/relationships" id="263" r:id="Rc16f02d5bd91445b"/>
    <p:sldId xmlns:r="http://schemas.openxmlformats.org/officeDocument/2006/relationships" id="264" r:id="R3251dccfeb09408d"/>
    <p:sldId xmlns:r="http://schemas.openxmlformats.org/officeDocument/2006/relationships" id="265" r:id="R9ad2789f13dc4150"/>
    <p:sldId xmlns:r="http://schemas.openxmlformats.org/officeDocument/2006/relationships" id="266" r:id="R0303161b74f4454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d4d6c8fc324627" /><Relationship Type="http://schemas.openxmlformats.org/officeDocument/2006/relationships/slideMaster" Target="/ppt/slideMasters/slideMaster1.xml" Id="R750380627cd84efc" /><Relationship Type="http://schemas.openxmlformats.org/officeDocument/2006/relationships/notesMaster" Target="/ppt/notesMasters/notesMaster1.xml" Id="R49603873334a4359" /><Relationship Type="http://schemas.openxmlformats.org/officeDocument/2006/relationships/presProps" Target="/ppt/presProps.xml" Id="Rdd096da7e3b24a7a" /><Relationship Type="http://schemas.openxmlformats.org/officeDocument/2006/relationships/tableStyles" Target="/ppt/tableStyles.xml" Id="R075c10c3289948c3" /><Relationship Type="http://schemas.openxmlformats.org/officeDocument/2006/relationships/slide" Target="/ppt/slides/slide1.xml" Id="R3063c6785be849e2" /><Relationship Type="http://schemas.openxmlformats.org/officeDocument/2006/relationships/slide" Target="/ppt/slides/slide2.xml" Id="Rabc54e3efd7f431f" /><Relationship Type="http://schemas.openxmlformats.org/officeDocument/2006/relationships/slide" Target="/ppt/slides/slide3.xml" Id="Rb223b94c9ee84ed7" /><Relationship Type="http://schemas.openxmlformats.org/officeDocument/2006/relationships/slide" Target="/ppt/slides/slide4.xml" Id="R2c04b137916b4919" /><Relationship Type="http://schemas.openxmlformats.org/officeDocument/2006/relationships/slide" Target="/ppt/slides/slide5.xml" Id="Rd202d6c63ed04f6c" /><Relationship Type="http://schemas.openxmlformats.org/officeDocument/2006/relationships/slide" Target="/ppt/slides/slide6.xml" Id="Re87ea45895024936" /><Relationship Type="http://schemas.openxmlformats.org/officeDocument/2006/relationships/slide" Target="/ppt/slides/slide7.xml" Id="R99f53e26aa8d45e3" /><Relationship Type="http://schemas.openxmlformats.org/officeDocument/2006/relationships/slide" Target="/ppt/slides/slide8.xml" Id="Rc16f02d5bd91445b" /><Relationship Type="http://schemas.openxmlformats.org/officeDocument/2006/relationships/slide" Target="/ppt/slides/slide9.xml" Id="R3251dccfeb09408d" /><Relationship Type="http://schemas.openxmlformats.org/officeDocument/2006/relationships/slide" Target="/ppt/slides/slide10.xml" Id="R9ad2789f13dc4150" /><Relationship Type="http://schemas.openxmlformats.org/officeDocument/2006/relationships/slide" Target="/ppt/slides/slide11.xml" Id="R0303161b74f445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4693e5cd7b41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e45f9b127b4792" /><Relationship Type="http://schemas.openxmlformats.org/officeDocument/2006/relationships/notesMaster" Target="/ppt/notesMasters/notesMaster1.xml" Id="Ref6de2626c6e42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beddc98dc244af" /><Relationship Type="http://schemas.openxmlformats.org/officeDocument/2006/relationships/notesMaster" Target="/ppt/notesMasters/notesMaster1.xml" Id="R3b56a12906b64e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2e351e014644d6" /><Relationship Type="http://schemas.openxmlformats.org/officeDocument/2006/relationships/notesMaster" Target="/ppt/notesMasters/notesMaster1.xml" Id="R4ca777ba8aa849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16aa18a2074514" /><Relationship Type="http://schemas.openxmlformats.org/officeDocument/2006/relationships/notesMaster" Target="/ppt/notesMasters/notesMaster1.xml" Id="Rb6ccfc29e1214d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db3c34c1824684" /><Relationship Type="http://schemas.openxmlformats.org/officeDocument/2006/relationships/notesMaster" Target="/ppt/notesMasters/notesMaster1.xml" Id="R37d84c6eb7d84a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ae2434f663446e" /><Relationship Type="http://schemas.openxmlformats.org/officeDocument/2006/relationships/notesMaster" Target="/ppt/notesMasters/notesMaster1.xml" Id="Ra27b7ea0875e43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c9ce8b236b454e" /><Relationship Type="http://schemas.openxmlformats.org/officeDocument/2006/relationships/notesMaster" Target="/ppt/notesMasters/notesMaster1.xml" Id="R11d71c83959346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ab701076334778" /><Relationship Type="http://schemas.openxmlformats.org/officeDocument/2006/relationships/notesMaster" Target="/ppt/notesMasters/notesMaster1.xml" Id="R2f0d058eba874e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7f53115c614ce7" /><Relationship Type="http://schemas.openxmlformats.org/officeDocument/2006/relationships/notesMaster" Target="/ppt/notesMasters/notesMaster1.xml" Id="Rbe8524dcd02b4a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3d1e643f3d4c7e" /><Relationship Type="http://schemas.openxmlformats.org/officeDocument/2006/relationships/notesMaster" Target="/ppt/notesMasters/notesMaster1.xml" Id="R39d2c1a340d046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80e065e6d04fea" /><Relationship Type="http://schemas.openxmlformats.org/officeDocument/2006/relationships/notesMaster" Target="/ppt/notesMasters/notesMaster1.xml" Id="R0fe56275b9894d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8da108fd6646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1b6c7818d94c44" /><Relationship Type="http://schemas.openxmlformats.org/officeDocument/2006/relationships/slideLayout" Target="/ppt/slideLayouts/slideLayout1.xml" Id="R2db0176a202048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b0176a202048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353bcfecf47f5" /><Relationship Type="http://schemas.openxmlformats.org/officeDocument/2006/relationships/notesSlide" Target="/ppt/notesSlides/notesSlide1.xml" Id="R3b20c5caad5643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0be6a7114438a" /><Relationship Type="http://schemas.openxmlformats.org/officeDocument/2006/relationships/notesSlide" Target="/ppt/notesSlides/notesSlide2.xml" Id="R1f23e76c86fc4a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3f539c9f44314" /><Relationship Type="http://schemas.openxmlformats.org/officeDocument/2006/relationships/notesSlide" Target="/ppt/notesSlides/notesSlide3.xml" Id="Rd6adbc2c90fa41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b85ef6822468a" /><Relationship Type="http://schemas.openxmlformats.org/officeDocument/2006/relationships/chart" Target="/ppt/slides/charts/chart1.xml" Id="R407b32235d4c40f2" /><Relationship Type="http://schemas.openxmlformats.org/officeDocument/2006/relationships/notesSlide" Target="/ppt/notesSlides/notesSlide4.xml" Id="R139655006d9e4c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514c967084254" /><Relationship Type="http://schemas.openxmlformats.org/officeDocument/2006/relationships/notesSlide" Target="/ppt/notesSlides/notesSlide5.xml" Id="R717e06d28c374d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4f6594d46424d" /><Relationship Type="http://schemas.openxmlformats.org/officeDocument/2006/relationships/notesSlide" Target="/ppt/notesSlides/notesSlide6.xml" Id="R4ad2c2601a224c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a6bc3e22c49d3" /><Relationship Type="http://schemas.openxmlformats.org/officeDocument/2006/relationships/notesSlide" Target="/ppt/notesSlides/notesSlide7.xml" Id="R02f5cb90e48741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2f5500cb8498e" /><Relationship Type="http://schemas.openxmlformats.org/officeDocument/2006/relationships/notesSlide" Target="/ppt/notesSlides/notesSlide8.xml" Id="R254d7c0155d74f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2a5bce5934aa3" /><Relationship Type="http://schemas.openxmlformats.org/officeDocument/2006/relationships/notesSlide" Target="/ppt/notesSlides/notesSlide9.xml" Id="R8674814362744e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71ff872e347de" /><Relationship Type="http://schemas.openxmlformats.org/officeDocument/2006/relationships/notesSlide" Target="/ppt/notesSlides/notesSlide10.xml" Id="R20358837cccd4d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35c8657854b11" /><Relationship Type="http://schemas.openxmlformats.org/officeDocument/2006/relationships/notesSlide" Target="/ppt/notesSlides/notesSlide11.xml" Id="Rfa5f13d0de364ef4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등장률</c:v>
          </c:tx>
          <c:spPr>
            <a:solidFill xmlns:a="http://schemas.openxmlformats.org/drawingml/2006/main">
              <a:srgbClr val="05050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컨설팅</c:v>
              </c:pt>
              <c:pt idx="1">
                <c:v>전시·해외</c:v>
              </c:pt>
              <c:pt idx="2">
                <c:v>마케팅</c:v>
              </c:pt>
              <c:pt idx="3">
                <c:v>인증·IP</c:v>
              </c:pt>
              <c:pt idx="4">
                <c:v>융자·보증</c:v>
              </c:pt>
              <c:pt idx="5">
                <c:v>자금</c:v>
              </c:pt>
            </c:strLit>
          </c:cat>
          <c:val>
            <c:numLit>
              <c:formatCode>General</c:formatCode>
              <c:ptCount val="6"/>
              <c:pt idx="0">
                <c:v>25.3</c:v>
              </c:pt>
              <c:pt idx="1">
                <c:v>24.1</c:v>
              </c:pt>
              <c:pt idx="2">
                <c:v>23.7</c:v>
              </c:pt>
              <c:pt idx="3">
                <c:v>19.9</c:v>
              </c:pt>
              <c:pt idx="4">
                <c:v>13.9</c:v>
              </c:pt>
              <c:pt idx="5">
                <c:v>10.1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9CDEFA-3BF4-4F7D-8D5B-C4EECFA0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555555"/>
                </a:solidFill>
              </a:defRPr>
            </a:pPr>
            <a:r>
              <a:rPr sz="1275" b="1">
                <a:solidFill>
                  <a:srgbClr val="555555"/>
                </a:solidFill>
              </a:rPr>
              <a:t>창업노트 기술 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B5A61-D3B3-4E3F-A66C-41BCDF3D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76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050505"/>
                </a:solidFill>
              </a:defRPr>
            </a:pPr>
            <a:r>
              <a:rPr sz="4050" b="1">
                <a:solidFill>
                  <a:srgbClr val="050505"/>
                </a:solidFill>
              </a:rPr>
              <a:t>공고를 읽는 AI가 아니라,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050505"/>
                </a:solidFill>
              </a:defRPr>
            </a:pPr>
            <a:r>
              <a:rPr sz="4050" b="1">
                <a:solidFill>
                  <a:srgbClr val="050505"/>
                </a:solidFill>
              </a:rPr>
              <a:t>공고를 판정 가능한 데이터로 바꾸는 엔진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BCA3F-7740-4B54-8A66-BEA6096C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정부지원사업 공고 표준화 · 설명 가능한 매칭 알고리즘 · 성장 데이터 플라이휠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2F926-76E4-4D0E-9AB2-83C3BC7E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2571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94D45-027E-44AD-AD93-0294D5AC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2571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71522-2B77-4D7B-8F83-7CEFF2FD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2571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1819E-7C94-4FA7-869D-22E0E545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14차원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6A6FE-FF6E-4406-A99A-E30A152F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자격요건 표준 계약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F55BD-0817-4A54-9A81-78861BAD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101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7패밀리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DADBB-497E-43CF-9E0C-52839CD9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619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혜택 taxonomy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C5A33-71E5-4E1A-A021-38C64F44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규칙엔진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19E6D-235F-4410-9BA9-EBBD7814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19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AI 추출과 판정 분리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50CA00-81D1-45C8-875D-7048C4BB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180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C44566-9D46-4337-B20B-568D3F78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200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NOTEN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CUNOTE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571F5-10CC-46FA-B855-A0F98EE3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436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D9D9D9"/>
                </a:solidFill>
              </a:defRPr>
            </a:pPr>
            <a:r>
              <a:rPr sz="1200" b="0">
                <a:solidFill>
                  <a:srgbClr val="D9D9D9"/>
                </a:solidFill>
              </a:rPr>
              <a:t>2026.06.27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65D34-5A17-461F-9DF1-BC3480A6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커밋 기반 기술특장점 요약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0383A2-B254-4809-BF70-B3EDFBAE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414131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26DDD5-5CDA-4C04-9BEC-637136BF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91A16-017E-4B96-B513-F8F20A4D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공고는 많지만,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판정 가능한 데이터는 적다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10079-3EFC-4FCF-AA7A-0D6BB91F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2950"/>
            <a:ext cx="379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현재 열린 공고 유니버스는 크지만, 공고 원문·첨부·신청 링크가 각기 다른 형식으로 흩어져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6B24E-78C2-414F-BE0C-8B873B6B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849A6-0738-4AFB-9713-BA60406C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창업노트 기술 IR | 2026-06-27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6A048-3549-4B28-92E8-A75A17BB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AF402-D484-461E-B600-960BBA9D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189A4-10C3-4C6B-A1F6-A3772AEE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050505"/>
                </a:solidFill>
              </a:defRPr>
            </a:pPr>
            <a:r>
              <a:rPr sz="3900" b="1">
                <a:solidFill>
                  <a:srgbClr val="050505"/>
                </a:solidFill>
              </a:rPr>
              <a:t>1,588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CADAF-B631-46D4-A141-C65E2AB6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기업마당 활성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D6B667-2156-4B48-8424-FDF47BB0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57575"/>
            <a:ext cx="2114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2026-06-26 기준 전수. 본문과 HWP 첨부의 비정형 조건이 핵심 난도.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0B4EB-6FB2-4336-9FF2-13B691C3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735300-5E07-4E83-B291-605A0CB9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0505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050505"/>
                </a:solidFill>
              </a:defRPr>
            </a:pPr>
            <a:r>
              <a:rPr sz="3900" b="1">
                <a:solidFill>
                  <a:srgbClr val="050505"/>
                </a:solidFill>
              </a:rPr>
              <a:t>304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4DBFD-E0C1-49AD-A5F1-24663BF1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K-Startup open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CF9C5-4AEB-4D76-974D-B2E744F1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57575"/>
            <a:ext cx="2114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3,000건 표본 중 현재 열린 창업 특화 공고. 구조화 필드가 풍부.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CAE45-AB01-428C-95DB-6526DBE7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84FA5-BC04-4517-B94E-16E17364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050505"/>
                </a:solidFill>
              </a:defRPr>
            </a:pPr>
            <a:r>
              <a:rPr sz="3900" b="1">
                <a:solidFill>
                  <a:srgbClr val="050505"/>
                </a:solidFill>
              </a:rPr>
              <a:t>29K+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28AC66-1898-4C9D-9CEE-0D02A9E1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K-Startup 누적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CBA6E5-BF82-4587-AB71-A257E6BD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57575"/>
            <a:ext cx="2114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누적 공고는 대부분 마감 포함. active 필터와 상태 수명주기가 필요.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2CC025-B70E-4687-9092-F6BD3756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590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921B2F-A0BE-4084-92EB-2B66933B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05050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050505"/>
                </a:solidFill>
              </a:defRPr>
            </a:pPr>
            <a:r>
              <a:rPr sz="3900" b="1">
                <a:solidFill>
                  <a:srgbClr val="050505"/>
                </a:solidFill>
              </a:rPr>
              <a:t>1,900+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BC43E4-8715-429F-9928-353B52EF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4800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활성 유니버스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C9AE9E-4AED-4730-BECD-E9A5BA9A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57575"/>
            <a:ext cx="2133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중복 제외 전 기준. 같은 좌표계로 정리해야 개인화가 가능.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8E37D8-96F3-4035-BC42-F5BBD9DB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핵심 난제: 사람이 읽는 산문을 회사 데이터와 비교 가능한 계약으로 바꾸는 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DE36C1-13C9-4CC1-A647-BAFA12D2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HWP 표, 상세 페이지, 외부 폼, 지역/업력/업종 예외가 섞여 있어 단순 검색이나 LLM 답변만으로는 신뢰 가능한 판정이 어렵습니다.</a:t>
            </a:r>
          </a:p>
        </p:txBody>
      </p:sp>
    </p:spTree>
    <p:extLst>
      <p:ext uri="{BB962C8B-B14F-4D97-AF65-F5344CB8AC3E}">
        <p14:creationId xmlns:p14="http://schemas.microsoft.com/office/powerpoint/2010/main" val="7750906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CBB649-296F-4BA6-BF6A-8822E3C5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NORMALIZATION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EE49B-1A92-45C9-98FE-D7C0BEA7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모든 공고를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하나의 표준 계약으로 환원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509F4-A8CA-4F39-98B6-3BAAB52C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2950"/>
            <a:ext cx="379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공고와 회사를 같은 좌표계에 올려야 매칭, 설명, 다음 행동을 자동화할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A9E5C-9931-4D64-8AB3-6B0FF3E4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9D282-944D-4AE9-A2D2-D514FC35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창업노트 기술 IR | 2026-06-27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0AA94-C08D-42F6-ADC1-E3F717E8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7D633-8797-4169-95BF-6F551B54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2952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B6957-1197-4731-A968-B3F6C3A7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14550"/>
            <a:ext cx="2952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B3BEF-91D3-4BEB-84C1-EC2FF17D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2933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7F791-9C5E-4528-BC32-68CAE911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비정형 원문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EB2AF-5376-48A9-82EA-76B4E3BE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2190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공고 본문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HWP 표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상세 페이지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신청 안내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제외대상 문구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CF275-4EAD-48DD-B00A-B460FACC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575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300" b="1">
                <a:solidFill>
                  <a:srgbClr val="FF6B35"/>
                </a:solidFill>
              </a:defRPr>
            </a:pPr>
            <a:r>
              <a:rPr sz="330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1130F-7B5C-45DD-AA2D-8188E65D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622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정규화 계약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A56B3-9C86-4CF9-AE0E-B76FF03A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956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14개 자격요건 차원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7개 혜택 패밀리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required / preferred / exclusion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source_span + confidence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EAA457-0CEA-4A32-97CD-0FD25066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2575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300" b="1">
                <a:solidFill>
                  <a:srgbClr val="FF6B35"/>
                </a:solidFill>
              </a:defRPr>
            </a:pPr>
            <a:r>
              <a:rPr sz="330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41589D-4DD9-4EFC-9F90-E1019014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622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서비스 데이터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0C5EF-7AE8-4BDE-8B12-DAD0289B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228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grant_criteria[]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benefits[]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required_documents[]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match_state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rule_trace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2741A-7E06-4B59-A7DA-6A92B390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구현 근거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0BA637-9A42-4072-AFF0-2DEFD06F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6732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packages/contracts/src/index.ts · apps/web/src/lib/server/db/schema.ts · packages/core/src/kstartup/normalize.ts · packages/core/src/bizinfo/normalize.ts</a:t>
            </a:r>
          </a:p>
        </p:txBody>
      </p:sp>
    </p:spTree>
    <p:extLst>
      <p:ext uri="{BB962C8B-B14F-4D97-AF65-F5344CB8AC3E}">
        <p14:creationId xmlns:p14="http://schemas.microsoft.com/office/powerpoint/2010/main" val="20703636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9E2FFC-1BAD-4AC4-A938-502C645C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BENEFIT TAXONOMY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CA858-1A54-42E4-83DB-9DBB2700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지원사업은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지원금만이 아니다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B82F3-7D57-4628-80E7-E15D537D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2950"/>
            <a:ext cx="379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기업마당 활성 1,588건 전수 분석에서 비금전 혜택이 자금만큼 자주 등장합니다.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E6AB6-477E-4678-8FFC-867ED27F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857B1-375C-4142-81C4-CEE5BC0B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창업노트 기술 IR | 2026-06-27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FFC7C-0AFC-4FE1-9E48-B0C31FA2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7B769-D502-48C0-A7D1-E5AE6A13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6858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781050" y="2400300"/>
          <a:ext xmlns:a="http://schemas.openxmlformats.org/drawingml/2006/main" cx="609600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7b32235d4c40f2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BD5A4-866A-4FF9-8D79-EDE01F5E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상위 등장률: 컨설팅 25.3% · 전시/해외 24.1% · 마케팅 23.7% · 인증/IP 19.9% · 자금 10.1%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CFAC2-4986-4447-A820-9DA80451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3524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그래서 카드의 보상은 금액 하나가 아니라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돈 + 역량 + 시장 + 공간 + 인증 + 연결로 표현되어야 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593E5-4C39-4103-8A58-A05CE6DD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81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7340E-6DC6-415D-9931-17BDBCF1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050505"/>
                </a:solidFill>
              </a:defRPr>
            </a:pPr>
            <a:r>
              <a:rPr sz="1650" b="0">
                <a:solidFill>
                  <a:srgbClr val="050505"/>
                </a:solidFill>
              </a:rPr>
              <a:t>funding / loan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404C18-5039-44A1-AD53-6BC13E57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38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D1BCD4-4994-4AA2-AB59-CE5B2DDA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624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050505"/>
                </a:solidFill>
              </a:defRPr>
            </a:pPr>
            <a:r>
              <a:rPr sz="1650" b="0">
                <a:solidFill>
                  <a:srgbClr val="050505"/>
                </a:solidFill>
              </a:rPr>
              <a:t>capability / space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D031CC-E5ED-4DA4-BEDE-FDD657C8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95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917495-75D8-43F6-8CDD-6752D54F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96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050505"/>
                </a:solidFill>
              </a:defRPr>
            </a:pPr>
            <a:r>
              <a:rPr sz="1650" b="0">
                <a:solidFill>
                  <a:srgbClr val="050505"/>
                </a:solidFill>
              </a:rPr>
              <a:t>market / certification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903632-025D-4D79-87DF-4A1F32A9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53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334111-04F0-4525-A5C6-F96075E1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768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050505"/>
                </a:solidFill>
              </a:defRPr>
            </a:pPr>
            <a:r>
              <a:rPr sz="1650" b="0">
                <a:solidFill>
                  <a:srgbClr val="050505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95C9F9-1316-48E2-B371-84480371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197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금액 미명시 공고는 '금액 미상, 혜택 N종'으로 정직하게 보여주는 것이 신뢰 설계입니다.</a:t>
            </a:r>
          </a:p>
        </p:txBody>
      </p:sp>
    </p:spTree>
    <p:extLst>
      <p:ext uri="{BB962C8B-B14F-4D97-AF65-F5344CB8AC3E}">
        <p14:creationId xmlns:p14="http://schemas.microsoft.com/office/powerpoint/2010/main" val="9580334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826904-269C-447D-A769-79913255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INGESTION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080FB-549A-4539-BF75-4BA46AA0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소스별 난도를 다르게 푸는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수집·정규화 파이프라인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AED22-9746-4A82-8259-41C3B75E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2950"/>
            <a:ext cx="379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구조화된 소스는 파서로, 비정형 첨부는 변환과 tool-use 추출로 처리합니다.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8F815-E811-483A-944F-1A2207D6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78CEB-B308-4A69-80F9-E73224DA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창업노트 기술 IR | 2026-06-27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C1298-A9D1-4788-A205-9EA1A699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95D67-0511-42B0-9E28-2BB6FE40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590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440F2-3165-4090-854E-825129BA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E7705-F876-4EF6-86ED-B6A02479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K-Startup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D7DD8-A586-444E-9AEB-246E2F22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지역·업력·연령·분야·대상·일정은 구조화 필드로 100% 산출. LLM 비용 없이 1차 매칭.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68273-1FDE-4860-A9E9-4B84A626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147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A1DAF4-0993-43CE-8FA2-E42E383B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2590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D746BC-524F-40BD-885E-F3EE2232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812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AED131-51A4-4AF4-BBFB-82596EA6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28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기업마당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A136B-4087-4D81-BB76-7990EEA3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0045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본문·HWP·첨부에 자격요건이 흩어짐. HWP 표를 보존해 LLM-ready Markdown으로 변환.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AE781F-F050-48BC-B7C7-CF04BBE4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147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C67ABD-07A5-4E29-8FDB-5D2607B5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71700"/>
            <a:ext cx="2590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6861B8-78A6-47F8-9D47-8A9DCA99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43800C-20EB-45DF-97C0-1769DFBA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Claude tool-use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21F509-9881-4E7B-B285-ABA20550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045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자유 JSON 대신 구조화 출력 계약. 파싱 실패 1/3에서 0으로 축소한 경로.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738B5C-617F-466E-AFA1-35EDFC68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147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54D11C-7B82-4A3D-A724-1B057A1C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71700"/>
            <a:ext cx="2590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464D16-B62A-4299-A818-5A5E17E5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812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161193-FE19-469F-8A4A-7F585008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28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발행·중복·상태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3BF108-8B8C-4320-A51B-C04F0653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0045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dedup, active filter, publish 검증으로 현재 열린 공고와 중복 관계를 관리.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180EA8-F856-49A0-AF82-392C3B8C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최근 커밋 근거: 329a60c · e04a0c9 · 09abcd8 · 4bb91df · 6991ed6 · 8957f6d · b14127b · 2bca200 · 8aca6de</a:t>
            </a:r>
          </a:p>
        </p:txBody>
      </p:sp>
    </p:spTree>
    <p:extLst>
      <p:ext uri="{BB962C8B-B14F-4D97-AF65-F5344CB8AC3E}">
        <p14:creationId xmlns:p14="http://schemas.microsoft.com/office/powerpoint/2010/main" val="11462056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D97CDA-06F9-4848-BCA5-6671A212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MATCHING ALGORITHM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70584-7E70-4EED-AC8B-7A5F61CB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AI는 읽고,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규칙이 판정한다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7BAC1-4A00-4330-AD83-2D08F353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2950"/>
            <a:ext cx="379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LLM은 추출 품질을 높이지만, 추천/탈락 판정은 재현 가능한 규칙엔진이 수행합니다.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FCC51-B73C-4D63-80E6-9E10DC5A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796AB-4E5D-4DDF-8DD0-306E60A0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창업노트 기술 IR | 2026-06-27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223B2-9BFC-4F0A-B56C-D8341F53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4F2AC-0352-483A-972C-3F64ED34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352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C584A-E45D-4C86-94C3-FC7F86CA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352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B4CF1-E19F-4779-A942-736C0CE6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43125"/>
            <a:ext cx="352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61E65-DFB5-4760-BFDE-5D7F6F34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50505"/>
                </a:solidFill>
              </a:defRPr>
            </a:pPr>
            <a:r>
              <a:rPr sz="2100" b="1">
                <a:solidFill>
                  <a:srgbClr val="050505"/>
                </a:solidFill>
              </a:rPr>
              <a:t>LLM 추출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9FC63-770B-4709-809F-5D28B107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2571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비정형 공고 -&gt; grant_criteria[]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source_span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confidence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needs_review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4A1BFC-2A7E-4D92-9425-FB8A91C8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003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결정론 판정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B6B50-90EC-4111-9D0C-1EACBFC1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861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required/exclusion fail -&gt; 부적격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fail 없음 + unknown -&gt; 조건부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모두 pass -&gt; 적격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EF06E-6403-4541-B435-560E4B8C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50505"/>
                </a:solidFill>
              </a:defRPr>
            </a:pPr>
            <a:r>
              <a:rPr sz="2100" b="1">
                <a:solidFill>
                  <a:srgbClr val="050505"/>
                </a:solidFill>
              </a:rPr>
              <a:t>설명 가능한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18D40-B149-479B-80AA-17C5736B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86100"/>
            <a:ext cx="257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rule_trace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company_value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ruleset_ver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scoring_ver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next_question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811D1B-08E2-427E-93A7-3073B963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차별점: 모르는 조건은 탈락시키지 않고 조건부로 남긴다. 이것이 거짓 탈락을 막는 핵심 설계입니다.</a:t>
            </a:r>
          </a:p>
        </p:txBody>
      </p:sp>
    </p:spTree>
    <p:extLst>
      <p:ext uri="{BB962C8B-B14F-4D97-AF65-F5344CB8AC3E}">
        <p14:creationId xmlns:p14="http://schemas.microsoft.com/office/powerpoint/2010/main" val="16853563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89CA3E-89F0-429D-8129-22B60259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F5128-F891-4888-B323-42B8D10F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실데이터에서 동작한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엔드투엔드 매칭 데모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5E84A-03BE-44F9-B714-8F953CC0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2950"/>
            <a:ext cx="379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가상 기업 하나를 K-Startup open 215건과 매칭해 적격·조건부·부적격을 분류했습니다.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7780C-A0AC-408E-AC07-44B1B7EC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AD5A7-1709-4ED4-B120-BC681017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창업노트 기술 IR | 2026-06-27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53EB7-4998-4D95-B126-B570E3BF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A042A-BE64-45B6-83CF-75AE5BA6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C2CF3-284C-4176-82FC-061E5DCC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52675"/>
            <a:ext cx="3105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적격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2EFF87-C45B-4FA6-A25F-49268043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90750"/>
            <a:ext cx="4667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462AB-D825-4D6F-BB7F-5CD59FE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52675"/>
            <a:ext cx="4438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조건부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88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9C3AB-B540-4E91-8BBB-B36A3A15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3390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658AC2-72DC-4AF5-ACA6-8724D04E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52675"/>
            <a:ext cx="3162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부적격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64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1C02CB-CF5C-4963-9E8F-40ADA73A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D920B-6020-4DA2-9464-54DD0508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050505"/>
                </a:solidFill>
              </a:defRPr>
            </a:pPr>
            <a:r>
              <a:rPr sz="3300" b="1">
                <a:solidFill>
                  <a:srgbClr val="050505"/>
                </a:solidFill>
              </a:rPr>
              <a:t>215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DCA129-A5AA-4982-A3A3-C9172C84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50505"/>
                </a:solidFill>
              </a:defRPr>
            </a:pPr>
            <a:r>
              <a:rPr sz="1500" b="1">
                <a:solidFill>
                  <a:srgbClr val="050505"/>
                </a:solidFill>
              </a:rPr>
              <a:t>open 공고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D3184-CB14-4CA9-887B-9CF67B2B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실제 공고 표본 기반 매칭 대상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4654FE-EA89-4E4F-B413-CEE6C4EC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910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53D354-A090-4B7A-9807-07CA329F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958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FF6B35"/>
                </a:solidFill>
              </a:defRPr>
            </a:pPr>
            <a:r>
              <a:rPr sz="3300" b="1">
                <a:solidFill>
                  <a:srgbClr val="FF6B35"/>
                </a:solidFill>
              </a:rPr>
              <a:t>63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2B2147-62E7-420D-8ED7-428BEBE1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05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50505"/>
                </a:solidFill>
              </a:defRPr>
            </a:pPr>
            <a:r>
              <a:rPr sz="1500" b="1">
                <a:solidFill>
                  <a:srgbClr val="050505"/>
                </a:solidFill>
              </a:rPr>
              <a:t>즉시 적격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59A6D9-0854-4D27-9288-7FDC4AD0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3530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지역·업력·연령 등 필수조건 통과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F90431-D5C8-473B-9663-FAF49EAB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910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9F4FB9-D69E-4990-83FC-CD8A4C46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958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050505"/>
                </a:solidFill>
              </a:defRPr>
            </a:pPr>
            <a:r>
              <a:rPr sz="3300" b="1">
                <a:solidFill>
                  <a:srgbClr val="050505"/>
                </a:solidFill>
              </a:rPr>
              <a:t>88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74378F-384D-4273-9FC4-3345CFCC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05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50505"/>
                </a:solidFill>
              </a:defRPr>
            </a:pPr>
            <a:r>
              <a:rPr sz="1500" b="1">
                <a:solidFill>
                  <a:srgbClr val="050505"/>
                </a:solidFill>
              </a:rPr>
              <a:t>조건부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642221-9B1A-4BE0-9456-27464F9F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3530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업종·규모 확인 필요. 탈락 단정 없음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9B7793-025F-43D3-BC2C-D6FFC340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91000"/>
            <a:ext cx="2590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3E44E4-1716-47E6-AD48-D70C896C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958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050505"/>
                </a:solidFill>
              </a:defRPr>
            </a:pPr>
            <a:r>
              <a:rPr sz="3300" b="1">
                <a:solidFill>
                  <a:srgbClr val="050505"/>
                </a:solidFill>
              </a:rPr>
              <a:t>64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DFB180-AC6F-4DDB-998F-FA4B7BF3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05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50505"/>
                </a:solidFill>
              </a:defRPr>
            </a:pPr>
            <a:r>
              <a:rPr sz="1500" b="1">
                <a:solidFill>
                  <a:srgbClr val="050505"/>
                </a:solidFill>
              </a:rPr>
              <a:t>부적격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2CB2B9-18B6-41D7-8C31-D3165042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3530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서울 대상, 수도권 제외 등 hard fail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635312-6EBB-4868-B685-C6E84C55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예시: '수도권 제외' 문구가 있으면 경기 기업은 exclusion fail로 부적격 처리됩니다.</a:t>
            </a:r>
          </a:p>
        </p:txBody>
      </p:sp>
    </p:spTree>
    <p:extLst>
      <p:ext uri="{BB962C8B-B14F-4D97-AF65-F5344CB8AC3E}">
        <p14:creationId xmlns:p14="http://schemas.microsoft.com/office/powerpoint/2010/main" val="1359113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A14802-6BBC-4E80-8E48-8C1FE4C1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ACTION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6AE1C-1D3D-4B6E-85F1-5AA86754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매칭 이후에는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다음 행동을 계산한다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8DF51-3EA9-44C8-93D5-4A0FAAB8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2950"/>
            <a:ext cx="379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창업노트는 공고 목록에서 끝나지 않고, 조건부를 줄이고 신청 준비로 이어지는 행동 큐를 만듭니다.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4AA89-E3BF-4439-A19D-3AE4E551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69950-C42C-4E59-A9DB-257FF467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창업노트 기술 IR | 2026-06-27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75227-C01E-41DC-9D9B-31A0274C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7DFF3-A388-4405-A503-475D173B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381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A0062-C792-4718-90B8-9E214442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962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NEXT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47E5F-239A-4EB4-AF1A-7B369564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2962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다음 질문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97EC6-8267-4DDC-8F5C-FBC1DA1A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962275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unknown 필드 중 조건부 공고를 가장 많이 확정 또는 제외할 수 있는 입력을 우선 노출합니다.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F1ED8-7082-4ECC-AE8D-718F16AD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3381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9ADD56-328F-45FB-A5E4-6B854C39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66950"/>
            <a:ext cx="2962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ACTION 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99BEB-F355-4DDC-9772-0DC4A138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24125"/>
            <a:ext cx="2962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액션 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1C37A4-3689-48BF-96F5-901804F3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52750"/>
            <a:ext cx="2962275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지원금·마감·영향 공고 수·노력도를 합산해 지금 해야 할 일을 전역 정렬합니다.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48D2F-CDB9-4BCB-BDC1-85C31C96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33909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7E346-CCF1-4CEE-A367-4A25E20C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669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APPLY SHEET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74C02-4C60-4541-99B4-D9E239CF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2412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신청 준비 시트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C4F6A8-A665-4A42-9E81-349EF9B2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52750"/>
            <a:ext cx="2971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필요 서류, 원문 첨부, 프로필 복사 필드, 사업계획서 초안 프롬프트를 한 화면으로 구성합니다.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CD6EFE-F6D2-484A-861D-AEC5A521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구현 근거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12DCCD-8DBF-43C4-B372-C9873BEC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911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packages/core/src/use-cases/build-action-queue.ts · build-apply-sheet.ts · 앱/웹 DTO와 API routes</a:t>
            </a:r>
          </a:p>
        </p:txBody>
      </p:sp>
    </p:spTree>
    <p:extLst>
      <p:ext uri="{BB962C8B-B14F-4D97-AF65-F5344CB8AC3E}">
        <p14:creationId xmlns:p14="http://schemas.microsoft.com/office/powerpoint/2010/main" val="16085392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F52FED-362A-4F6F-8FC9-0521AF98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RECENT COMMITS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ABF52-265C-4F33-ADFF-FE3CDABB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최근 커밋이 보여주는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제품화 방향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D040B-6678-46F2-9013-0A1ACD1E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2950"/>
            <a:ext cx="379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리포의 최신 변경은 데이터 엔진에서 서비스 운영 기반으로 이동하고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E8DF7-4705-4218-987E-858B436A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57A32-AB3E-4032-B6A1-3A1B611E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창업노트 기술 IR | 2026-06-27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5E604-BDD0-46AF-A074-7DDB23D1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09940-AB07-44B7-8A26-A5EA552F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E342E-ABE6-4472-848D-90941DFF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50505"/>
                </a:solidFill>
              </a:defRPr>
            </a:pPr>
            <a:r>
              <a:rPr sz="1500" b="1">
                <a:solidFill>
                  <a:srgbClr val="050505"/>
                </a:solidFill>
              </a:rPr>
              <a:t>정규화·표준화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B83B9-5414-4A94-BF5B-39175B09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71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1a652bf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93978-0FD0-4912-8CB6-589F134A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71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혜택 taxonomy, required_documents, S0-F 실측 프로브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7A5C7-4A52-490A-AC59-42FBFB76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52C12-A2B6-4C0F-AACB-7959B8E6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50505"/>
                </a:solidFill>
              </a:defRPr>
            </a:pPr>
            <a:r>
              <a:rPr sz="1500" b="1">
                <a:solidFill>
                  <a:srgbClr val="050505"/>
                </a:solidFill>
              </a:rPr>
              <a:t>기업마당 비정형 처리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1D83E7-1A4A-4DD7-AD05-B26C68BD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329a60c  e04a0c9  09abcd8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D00AD-2151-4EE4-B229-34AB7991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95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LLM 추출 계약, 신청서류, 원문 첨부 메타 보존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6DF7A-E0F3-488F-BCB5-EC7ECEE9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0950D6-05BB-46AF-BE4A-E9B27F96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50505"/>
                </a:solidFill>
              </a:defRPr>
            </a:pPr>
            <a:r>
              <a:rPr sz="1500" b="1">
                <a:solidFill>
                  <a:srgbClr val="050505"/>
                </a:solidFill>
              </a:rPr>
              <a:t>수집·발행·중복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CDC293-F5EB-462E-AFF6-588E1364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19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8957f6d  b14127b  2bca200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F27CAD-C051-4B73-8DE1-95129E7D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batch plan, dedup publish, active grant 필터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7ABEEE-FFAD-4829-B141-755F97FA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EC16CA-597D-468A-A3D8-E72E3296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50505"/>
                </a:solidFill>
              </a:defRPr>
            </a:pPr>
            <a:r>
              <a:rPr sz="1500" b="1">
                <a:solidFill>
                  <a:srgbClr val="050505"/>
                </a:solidFill>
              </a:rPr>
              <a:t>match_state 저장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2C50DA-2B2F-47B2-A199-6928ECD6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43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9ca297d  5797584  bf6bade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591FB8-D58C-4985-9923-3C6A9B29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434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회사×공고 결과 저장·갱신 CLI와 전이 계획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C3CE5B-201B-4F9A-ADFF-4EE33778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364E8F-F253-4DB8-8172-0264C0CC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50505"/>
                </a:solidFill>
              </a:defRPr>
            </a:pPr>
            <a:r>
              <a:rPr sz="1500" b="1">
                <a:solidFill>
                  <a:srgbClr val="050505"/>
                </a:solidFill>
              </a:rPr>
              <a:t>운영·권한·인증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FED6E7-5256-4545-BB49-126A905E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67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13f2cbb  a3a2c5e  940f664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592A00-2801-4579-B00B-7FD9057E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67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검증 스크립트, RLS, 회사 역할, 로그인·OAuth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6C6312-245F-4732-8F7D-C50480D5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50505"/>
                </a:solidFill>
              </a:defRPr>
            </a:pPr>
            <a:r>
              <a:rPr sz="1575" b="1">
                <a:solidFill>
                  <a:srgbClr val="050505"/>
                </a:solidFill>
              </a:rPr>
              <a:t>요약: 문서와 PoC를 넘어, ingestion → matching → state → API → auth/RLS까지 서비스 경로가 연결되었습니다.</a:t>
            </a:r>
          </a:p>
        </p:txBody>
      </p:sp>
    </p:spTree>
    <p:extLst>
      <p:ext uri="{BB962C8B-B14F-4D97-AF65-F5344CB8AC3E}">
        <p14:creationId xmlns:p14="http://schemas.microsoft.com/office/powerpoint/2010/main" val="12720518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EC098F-A0B8-4251-87A7-680C1140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FLYWHEEL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CCEE5-C8BB-4118-9D3A-BE700313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장기 해자는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50505"/>
                </a:solidFill>
              </a:defRPr>
            </a:pPr>
            <a:r>
              <a:rPr sz="3075" b="1">
                <a:solidFill>
                  <a:srgbClr val="050505"/>
                </a:solidFill>
              </a:rPr>
              <a:t>기업 성장 데이터 플라이휠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35437-93E2-4383-9F5F-E9C596E9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2950"/>
            <a:ext cx="379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공고 데이터 자체보다 중요한 것은 매칭, 피드백, 신청 outcome이 쌓이며 개선되는 구조입니다.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5EA7F-1148-4A3A-B9D5-62D42920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C8850-E33A-4E00-B969-3A3246B6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창업노트 기술 IR | 2026-06-27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8CDA9-D977-48BF-8FF9-056D8ABC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47849-62B1-4163-8923-F421E127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3813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FB4ED-CCEB-4C5B-A765-8B6482B9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8FBED-4A61-4BFB-8D44-7DBFE35C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공고 수집·정규화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653B6-A1A3-485C-BEF4-C5EE6314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K-Startup, 기업마당, HWP 첨부를 표준 계약으로 발행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903BE-749B-4DFA-AEC8-96B8424C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146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4D5C7-75B8-4B35-9BD4-94B93645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33813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AA31A-BB5B-4488-B05D-3EA423ED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860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260F40-F956-4778-994B-01B7CB02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86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회사별 매칭·설명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57E43A-F0ED-4ED0-9726-DEA20BB3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24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rule_trace와 confidence로 적격·조건부·부적격 산출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1954F-974A-47EE-A8B4-2BB6909E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146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0520F1-0A6B-4D8B-9AEA-B5855030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33813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0AB901-3550-43B3-82E9-43EBC327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860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B50E2D-ECD9-48A4-B209-9A98990E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86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입력·신청 행동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67FC41-4DDF-4872-B2A6-9B3335A6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24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다음 질문, 액션 큐, 신청 준비 시트로 행동 전환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A0DB17-D15D-4FBD-8AD1-9B202F50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33813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6F645A-AB8A-4EA8-A6E1-27676824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A3B3FE-498C-4FFF-A8D4-9B4186BD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outcome 라벨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64D357-CDE6-4A86-B80B-A513C3A8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29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저장, 클릭, 신청, 선정 결과를 피드백 데이터로 축적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84E06B-0A3D-42A7-A066-4F39F5CE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4196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3448B7-2725-484A-93AF-22CA05A7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00500"/>
            <a:ext cx="33813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139C63-B400-4766-A92D-F9E8F79D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910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FA0196-15CA-4B91-8136-20E17B6D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191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golden set 평가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8C9EFC-4952-4167-A95A-5ABAA28E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29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추출과 매칭을 사람 정답 기준으로 회귀 검증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B94543-BD31-49DF-B15B-EACC6460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196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4F212E-2A7F-40AB-A98A-DD3C3847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00500"/>
            <a:ext cx="33813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2C3F23-58CB-4497-9A77-53D1F647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910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FA73D9-B204-47EB-8855-09014B5D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91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추출·매핑·랭킹 개선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3ABC84-788D-46BF-9742-D01AE4E7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29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프롬프트, taxonomy, ranking 가중치를 버전업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1ADDA8-3237-4F24-B572-50B23E7E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50505"/>
                </a:solidFill>
              </a:defRPr>
            </a:pPr>
            <a:r>
              <a:rPr sz="1500" b="1">
                <a:solidFill>
                  <a:srgbClr val="050505"/>
                </a:solidFill>
              </a:rPr>
              <a:t>모든 산출물에는 model / prompt / ruleset / scoring / taxonomy 버전이 붙습니다. 회귀가 있으면 새 버전을 활성화하지 않습니다.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D03CF2-AD3F-4952-9005-150475B7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72125"/>
            <a:ext cx="366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비전: 성장 조건·기회·행동을 구조화하는 AI 데이터 인프라</a:t>
            </a:r>
          </a:p>
        </p:txBody>
      </p:sp>
    </p:spTree>
    <p:extLst>
      <p:ext uri="{BB962C8B-B14F-4D97-AF65-F5344CB8AC3E}">
        <p14:creationId xmlns:p14="http://schemas.microsoft.com/office/powerpoint/2010/main" val="18881418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96854F-805D-4019-8499-05A06D27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IR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49C67-469D-4234-9477-0B87FDAC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0096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050505"/>
                </a:solidFill>
              </a:defRPr>
            </a:pPr>
            <a:r>
              <a:rPr sz="3900" b="1">
                <a:solidFill>
                  <a:srgbClr val="050505"/>
                </a:solidFill>
              </a:rPr>
              <a:t>창업노트의 기술력은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050505"/>
                </a:solidFill>
              </a:defRPr>
            </a:pPr>
            <a:r>
              <a:rPr sz="3900" b="1">
                <a:solidFill>
                  <a:srgbClr val="050505"/>
                </a:solidFill>
              </a:rPr>
              <a:t>공고를 잘 보여주는 것이 아니라,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050505"/>
                </a:solidFill>
              </a:defRPr>
            </a:pPr>
            <a:r>
              <a:rPr sz="3900" b="1">
                <a:solidFill>
                  <a:srgbClr val="050505"/>
                </a:solidFill>
              </a:rPr>
              <a:t>판정 가능한 계약으로 바꾸는 데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A1295-7E35-4496-929D-3B97D7AE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3381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34D08-0629-4C2C-A5BB-F4CB0E14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38550"/>
            <a:ext cx="3381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8B268-629F-48B8-A233-50CDEADB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3390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D98A4-1774-454D-8293-3837070D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50505"/>
                </a:solidFill>
              </a:defRPr>
            </a:pPr>
            <a:r>
              <a:rPr sz="2100" b="1">
                <a:solidFill>
                  <a:srgbClr val="050505"/>
                </a:solidFill>
              </a:rPr>
              <a:t>표준화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1EBA6-4507-42FF-ADE5-BA91F6B0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모든 공고를 14차원 자격요건과 7개 혜택 패밀리로 정규화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19095-5816-42D9-9E3E-7F6892C4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24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50505"/>
                </a:solidFill>
              </a:defRPr>
            </a:pPr>
            <a:r>
              <a:rPr sz="2100" b="1">
                <a:solidFill>
                  <a:srgbClr val="050505"/>
                </a:solidFill>
              </a:rPr>
              <a:t>설명 가능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13F8A-994D-454A-A3A5-43713A4D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767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AI는 추출, 규칙은 판정. rule_trace와 버전으로 감사 가능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37534-EBF9-414D-8BEC-7910D902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24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50505"/>
                </a:solidFill>
              </a:defRPr>
            </a:pPr>
            <a:r>
              <a:rPr sz="2100" b="1">
                <a:solidFill>
                  <a:srgbClr val="050505"/>
                </a:solidFill>
              </a:rPr>
              <a:t>성장 데이터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68127-C786-487B-9BEF-9655DBF4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767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피드백과 outcome이 쌓일수록 추출·매핑·랭킹이 개선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E611E-CC5C-4628-83DA-BB15985E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현재 실증된 것은 작동성, 구조화 커버리지, 실패모드, 서비스화된 검증 경로입니다. 엄밀 정확도는 골든셋 P/R 측정으로 검증합니다.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AD96FB-58AF-4BBE-9DD9-4A1AADA7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창업노트 기술 IR | 요약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0DAE3D-42BA-4FE3-B5DE-6A2109ED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123884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2026-06-27T08:39:20.5820000Z</dcterms:created>
  <dcterms:modified xsi:type="dcterms:W3CDTF">2026-06-27T08:39:20.5820000Z</dcterms:modified>
</coreProperties>
</file>